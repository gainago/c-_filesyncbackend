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6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svg" ContentType="image/svg"/>
  <Override PartName="/ppt/media/image8.png" ContentType="image/png"/>
  <Override PartName="/ppt/media/image12.png" ContentType="image/png"/>
  <Override PartName="/ppt/media/image9.svg" ContentType="image/svg"/>
  <Override PartName="/ppt/media/image11.png" ContentType="image/png"/>
  <Override PartName="/ppt/media/image13.png" ContentType="image/png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37"/>
    <p:sldId id="275" r:id="rId38"/>
    <p:sldId id="276" r:id="rId39"/>
    <p:sldId id="277" r:id="rId4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slide" Target="slides/slide19.xml"/><Relationship Id="rId38" Type="http://schemas.openxmlformats.org/officeDocument/2006/relationships/slide" Target="slides/slide20.xml"/><Relationship Id="rId39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F82388-9E1F-41CF-882E-E9801935BF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C1DAD4-E260-4FEA-875A-AAE8087E38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C6B7E32-9860-4E01-B261-594C6F3815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69AAFBD-7AF2-4D08-933C-93C36E7F98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F830DCFC-4F78-4378-B86B-4B5ED810D4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308BDC2-C723-4EE0-A4DF-1EDCE54535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Два рисун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4C075AA6-A8ED-49C6-95B0-D400E4F5636B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2"/>
          </p:nvPr>
        </p:nvSpPr>
        <p:spPr/>
        <p:txBody>
          <a:bodyPr/>
          <a:p>
            <a:fld id="{D2F2B5D1-026F-4E32-806C-FD04319FEB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C8B21D18-0050-4C09-B86F-53C52455A2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5E3B8F9B-05A6-4CB4-8DA7-87CC1FD01C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1"/>
          </p:nvPr>
        </p:nvSpPr>
        <p:spPr/>
        <p:txBody>
          <a:bodyPr/>
          <a:p>
            <a:fld id="{B77C4D43-532D-4AED-964C-9090C9D60C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4"/>
          </p:nvPr>
        </p:nvSpPr>
        <p:spPr/>
        <p:txBody>
          <a:bodyPr/>
          <a:p>
            <a:fld id="{EDBEA10E-A17D-40E8-BF64-4D36D379CEF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7"/>
          </p:nvPr>
        </p:nvSpPr>
        <p:spPr/>
        <p:txBody>
          <a:bodyPr/>
          <a:p>
            <a:fld id="{CF579CF6-B549-417B-B676-87FBA88D15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A33E9B98-56E7-433B-9B1D-06C5E7C47A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Прямоугольник 21"/>
          <p:cNvSpPr/>
          <p:nvPr/>
        </p:nvSpPr>
        <p:spPr>
          <a:xfrm rot="5400000">
            <a:off x="-3276720" y="3268440"/>
            <a:ext cx="690624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TextBox 19"/>
          <p:cNvSpPr/>
          <p:nvPr/>
        </p:nvSpPr>
        <p:spPr>
          <a:xfrm>
            <a:off x="-2880" y="8280"/>
            <a:ext cx="356760" cy="79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Прямоугольник 6"/>
          <p:cNvSpPr/>
          <p:nvPr/>
        </p:nvSpPr>
        <p:spPr>
          <a:xfrm>
            <a:off x="0" y="6556680"/>
            <a:ext cx="1219176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7"/>
          <p:cNvSpPr/>
          <p:nvPr/>
        </p:nvSpPr>
        <p:spPr>
          <a:xfrm>
            <a:off x="-8640" y="6562440"/>
            <a:ext cx="1219536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001010101010101011111111101000010010101011110101010101010110101010101010011001101010101010000010010101001000100010010111111101011110101111101011111111010101010110101010100101010101011011010111111011010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000010010100100100100001010000101111111111110101010100100101111110010001000101011111000000100101101010101010101000011110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11"/>
          <p:cNvSpPr/>
          <p:nvPr/>
        </p:nvSpPr>
        <p:spPr>
          <a:xfrm>
            <a:off x="10315080" y="6541920"/>
            <a:ext cx="996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www.kaf22.ru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12"/>
          <p:cNvSpPr/>
          <p:nvPr/>
        </p:nvSpPr>
        <p:spPr>
          <a:xfrm>
            <a:off x="9489600" y="6355440"/>
            <a:ext cx="1827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Кафедра №22 «Кибернетика»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Овал 13"/>
          <p:cNvSpPr/>
          <p:nvPr/>
        </p:nvSpPr>
        <p:spPr>
          <a:xfrm>
            <a:off x="162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Рисунок 14" descr=""/>
          <p:cNvPicPr/>
          <p:nvPr/>
        </p:nvPicPr>
        <p:blipFill>
          <a:blip r:embed="rId2"/>
          <a:stretch/>
        </p:blipFill>
        <p:spPr>
          <a:xfrm>
            <a:off x="28800" y="6021360"/>
            <a:ext cx="874440" cy="872640"/>
          </a:xfrm>
          <a:prstGeom prst="rect">
            <a:avLst/>
          </a:prstGeom>
          <a:ln w="0">
            <a:noFill/>
          </a:ln>
        </p:spPr>
      </p:pic>
      <p:sp>
        <p:nvSpPr>
          <p:cNvPr id="8" name="TextBox 15"/>
          <p:cNvSpPr/>
          <p:nvPr/>
        </p:nvSpPr>
        <p:spPr>
          <a:xfrm>
            <a:off x="873000" y="6576120"/>
            <a:ext cx="1048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www.mephi.ru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Box 16"/>
          <p:cNvSpPr/>
          <p:nvPr/>
        </p:nvSpPr>
        <p:spPr>
          <a:xfrm>
            <a:off x="866880" y="6374520"/>
            <a:ext cx="973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НИЯУ МИФИ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" name="Прямая соединительная линия 17"/>
          <p:cNvCxnSpPr/>
          <p:nvPr/>
        </p:nvCxnSpPr>
        <p:spPr>
          <a:xfrm>
            <a:off x="838080" y="792360"/>
            <a:ext cx="10515960" cy="360"/>
          </a:xfrm>
          <a:prstGeom prst="straightConnector1">
            <a:avLst/>
          </a:prstGeom>
          <a:ln w="22225">
            <a:solidFill>
              <a:srgbClr val="537599"/>
            </a:solidFill>
          </a:ln>
        </p:spPr>
      </p:cxnSp>
      <p:sp>
        <p:nvSpPr>
          <p:cNvPr id="11" name="Овал 18"/>
          <p:cNvSpPr/>
          <p:nvPr/>
        </p:nvSpPr>
        <p:spPr>
          <a:xfrm>
            <a:off x="112716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Рисунок 10" descr=""/>
          <p:cNvPicPr/>
          <p:nvPr/>
        </p:nvPicPr>
        <p:blipFill>
          <a:blip r:embed="rId3"/>
          <a:stretch/>
        </p:blipFill>
        <p:spPr>
          <a:xfrm>
            <a:off x="11244960" y="6021360"/>
            <a:ext cx="926280" cy="79164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499400" y="3435840"/>
            <a:ext cx="9143640" cy="105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2400" spc="-1" strike="noStrike">
                <a:solidFill>
                  <a:srgbClr val="92d050"/>
                </a:solidFill>
                <a:latin typeface="Arial"/>
              </a:rPr>
              <a:t>Названи</a:t>
            </a:r>
            <a:r>
              <a:rPr b="0" lang="ru-RU" sz="2400" spc="-1" strike="noStrike">
                <a:solidFill>
                  <a:srgbClr val="92d050"/>
                </a:solidFill>
                <a:latin typeface="Arial"/>
              </a:rPr>
              <a:t>е </a:t>
            </a:r>
            <a:br>
              <a:rPr sz="2400"/>
            </a:br>
            <a:r>
              <a:rPr b="0" lang="ru-RU" sz="2400" spc="-1" strike="noStrike">
                <a:solidFill>
                  <a:srgbClr val="92d050"/>
                </a:solidFill>
                <a:latin typeface="Arial"/>
              </a:rPr>
              <a:t>выпускн</a:t>
            </a:r>
            <a:r>
              <a:rPr b="0" lang="ru-RU" sz="2400" spc="-1" strike="noStrike">
                <a:solidFill>
                  <a:srgbClr val="92d050"/>
                </a:solidFill>
                <a:latin typeface="Arial"/>
              </a:rPr>
              <a:t>ой </a:t>
            </a:r>
            <a:r>
              <a:rPr b="0" lang="ru-RU" sz="2400" spc="-1" strike="noStrike">
                <a:solidFill>
                  <a:srgbClr val="92d050"/>
                </a:solidFill>
                <a:latin typeface="Arial"/>
              </a:rPr>
              <a:t>квалиф</a:t>
            </a:r>
            <a:r>
              <a:rPr b="0" lang="ru-RU" sz="2400" spc="-1" strike="noStrike">
                <a:solidFill>
                  <a:srgbClr val="92d050"/>
                </a:solidFill>
                <a:latin typeface="Arial"/>
              </a:rPr>
              <a:t>икацион</a:t>
            </a:r>
            <a:r>
              <a:rPr b="0" lang="ru-RU" sz="2400" spc="-1" strike="noStrike">
                <a:solidFill>
                  <a:srgbClr val="92d050"/>
                </a:solidFill>
                <a:latin typeface="Arial"/>
              </a:rPr>
              <a:t>ной </a:t>
            </a:r>
            <a:r>
              <a:rPr b="0" lang="ru-RU" sz="2400" spc="-1" strike="noStrike">
                <a:solidFill>
                  <a:srgbClr val="92d050"/>
                </a:solidFill>
                <a:latin typeface="Arial"/>
              </a:rPr>
              <a:t>работы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Заголовок 1"/>
          <p:cNvSpPr/>
          <p:nvPr/>
        </p:nvSpPr>
        <p:spPr>
          <a:xfrm>
            <a:off x="239400" y="1132560"/>
            <a:ext cx="11952360" cy="14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6604" lnSpcReduction="10000"/>
          </a:bodyPr>
          <a:p>
            <a:pPr algn="ctr" defTabSz="914400"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ru-RU" sz="1400" spc="-1" strike="noStrike" cap="all">
                <a:solidFill>
                  <a:schemeClr val="dk1"/>
                </a:solidFill>
                <a:latin typeface="Arial"/>
              </a:rPr>
              <a:t>Институт интеллектуальных кибернетических систем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ru-RU" sz="1300" spc="-1" strike="noStrike" cap="all">
                <a:solidFill>
                  <a:schemeClr val="dk1"/>
                </a:solidFill>
                <a:latin typeface="Arial"/>
              </a:rPr>
              <a:t>Кафедра кибернетики (№ 22)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1200" spc="-1" strike="noStrike" cap="all">
                <a:solidFill>
                  <a:schemeClr val="dk1"/>
                </a:solidFill>
                <a:latin typeface="Arial"/>
              </a:rPr>
              <a:t>	</a:t>
            </a:r>
            <a:r>
              <a:rPr b="1" lang="en-US" sz="1200" spc="-1" strike="noStrike" cap="all">
                <a:solidFill>
                  <a:schemeClr val="dk1"/>
                </a:solidFill>
                <a:latin typeface="Arial"/>
              </a:rPr>
              <a:t>	</a:t>
            </a:r>
            <a:r>
              <a:rPr b="1" lang="en-US" sz="1200" spc="-1" strike="noStrike" cap="all">
                <a:solidFill>
                  <a:schemeClr val="dk1"/>
                </a:solidFill>
                <a:latin typeface="Arial"/>
              </a:rPr>
              <a:t>	</a:t>
            </a:r>
            <a:r>
              <a:rPr b="1" lang="en-US" sz="1200" spc="-1" strike="noStrike" cap="all">
                <a:solidFill>
                  <a:schemeClr val="dk1"/>
                </a:solidFill>
                <a:latin typeface="Arial"/>
              </a:rPr>
              <a:t>	</a:t>
            </a:r>
            <a:r>
              <a:rPr b="1" lang="ru-RU" sz="1200" spc="-1" strike="noStrike" cap="all">
                <a:solidFill>
                  <a:schemeClr val="dk1"/>
                </a:solidFill>
                <a:latin typeface="Arial"/>
              </a:rPr>
              <a:t>Направление подготовки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5" name="Таблица 12"/>
          <p:cNvGraphicFramePr/>
          <p:nvPr/>
        </p:nvGraphicFramePr>
        <p:xfrm>
          <a:off x="6341400" y="4582080"/>
          <a:ext cx="5796360" cy="1163880"/>
        </p:xfrm>
        <a:graphic>
          <a:graphicData uri="http://schemas.openxmlformats.org/drawingml/2006/table">
            <a:tbl>
              <a:tblPr/>
              <a:tblGrid>
                <a:gridCol w="3063600"/>
                <a:gridCol w="2732400"/>
              </a:tblGrid>
              <a:tr h="370800">
                <a:tc>
                  <a:txBody>
                    <a:bodyPr lIns="121680" rIns="12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1" lang="ru-RU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Студент: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21680" rIns="121680" anchor="t">
                      <a:noAutofit/>
                    </a:bodyPr>
                    <a:p>
                      <a:endParaRPr b="0" lang="ru-RU" sz="16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121680" marR="1216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2280">
                <a:tc>
                  <a:txBody>
                    <a:bodyPr lIns="121680" rIns="12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1" lang="ru-RU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Группа: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21680" rIns="121680" anchor="t">
                      <a:noAutofit/>
                    </a:bodyPr>
                    <a:p>
                      <a:endParaRPr b="0" lang="ru-RU" sz="16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121680" marR="1216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0800">
                <a:tc>
                  <a:txBody>
                    <a:bodyPr lIns="121680" rIns="12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1" lang="ru-RU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Научный руководитель: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21680" rIns="121680" anchor="t">
                      <a:noAutofit/>
                    </a:bodyPr>
                    <a:p>
                      <a:endParaRPr b="0" lang="ru-RU" sz="16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121680" marR="1216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TextBox 13"/>
          <p:cNvSpPr/>
          <p:nvPr/>
        </p:nvSpPr>
        <p:spPr>
          <a:xfrm>
            <a:off x="3693600" y="2883240"/>
            <a:ext cx="4493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Arial Black"/>
              </a:rPr>
              <a:t>Учебно-исследовательская работа на тему: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Box 14"/>
          <p:cNvSpPr/>
          <p:nvPr/>
        </p:nvSpPr>
        <p:spPr>
          <a:xfrm>
            <a:off x="5195520" y="6232680"/>
            <a:ext cx="14904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Москва, 20</a:t>
            </a: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2</a:t>
            </a: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6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Прямоугольник 1"/>
          <p:cNvSpPr/>
          <p:nvPr/>
        </p:nvSpPr>
        <p:spPr>
          <a:xfrm>
            <a:off x="595440" y="-2520"/>
            <a:ext cx="115344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ru-RU" sz="1600" spc="-1" strike="noStrike">
                <a:solidFill>
                  <a:schemeClr val="dk1"/>
                </a:solidFill>
                <a:latin typeface="Arial"/>
              </a:rPr>
              <a:t>МИНИСТЕРСТВО НАУКИ И ВЫСШЕГО ОБРАЗОВАНИЯ РОССИЙСКОЙ  ФЕДЕРАЦИИ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ru-RU" sz="1600" spc="-1" strike="noStrike">
                <a:solidFill>
                  <a:schemeClr val="dk1"/>
                </a:solidFill>
                <a:latin typeface="Arial"/>
              </a:rPr>
              <a:t>Федеральное государственное автономное образовательное учреждение высшего образования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ru-RU" sz="16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1" lang="ru-RU" sz="1600" spc="-1" strike="noStrike">
                <a:solidFill>
                  <a:schemeClr val="dk1"/>
                </a:solidFill>
                <a:latin typeface="Arial"/>
              </a:rPr>
              <a:t>«Национальный исследовательский ядерный университет «МИФИ»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Заголовок 6"/>
          <p:cNvSpPr/>
          <p:nvPr/>
        </p:nvSpPr>
        <p:spPr>
          <a:xfrm>
            <a:off x="6329520" y="2262600"/>
            <a:ext cx="4257000" cy="3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1" lang="ru-RU" sz="1100" spc="-1" strike="noStrike">
                <a:solidFill>
                  <a:schemeClr val="dk1"/>
                </a:solidFill>
                <a:latin typeface="Arial"/>
              </a:rPr>
              <a:t>09.03.04 ПРОГРАММНАЯ ИНЖЕНЕРИЯ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9328320" y="4641120"/>
            <a:ext cx="2184120" cy="28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3198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92d050"/>
                </a:solidFill>
                <a:latin typeface="Calibri"/>
              </a:rPr>
              <a:t>[</a:t>
            </a:r>
            <a:r>
              <a:rPr b="0" lang="ru-RU" sz="1600" spc="-1" strike="noStrike">
                <a:solidFill>
                  <a:srgbClr val="92d050"/>
                </a:solidFill>
                <a:latin typeface="Calibri"/>
              </a:rPr>
              <a:t>Иванов И.И.</a:t>
            </a:r>
            <a:r>
              <a:rPr b="0" lang="en-US" sz="1600" spc="-1" strike="noStrike">
                <a:solidFill>
                  <a:srgbClr val="92d050"/>
                </a:solidFill>
                <a:latin typeface="Calibri"/>
              </a:rPr>
              <a:t>]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9328320" y="4996080"/>
            <a:ext cx="2184120" cy="29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rgbClr val="92d050"/>
                </a:solidFill>
                <a:latin typeface="Calibri"/>
              </a:rPr>
              <a:t>Б17-594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9323640" y="5461920"/>
            <a:ext cx="2184120" cy="5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6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rgbClr val="92d050"/>
                </a:solidFill>
                <a:latin typeface="Calibri"/>
              </a:rPr>
              <a:t>к.т.н., доцент 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6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rgbClr val="92d050"/>
                </a:solidFill>
                <a:latin typeface="Calibri"/>
              </a:rPr>
              <a:t>Петров П.П.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1"/>
          <p:cNvSpPr/>
          <p:nvPr/>
        </p:nvSpPr>
        <p:spPr>
          <a:xfrm rot="5400000">
            <a:off x="-3276720" y="3268440"/>
            <a:ext cx="690624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Box 19"/>
          <p:cNvSpPr/>
          <p:nvPr/>
        </p:nvSpPr>
        <p:spPr>
          <a:xfrm>
            <a:off x="-2880" y="8280"/>
            <a:ext cx="356760" cy="79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Прямоугольник 6"/>
          <p:cNvSpPr/>
          <p:nvPr/>
        </p:nvSpPr>
        <p:spPr>
          <a:xfrm>
            <a:off x="0" y="6556680"/>
            <a:ext cx="1219176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Box 7"/>
          <p:cNvSpPr/>
          <p:nvPr/>
        </p:nvSpPr>
        <p:spPr>
          <a:xfrm>
            <a:off x="-8640" y="6562440"/>
            <a:ext cx="1219536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001010101010101011111111101000010010101011110101010101010110101010101010011001101010101010000010010101001000100010010111111101011110101111101011111111010101010110101010100101010101011011010111111011010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000010010100100100100001010000101111111111110101010100100101111110010001000101011111000000100101101010101010101000011110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Box 11"/>
          <p:cNvSpPr/>
          <p:nvPr/>
        </p:nvSpPr>
        <p:spPr>
          <a:xfrm>
            <a:off x="10315080" y="6541920"/>
            <a:ext cx="996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www.kaf22.ru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Box 12"/>
          <p:cNvSpPr/>
          <p:nvPr/>
        </p:nvSpPr>
        <p:spPr>
          <a:xfrm>
            <a:off x="9489600" y="6355440"/>
            <a:ext cx="1827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Кафедра №22 «Кибернетика»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Овал 13"/>
          <p:cNvSpPr/>
          <p:nvPr/>
        </p:nvSpPr>
        <p:spPr>
          <a:xfrm>
            <a:off x="162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" name="Рисунок 14" descr=""/>
          <p:cNvPicPr/>
          <p:nvPr/>
        </p:nvPicPr>
        <p:blipFill>
          <a:blip r:embed="rId2"/>
          <a:stretch/>
        </p:blipFill>
        <p:spPr>
          <a:xfrm>
            <a:off x="28800" y="6021360"/>
            <a:ext cx="874440" cy="872640"/>
          </a:xfrm>
          <a:prstGeom prst="rect">
            <a:avLst/>
          </a:prstGeom>
          <a:ln w="0">
            <a:noFill/>
          </a:ln>
        </p:spPr>
      </p:pic>
      <p:sp>
        <p:nvSpPr>
          <p:cNvPr id="31" name="TextBox 15"/>
          <p:cNvSpPr/>
          <p:nvPr/>
        </p:nvSpPr>
        <p:spPr>
          <a:xfrm>
            <a:off x="873000" y="6576120"/>
            <a:ext cx="1048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www.mephi.ru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Box 16"/>
          <p:cNvSpPr/>
          <p:nvPr/>
        </p:nvSpPr>
        <p:spPr>
          <a:xfrm>
            <a:off x="866880" y="6374520"/>
            <a:ext cx="973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НИЯУ МИФИ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3" name="Прямая соединительная линия 17"/>
          <p:cNvCxnSpPr/>
          <p:nvPr/>
        </p:nvCxnSpPr>
        <p:spPr>
          <a:xfrm>
            <a:off x="838080" y="792360"/>
            <a:ext cx="10515960" cy="360"/>
          </a:xfrm>
          <a:prstGeom prst="straightConnector1">
            <a:avLst/>
          </a:prstGeom>
          <a:ln w="22225">
            <a:solidFill>
              <a:srgbClr val="537599"/>
            </a:solidFill>
          </a:ln>
        </p:spPr>
      </p:cxnSp>
      <p:sp>
        <p:nvSpPr>
          <p:cNvPr id="34" name="Овал 18"/>
          <p:cNvSpPr/>
          <p:nvPr/>
        </p:nvSpPr>
        <p:spPr>
          <a:xfrm>
            <a:off x="112716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" name="Рисунок 10" descr=""/>
          <p:cNvPicPr/>
          <p:nvPr/>
        </p:nvPicPr>
        <p:blipFill>
          <a:blip r:embed="rId3"/>
          <a:stretch/>
        </p:blipFill>
        <p:spPr>
          <a:xfrm>
            <a:off x="11244960" y="6021360"/>
            <a:ext cx="926280" cy="791640"/>
          </a:xfrm>
          <a:prstGeom prst="rect">
            <a:avLst/>
          </a:prstGeom>
          <a:ln w="0">
            <a:noFill/>
          </a:ln>
        </p:spPr>
      </p:pic>
      <p:sp>
        <p:nvSpPr>
          <p:cNvPr id="36" name="Ромб 5"/>
          <p:cNvSpPr/>
          <p:nvPr/>
        </p:nvSpPr>
        <p:spPr>
          <a:xfrm>
            <a:off x="5746680" y="6556680"/>
            <a:ext cx="698400" cy="364680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dt" idx="1"/>
          </p:nvPr>
        </p:nvSpPr>
        <p:spPr>
          <a:xfrm>
            <a:off x="2352240" y="6452640"/>
            <a:ext cx="1305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ftr" idx="2"/>
          </p:nvPr>
        </p:nvSpPr>
        <p:spPr>
          <a:xfrm>
            <a:off x="6856560" y="6462000"/>
            <a:ext cx="175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sldNum" idx="3"/>
          </p:nvPr>
        </p:nvSpPr>
        <p:spPr>
          <a:xfrm>
            <a:off x="5785560" y="6566040"/>
            <a:ext cx="606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4DDE8D7F-84B5-4D2A-A97D-84B935A3FD5E}" type="slidenum">
              <a: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rPr>
              <a:t>&lt;number&gt;</a:t>
            </a:fld>
            <a:endParaRPr b="0" lang="ru-RU" sz="20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40" name="Прямая соединительная линия 6"/>
          <p:cNvCxnSpPr/>
          <p:nvPr/>
        </p:nvCxnSpPr>
        <p:spPr>
          <a:xfrm>
            <a:off x="838080" y="792360"/>
            <a:ext cx="10515960" cy="360"/>
          </a:xfrm>
          <a:prstGeom prst="straightConnector1">
            <a:avLst/>
          </a:prstGeom>
          <a:ln w="22225">
            <a:solidFill>
              <a:srgbClr val="ffffff"/>
            </a:solidFill>
          </a:ln>
        </p:spPr>
      </p:cxnSp>
      <p:sp>
        <p:nvSpPr>
          <p:cNvPr id="4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the title text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рямоугольник 21"/>
          <p:cNvSpPr/>
          <p:nvPr/>
        </p:nvSpPr>
        <p:spPr>
          <a:xfrm rot="5400000">
            <a:off x="-3276720" y="3268440"/>
            <a:ext cx="690624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Box 19"/>
          <p:cNvSpPr/>
          <p:nvPr/>
        </p:nvSpPr>
        <p:spPr>
          <a:xfrm>
            <a:off x="-2880" y="8280"/>
            <a:ext cx="356760" cy="79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Прямоугольник 6"/>
          <p:cNvSpPr/>
          <p:nvPr/>
        </p:nvSpPr>
        <p:spPr>
          <a:xfrm>
            <a:off x="0" y="6556680"/>
            <a:ext cx="1219176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Box 7"/>
          <p:cNvSpPr/>
          <p:nvPr/>
        </p:nvSpPr>
        <p:spPr>
          <a:xfrm>
            <a:off x="-8640" y="6562440"/>
            <a:ext cx="1219536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001010101010101011111111101000010010101011110101010101010110101010101010011001101010101010000010010101001000100010010111111101011110101111101011111111010101010110101010100101010101011011010111111011010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000010010100100100100001010000101111111111110101010100100101111110010001000101011111000000100101101010101010101000011110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Box 11"/>
          <p:cNvSpPr/>
          <p:nvPr/>
        </p:nvSpPr>
        <p:spPr>
          <a:xfrm>
            <a:off x="10315080" y="6541920"/>
            <a:ext cx="996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www.kaf22.ru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Box 12"/>
          <p:cNvSpPr/>
          <p:nvPr/>
        </p:nvSpPr>
        <p:spPr>
          <a:xfrm>
            <a:off x="9489600" y="6355440"/>
            <a:ext cx="1827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Кафедра №22 «Кибернетика»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Овал 13"/>
          <p:cNvSpPr/>
          <p:nvPr/>
        </p:nvSpPr>
        <p:spPr>
          <a:xfrm>
            <a:off x="162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" name="Рисунок 14" descr=""/>
          <p:cNvPicPr/>
          <p:nvPr/>
        </p:nvPicPr>
        <p:blipFill>
          <a:blip r:embed="rId2"/>
          <a:stretch/>
        </p:blipFill>
        <p:spPr>
          <a:xfrm>
            <a:off x="28800" y="6021360"/>
            <a:ext cx="874440" cy="872640"/>
          </a:xfrm>
          <a:prstGeom prst="rect">
            <a:avLst/>
          </a:prstGeom>
          <a:ln w="0">
            <a:noFill/>
          </a:ln>
        </p:spPr>
      </p:pic>
      <p:sp>
        <p:nvSpPr>
          <p:cNvPr id="51" name="TextBox 15"/>
          <p:cNvSpPr/>
          <p:nvPr/>
        </p:nvSpPr>
        <p:spPr>
          <a:xfrm>
            <a:off x="873000" y="6576120"/>
            <a:ext cx="1048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www.mephi.ru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16"/>
          <p:cNvSpPr/>
          <p:nvPr/>
        </p:nvSpPr>
        <p:spPr>
          <a:xfrm>
            <a:off x="866880" y="6374520"/>
            <a:ext cx="973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НИЯУ МИФИ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3" name="Прямая соединительная линия 17"/>
          <p:cNvCxnSpPr/>
          <p:nvPr/>
        </p:nvCxnSpPr>
        <p:spPr>
          <a:xfrm>
            <a:off x="838080" y="792360"/>
            <a:ext cx="10515960" cy="360"/>
          </a:xfrm>
          <a:prstGeom prst="straightConnector1">
            <a:avLst/>
          </a:prstGeom>
          <a:ln w="22225">
            <a:solidFill>
              <a:srgbClr val="537599"/>
            </a:solidFill>
          </a:ln>
        </p:spPr>
      </p:cxnSp>
      <p:sp>
        <p:nvSpPr>
          <p:cNvPr id="54" name="Овал 18"/>
          <p:cNvSpPr/>
          <p:nvPr/>
        </p:nvSpPr>
        <p:spPr>
          <a:xfrm>
            <a:off x="112716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" name="Рисунок 10" descr=""/>
          <p:cNvPicPr/>
          <p:nvPr/>
        </p:nvPicPr>
        <p:blipFill>
          <a:blip r:embed="rId3"/>
          <a:stretch/>
        </p:blipFill>
        <p:spPr>
          <a:xfrm>
            <a:off x="11244960" y="6021360"/>
            <a:ext cx="926280" cy="791640"/>
          </a:xfrm>
          <a:prstGeom prst="rect">
            <a:avLst/>
          </a:prstGeom>
          <a:ln w="0">
            <a:noFill/>
          </a:ln>
        </p:spPr>
      </p:pic>
      <p:sp>
        <p:nvSpPr>
          <p:cNvPr id="56" name="Ромб 7"/>
          <p:cNvSpPr/>
          <p:nvPr/>
        </p:nvSpPr>
        <p:spPr>
          <a:xfrm>
            <a:off x="5746680" y="6556680"/>
            <a:ext cx="698400" cy="364680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dt" idx="4"/>
          </p:nvPr>
        </p:nvSpPr>
        <p:spPr>
          <a:xfrm>
            <a:off x="2352240" y="6452640"/>
            <a:ext cx="1305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ftr" idx="5"/>
          </p:nvPr>
        </p:nvSpPr>
        <p:spPr>
          <a:xfrm>
            <a:off x="6856560" y="6462000"/>
            <a:ext cx="175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sldNum" idx="6"/>
          </p:nvPr>
        </p:nvSpPr>
        <p:spPr>
          <a:xfrm>
            <a:off x="5785560" y="6566040"/>
            <a:ext cx="606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F267B185-CC05-4CB8-913B-9309F44EAD03}" type="slidenum">
              <a: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rPr>
              <a:t>&lt;number&gt;</a:t>
            </a:fld>
            <a:endParaRPr b="0" lang="ru-RU" sz="20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60" name="Прямая соединительная линия 8"/>
          <p:cNvCxnSpPr/>
          <p:nvPr/>
        </p:nvCxnSpPr>
        <p:spPr>
          <a:xfrm>
            <a:off x="838080" y="792360"/>
            <a:ext cx="10515960" cy="360"/>
          </a:xfrm>
          <a:prstGeom prst="straightConnector1">
            <a:avLst/>
          </a:prstGeom>
          <a:ln w="22225">
            <a:solidFill>
              <a:srgbClr val="ffffff"/>
            </a:solidFill>
          </a:ln>
        </p:spPr>
      </p:cxnSp>
      <p:cxnSp>
        <p:nvCxnSpPr>
          <p:cNvPr id="61" name="Прямая соединительная линия 9"/>
          <p:cNvCxnSpPr/>
          <p:nvPr/>
        </p:nvCxnSpPr>
        <p:spPr>
          <a:xfrm>
            <a:off x="838080" y="887040"/>
            <a:ext cx="3934080" cy="360"/>
          </a:xfrm>
          <a:prstGeom prst="straightConnector1">
            <a:avLst/>
          </a:prstGeom>
          <a:ln w="22225">
            <a:solidFill>
              <a:srgbClr val="537599"/>
            </a:solidFill>
          </a:ln>
        </p:spPr>
      </p:cxnSp>
      <p:sp>
        <p:nvSpPr>
          <p:cNvPr id="62" name="PlaceHolder 4"/>
          <p:cNvSpPr>
            <a:spLocks noGrp="1"/>
          </p:cNvSpPr>
          <p:nvPr>
            <p:ph type="title"/>
          </p:nvPr>
        </p:nvSpPr>
        <p:spPr>
          <a:xfrm>
            <a:off x="839880" y="175320"/>
            <a:ext cx="3931920" cy="69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4905360" y="175320"/>
            <a:ext cx="6449760" cy="568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body"/>
          </p:nvPr>
        </p:nvSpPr>
        <p:spPr>
          <a:xfrm>
            <a:off x="839880" y="905400"/>
            <a:ext cx="3931920" cy="496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Прямоугольник 21"/>
          <p:cNvSpPr/>
          <p:nvPr/>
        </p:nvSpPr>
        <p:spPr>
          <a:xfrm rot="5400000">
            <a:off x="-3276720" y="3268440"/>
            <a:ext cx="690624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19"/>
          <p:cNvSpPr/>
          <p:nvPr/>
        </p:nvSpPr>
        <p:spPr>
          <a:xfrm>
            <a:off x="-2880" y="8280"/>
            <a:ext cx="356760" cy="79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Прямоугольник 6"/>
          <p:cNvSpPr/>
          <p:nvPr/>
        </p:nvSpPr>
        <p:spPr>
          <a:xfrm>
            <a:off x="0" y="6556680"/>
            <a:ext cx="1219176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7"/>
          <p:cNvSpPr/>
          <p:nvPr/>
        </p:nvSpPr>
        <p:spPr>
          <a:xfrm>
            <a:off x="-8640" y="6562440"/>
            <a:ext cx="1219536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001010101010101011111111101000010010101011110101010101010110101010101010011001101010101010000010010101001000100010010111111101011110101111101011111111010101010110101010100101010101011011010111111011010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000010010100100100100001010000101111111111110101010100100101111110010001000101011111000000100101101010101010101000011110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11"/>
          <p:cNvSpPr/>
          <p:nvPr/>
        </p:nvSpPr>
        <p:spPr>
          <a:xfrm>
            <a:off x="10315080" y="6541920"/>
            <a:ext cx="996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www.kaf22.ru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12"/>
          <p:cNvSpPr/>
          <p:nvPr/>
        </p:nvSpPr>
        <p:spPr>
          <a:xfrm>
            <a:off x="9489600" y="6355440"/>
            <a:ext cx="1827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Кафедра №22 «Кибернетика»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Овал 13"/>
          <p:cNvSpPr/>
          <p:nvPr/>
        </p:nvSpPr>
        <p:spPr>
          <a:xfrm>
            <a:off x="162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Рисунок 14" descr=""/>
          <p:cNvPicPr/>
          <p:nvPr/>
        </p:nvPicPr>
        <p:blipFill>
          <a:blip r:embed="rId2"/>
          <a:stretch/>
        </p:blipFill>
        <p:spPr>
          <a:xfrm>
            <a:off x="28800" y="6021360"/>
            <a:ext cx="874440" cy="872640"/>
          </a:xfrm>
          <a:prstGeom prst="rect">
            <a:avLst/>
          </a:prstGeom>
          <a:ln w="0">
            <a:noFill/>
          </a:ln>
        </p:spPr>
      </p:pic>
      <p:sp>
        <p:nvSpPr>
          <p:cNvPr id="73" name="TextBox 15"/>
          <p:cNvSpPr/>
          <p:nvPr/>
        </p:nvSpPr>
        <p:spPr>
          <a:xfrm>
            <a:off x="873000" y="6576120"/>
            <a:ext cx="1048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www.mephi.ru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16"/>
          <p:cNvSpPr/>
          <p:nvPr/>
        </p:nvSpPr>
        <p:spPr>
          <a:xfrm>
            <a:off x="866880" y="6374520"/>
            <a:ext cx="973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НИЯУ МИФИ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75" name="Прямая соединительная линия 17"/>
          <p:cNvCxnSpPr/>
          <p:nvPr/>
        </p:nvCxnSpPr>
        <p:spPr>
          <a:xfrm>
            <a:off x="838080" y="792360"/>
            <a:ext cx="10515960" cy="360"/>
          </a:xfrm>
          <a:prstGeom prst="straightConnector1">
            <a:avLst/>
          </a:prstGeom>
          <a:ln w="22225">
            <a:solidFill>
              <a:srgbClr val="537599"/>
            </a:solidFill>
          </a:ln>
        </p:spPr>
      </p:cxnSp>
      <p:sp>
        <p:nvSpPr>
          <p:cNvPr id="76" name="Овал 18"/>
          <p:cNvSpPr/>
          <p:nvPr/>
        </p:nvSpPr>
        <p:spPr>
          <a:xfrm>
            <a:off x="112716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Рисунок 10" descr=""/>
          <p:cNvPicPr/>
          <p:nvPr/>
        </p:nvPicPr>
        <p:blipFill>
          <a:blip r:embed="rId3"/>
          <a:stretch/>
        </p:blipFill>
        <p:spPr>
          <a:xfrm>
            <a:off x="11244960" y="6021360"/>
            <a:ext cx="926280" cy="791640"/>
          </a:xfrm>
          <a:prstGeom prst="rect">
            <a:avLst/>
          </a:prstGeom>
          <a:ln w="0">
            <a:noFill/>
          </a:ln>
        </p:spPr>
      </p:pic>
      <p:sp>
        <p:nvSpPr>
          <p:cNvPr id="78" name="Ромб 7"/>
          <p:cNvSpPr/>
          <p:nvPr/>
        </p:nvSpPr>
        <p:spPr>
          <a:xfrm>
            <a:off x="5746680" y="6556680"/>
            <a:ext cx="698400" cy="364680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dt" idx="7"/>
          </p:nvPr>
        </p:nvSpPr>
        <p:spPr>
          <a:xfrm>
            <a:off x="2352240" y="6452640"/>
            <a:ext cx="1305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ftr" idx="8"/>
          </p:nvPr>
        </p:nvSpPr>
        <p:spPr>
          <a:xfrm>
            <a:off x="6856560" y="6462000"/>
            <a:ext cx="175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9"/>
          </p:nvPr>
        </p:nvSpPr>
        <p:spPr>
          <a:xfrm>
            <a:off x="5785560" y="6566040"/>
            <a:ext cx="606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2BA0D8D9-A201-48AE-9E23-E07F1C75FC16}" type="slidenum">
              <a: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rPr>
              <a:t>&lt;number&gt;</a:t>
            </a:fld>
            <a:endParaRPr b="0" lang="ru-RU" sz="20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82" name="Прямая соединительная линия 8"/>
          <p:cNvCxnSpPr/>
          <p:nvPr/>
        </p:nvCxnSpPr>
        <p:spPr>
          <a:xfrm>
            <a:off x="838080" y="792360"/>
            <a:ext cx="10515960" cy="360"/>
          </a:xfrm>
          <a:prstGeom prst="straightConnector1">
            <a:avLst/>
          </a:prstGeom>
          <a:ln w="22225">
            <a:solidFill>
              <a:srgbClr val="ffffff"/>
            </a:solidFill>
          </a:ln>
        </p:spPr>
      </p:cxnSp>
      <p:cxnSp>
        <p:nvCxnSpPr>
          <p:cNvPr id="83" name="Прямая соединительная линия 9"/>
          <p:cNvCxnSpPr/>
          <p:nvPr/>
        </p:nvCxnSpPr>
        <p:spPr>
          <a:xfrm>
            <a:off x="838080" y="887040"/>
            <a:ext cx="3531240" cy="360"/>
          </a:xfrm>
          <a:prstGeom prst="straightConnector1">
            <a:avLst/>
          </a:prstGeom>
          <a:ln w="22225">
            <a:solidFill>
              <a:srgbClr val="537599"/>
            </a:solidFill>
          </a:ln>
        </p:spPr>
      </p:cxnSp>
      <p:sp>
        <p:nvSpPr>
          <p:cNvPr id="84" name="PlaceHolder 4"/>
          <p:cNvSpPr>
            <a:spLocks noGrp="1"/>
          </p:cNvSpPr>
          <p:nvPr>
            <p:ph type="title"/>
          </p:nvPr>
        </p:nvSpPr>
        <p:spPr>
          <a:xfrm>
            <a:off x="839880" y="175320"/>
            <a:ext cx="3529080" cy="69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body"/>
          </p:nvPr>
        </p:nvSpPr>
        <p:spPr>
          <a:xfrm>
            <a:off x="4450320" y="175320"/>
            <a:ext cx="3349800" cy="568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body"/>
          </p:nvPr>
        </p:nvSpPr>
        <p:spPr>
          <a:xfrm>
            <a:off x="839880" y="905400"/>
            <a:ext cx="3529080" cy="496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7" name="PlaceHolder 7"/>
          <p:cNvSpPr>
            <a:spLocks noGrp="1"/>
          </p:cNvSpPr>
          <p:nvPr>
            <p:ph type="body"/>
          </p:nvPr>
        </p:nvSpPr>
        <p:spPr>
          <a:xfrm>
            <a:off x="7881480" y="175320"/>
            <a:ext cx="3353400" cy="568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cxnSp>
        <p:nvCxnSpPr>
          <p:cNvPr id="88" name="Прямая соединительная линия 13"/>
          <p:cNvCxnSpPr/>
          <p:nvPr/>
        </p:nvCxnSpPr>
        <p:spPr>
          <a:xfrm>
            <a:off x="4368960" y="174960"/>
            <a:ext cx="360" cy="720360"/>
          </a:xfrm>
          <a:prstGeom prst="straightConnector1">
            <a:avLst/>
          </a:prstGeom>
          <a:ln w="22225">
            <a:solidFill>
              <a:srgbClr val="537599"/>
            </a:solidFill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Прямоугольник 21"/>
          <p:cNvSpPr/>
          <p:nvPr/>
        </p:nvSpPr>
        <p:spPr>
          <a:xfrm rot="5400000">
            <a:off x="-3276720" y="3268440"/>
            <a:ext cx="690624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19"/>
          <p:cNvSpPr/>
          <p:nvPr/>
        </p:nvSpPr>
        <p:spPr>
          <a:xfrm>
            <a:off x="-2880" y="8280"/>
            <a:ext cx="356760" cy="79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Прямоугольник 6"/>
          <p:cNvSpPr/>
          <p:nvPr/>
        </p:nvSpPr>
        <p:spPr>
          <a:xfrm>
            <a:off x="0" y="6556680"/>
            <a:ext cx="1219176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7"/>
          <p:cNvSpPr/>
          <p:nvPr/>
        </p:nvSpPr>
        <p:spPr>
          <a:xfrm>
            <a:off x="-8640" y="6562440"/>
            <a:ext cx="1219536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001010101010101011111111101000010010101011110101010101010110101010101010011001101010101010000010010101001000100010010111111101011110101111101011111111010101010110101010100101010101011011010111111011010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000010010100100100100001010000101111111111110101010100100101111110010001000101011111000000100101101010101010101000011110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11"/>
          <p:cNvSpPr/>
          <p:nvPr/>
        </p:nvSpPr>
        <p:spPr>
          <a:xfrm>
            <a:off x="10315080" y="6541920"/>
            <a:ext cx="996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www.kaf22.ru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12"/>
          <p:cNvSpPr/>
          <p:nvPr/>
        </p:nvSpPr>
        <p:spPr>
          <a:xfrm>
            <a:off x="9489600" y="6355440"/>
            <a:ext cx="1827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Кафедра №22 «Кибернетика»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Овал 13"/>
          <p:cNvSpPr/>
          <p:nvPr/>
        </p:nvSpPr>
        <p:spPr>
          <a:xfrm>
            <a:off x="162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6" name="Рисунок 14" descr=""/>
          <p:cNvPicPr/>
          <p:nvPr/>
        </p:nvPicPr>
        <p:blipFill>
          <a:blip r:embed="rId2"/>
          <a:stretch/>
        </p:blipFill>
        <p:spPr>
          <a:xfrm>
            <a:off x="28800" y="6021360"/>
            <a:ext cx="874440" cy="872640"/>
          </a:xfrm>
          <a:prstGeom prst="rect">
            <a:avLst/>
          </a:prstGeom>
          <a:ln w="0">
            <a:noFill/>
          </a:ln>
        </p:spPr>
      </p:pic>
      <p:sp>
        <p:nvSpPr>
          <p:cNvPr id="97" name="TextBox 15"/>
          <p:cNvSpPr/>
          <p:nvPr/>
        </p:nvSpPr>
        <p:spPr>
          <a:xfrm>
            <a:off x="873000" y="6576120"/>
            <a:ext cx="1048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www.mephi.ru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16"/>
          <p:cNvSpPr/>
          <p:nvPr/>
        </p:nvSpPr>
        <p:spPr>
          <a:xfrm>
            <a:off x="866880" y="6374520"/>
            <a:ext cx="973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НИЯУ МИФИ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9" name="Прямая соединительная линия 17"/>
          <p:cNvCxnSpPr/>
          <p:nvPr/>
        </p:nvCxnSpPr>
        <p:spPr>
          <a:xfrm>
            <a:off x="838080" y="792360"/>
            <a:ext cx="10515960" cy="360"/>
          </a:xfrm>
          <a:prstGeom prst="straightConnector1">
            <a:avLst/>
          </a:prstGeom>
          <a:ln w="22225">
            <a:solidFill>
              <a:srgbClr val="537599"/>
            </a:solidFill>
          </a:ln>
        </p:spPr>
      </p:cxnSp>
      <p:sp>
        <p:nvSpPr>
          <p:cNvPr id="100" name="Овал 18"/>
          <p:cNvSpPr/>
          <p:nvPr/>
        </p:nvSpPr>
        <p:spPr>
          <a:xfrm>
            <a:off x="112716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Рисунок 10" descr=""/>
          <p:cNvPicPr/>
          <p:nvPr/>
        </p:nvPicPr>
        <p:blipFill>
          <a:blip r:embed="rId3"/>
          <a:stretch/>
        </p:blipFill>
        <p:spPr>
          <a:xfrm>
            <a:off x="11244960" y="6021360"/>
            <a:ext cx="926280" cy="791640"/>
          </a:xfrm>
          <a:prstGeom prst="rect">
            <a:avLst/>
          </a:prstGeom>
          <a:ln w="0">
            <a:noFill/>
          </a:ln>
        </p:spPr>
      </p:pic>
      <p:sp>
        <p:nvSpPr>
          <p:cNvPr id="102" name="Ромб 7"/>
          <p:cNvSpPr/>
          <p:nvPr/>
        </p:nvSpPr>
        <p:spPr>
          <a:xfrm>
            <a:off x="5746680" y="6556680"/>
            <a:ext cx="698400" cy="364680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dt" idx="10"/>
          </p:nvPr>
        </p:nvSpPr>
        <p:spPr>
          <a:xfrm>
            <a:off x="2352240" y="6452640"/>
            <a:ext cx="1305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ftr" idx="11"/>
          </p:nvPr>
        </p:nvSpPr>
        <p:spPr>
          <a:xfrm>
            <a:off x="6856560" y="6462000"/>
            <a:ext cx="175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12"/>
          </p:nvPr>
        </p:nvSpPr>
        <p:spPr>
          <a:xfrm>
            <a:off x="5785560" y="6566040"/>
            <a:ext cx="606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45C9A3A9-AD35-4C14-85D9-0721B0838DB2}" type="slidenum">
              <a: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rPr>
              <a:t>&lt;number&gt;</a:t>
            </a:fld>
            <a:endParaRPr b="0" lang="ru-RU" sz="20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106" name="Прямая соединительная линия 8"/>
          <p:cNvCxnSpPr/>
          <p:nvPr/>
        </p:nvCxnSpPr>
        <p:spPr>
          <a:xfrm>
            <a:off x="838080" y="792360"/>
            <a:ext cx="10515960" cy="360"/>
          </a:xfrm>
          <a:prstGeom prst="straightConnector1">
            <a:avLst/>
          </a:prstGeom>
          <a:ln w="22225">
            <a:solidFill>
              <a:srgbClr val="ffffff"/>
            </a:solidFill>
          </a:ln>
        </p:spPr>
      </p:cxnSp>
      <p:cxnSp>
        <p:nvCxnSpPr>
          <p:cNvPr id="107" name="Прямая соединительная линия 9"/>
          <p:cNvCxnSpPr/>
          <p:nvPr/>
        </p:nvCxnSpPr>
        <p:spPr>
          <a:xfrm>
            <a:off x="838080" y="874800"/>
            <a:ext cx="3934080" cy="360"/>
          </a:xfrm>
          <a:prstGeom prst="straightConnector1">
            <a:avLst/>
          </a:prstGeom>
          <a:ln w="22225">
            <a:solidFill>
              <a:srgbClr val="537599"/>
            </a:solidFill>
          </a:ln>
        </p:spPr>
      </p:cxnSp>
      <p:sp>
        <p:nvSpPr>
          <p:cNvPr id="108" name="PlaceHolder 4"/>
          <p:cNvSpPr>
            <a:spLocks noGrp="1"/>
          </p:cNvSpPr>
          <p:nvPr>
            <p:ph type="title"/>
          </p:nvPr>
        </p:nvSpPr>
        <p:spPr>
          <a:xfrm>
            <a:off x="839880" y="176400"/>
            <a:ext cx="3931920" cy="69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</a:t>
            </a: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заголовка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body"/>
          </p:nvPr>
        </p:nvSpPr>
        <p:spPr>
          <a:xfrm>
            <a:off x="5183280" y="176400"/>
            <a:ext cx="6171840" cy="568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Вставка рисунка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0" name="PlaceHolder 6"/>
          <p:cNvSpPr>
            <a:spLocks noGrp="1"/>
          </p:cNvSpPr>
          <p:nvPr>
            <p:ph type="body"/>
          </p:nvPr>
        </p:nvSpPr>
        <p:spPr>
          <a:xfrm>
            <a:off x="839880" y="874800"/>
            <a:ext cx="3931920" cy="499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Прямоугольник 21"/>
          <p:cNvSpPr/>
          <p:nvPr/>
        </p:nvSpPr>
        <p:spPr>
          <a:xfrm rot="5400000">
            <a:off x="-3276720" y="3268440"/>
            <a:ext cx="690624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19"/>
          <p:cNvSpPr/>
          <p:nvPr/>
        </p:nvSpPr>
        <p:spPr>
          <a:xfrm>
            <a:off x="-2880" y="8280"/>
            <a:ext cx="356760" cy="79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Прямоугольник 6"/>
          <p:cNvSpPr/>
          <p:nvPr/>
        </p:nvSpPr>
        <p:spPr>
          <a:xfrm>
            <a:off x="0" y="6556680"/>
            <a:ext cx="1219176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7"/>
          <p:cNvSpPr/>
          <p:nvPr/>
        </p:nvSpPr>
        <p:spPr>
          <a:xfrm>
            <a:off x="-8640" y="6562440"/>
            <a:ext cx="1219536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001010101010101011111111101000010010101011110101010101010110101010101010011001101010101010000010010101001000100010010111111101011110101111101011111111010101010110101010100101010101011011010111111011010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000010010100100100100001010000101111111111110101010100100101111110010001000101011111000000100101101010101010101000011110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11"/>
          <p:cNvSpPr/>
          <p:nvPr/>
        </p:nvSpPr>
        <p:spPr>
          <a:xfrm>
            <a:off x="10315080" y="6541920"/>
            <a:ext cx="996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www.kaf22.ru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12"/>
          <p:cNvSpPr/>
          <p:nvPr/>
        </p:nvSpPr>
        <p:spPr>
          <a:xfrm>
            <a:off x="9489600" y="6355440"/>
            <a:ext cx="1827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Кафедра №22 «Кибернетика»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Овал 13"/>
          <p:cNvSpPr/>
          <p:nvPr/>
        </p:nvSpPr>
        <p:spPr>
          <a:xfrm>
            <a:off x="162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Рисунок 14" descr=""/>
          <p:cNvPicPr/>
          <p:nvPr/>
        </p:nvPicPr>
        <p:blipFill>
          <a:blip r:embed="rId2"/>
          <a:stretch/>
        </p:blipFill>
        <p:spPr>
          <a:xfrm>
            <a:off x="28800" y="6021360"/>
            <a:ext cx="874440" cy="872640"/>
          </a:xfrm>
          <a:prstGeom prst="rect">
            <a:avLst/>
          </a:prstGeom>
          <a:ln w="0">
            <a:noFill/>
          </a:ln>
        </p:spPr>
      </p:pic>
      <p:sp>
        <p:nvSpPr>
          <p:cNvPr id="119" name="TextBox 15"/>
          <p:cNvSpPr/>
          <p:nvPr/>
        </p:nvSpPr>
        <p:spPr>
          <a:xfrm>
            <a:off x="873000" y="6576120"/>
            <a:ext cx="1048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www.mephi.ru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16"/>
          <p:cNvSpPr/>
          <p:nvPr/>
        </p:nvSpPr>
        <p:spPr>
          <a:xfrm>
            <a:off x="866880" y="6374520"/>
            <a:ext cx="973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НИЯУ МИФИ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1" name="Прямая соединительная линия 17"/>
          <p:cNvCxnSpPr/>
          <p:nvPr/>
        </p:nvCxnSpPr>
        <p:spPr>
          <a:xfrm>
            <a:off x="838080" y="792360"/>
            <a:ext cx="10515960" cy="360"/>
          </a:xfrm>
          <a:prstGeom prst="straightConnector1">
            <a:avLst/>
          </a:prstGeom>
          <a:ln w="22225">
            <a:solidFill>
              <a:srgbClr val="537599"/>
            </a:solidFill>
          </a:ln>
        </p:spPr>
      </p:cxnSp>
      <p:sp>
        <p:nvSpPr>
          <p:cNvPr id="122" name="Овал 18"/>
          <p:cNvSpPr/>
          <p:nvPr/>
        </p:nvSpPr>
        <p:spPr>
          <a:xfrm>
            <a:off x="112716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Рисунок 10" descr=""/>
          <p:cNvPicPr/>
          <p:nvPr/>
        </p:nvPicPr>
        <p:blipFill>
          <a:blip r:embed="rId3"/>
          <a:stretch/>
        </p:blipFill>
        <p:spPr>
          <a:xfrm>
            <a:off x="11244960" y="6021360"/>
            <a:ext cx="926280" cy="791640"/>
          </a:xfrm>
          <a:prstGeom prst="rect">
            <a:avLst/>
          </a:prstGeom>
          <a:ln w="0">
            <a:noFill/>
          </a:ln>
        </p:spPr>
      </p:pic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38080" y="25200"/>
            <a:ext cx="10515240" cy="7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Образец </a:t>
            </a: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заголовка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838080" y="870840"/>
            <a:ext cx="10515240" cy="530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dt" idx="13"/>
          </p:nvPr>
        </p:nvSpPr>
        <p:spPr>
          <a:xfrm>
            <a:off x="2352240" y="6452640"/>
            <a:ext cx="1305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ftr" idx="14"/>
          </p:nvPr>
        </p:nvSpPr>
        <p:spPr>
          <a:xfrm>
            <a:off x="6856560" y="6462000"/>
            <a:ext cx="175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sldNum" idx="15"/>
          </p:nvPr>
        </p:nvSpPr>
        <p:spPr>
          <a:xfrm>
            <a:off x="5785560" y="6566040"/>
            <a:ext cx="606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CD09E3FE-72FA-4B2C-A936-52310E6B04F3}" type="slidenum">
              <a: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rPr>
              <a:t>&lt;number&gt;</a:t>
            </a:fld>
            <a:endParaRPr b="0" lang="ru-RU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Прямоугольник 21"/>
          <p:cNvSpPr/>
          <p:nvPr/>
        </p:nvSpPr>
        <p:spPr>
          <a:xfrm rot="5400000">
            <a:off x="-3276720" y="3268440"/>
            <a:ext cx="690624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19"/>
          <p:cNvSpPr/>
          <p:nvPr/>
        </p:nvSpPr>
        <p:spPr>
          <a:xfrm>
            <a:off x="-2880" y="8280"/>
            <a:ext cx="356760" cy="79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Прямоугольник 6"/>
          <p:cNvSpPr/>
          <p:nvPr/>
        </p:nvSpPr>
        <p:spPr>
          <a:xfrm>
            <a:off x="0" y="6556680"/>
            <a:ext cx="1219176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7"/>
          <p:cNvSpPr/>
          <p:nvPr/>
        </p:nvSpPr>
        <p:spPr>
          <a:xfrm>
            <a:off x="-8640" y="6562440"/>
            <a:ext cx="1219536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001010101010101011111111101000010010101011110101010101010110101010101010011001101010101010000010010101001000100010010111111101011110101111101011111111010101010110101010100101010101011011010111111011010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000010010100100100100001010000101111111111110101010100100101111110010001000101011111000000100101101010101010101000011110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11"/>
          <p:cNvSpPr/>
          <p:nvPr/>
        </p:nvSpPr>
        <p:spPr>
          <a:xfrm>
            <a:off x="10315080" y="6541920"/>
            <a:ext cx="996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www.kaf22.ru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12"/>
          <p:cNvSpPr/>
          <p:nvPr/>
        </p:nvSpPr>
        <p:spPr>
          <a:xfrm>
            <a:off x="9489600" y="6355440"/>
            <a:ext cx="1827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Кафедра №22 «Кибернетика»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Овал 13"/>
          <p:cNvSpPr/>
          <p:nvPr/>
        </p:nvSpPr>
        <p:spPr>
          <a:xfrm>
            <a:off x="162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6" name="Рисунок 14" descr=""/>
          <p:cNvPicPr/>
          <p:nvPr/>
        </p:nvPicPr>
        <p:blipFill>
          <a:blip r:embed="rId2"/>
          <a:stretch/>
        </p:blipFill>
        <p:spPr>
          <a:xfrm>
            <a:off x="28800" y="6021360"/>
            <a:ext cx="874440" cy="872640"/>
          </a:xfrm>
          <a:prstGeom prst="rect">
            <a:avLst/>
          </a:prstGeom>
          <a:ln w="0">
            <a:noFill/>
          </a:ln>
        </p:spPr>
      </p:pic>
      <p:sp>
        <p:nvSpPr>
          <p:cNvPr id="137" name="TextBox 15"/>
          <p:cNvSpPr/>
          <p:nvPr/>
        </p:nvSpPr>
        <p:spPr>
          <a:xfrm>
            <a:off x="873000" y="6576120"/>
            <a:ext cx="1048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www.mephi.ru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16"/>
          <p:cNvSpPr/>
          <p:nvPr/>
        </p:nvSpPr>
        <p:spPr>
          <a:xfrm>
            <a:off x="866880" y="6374520"/>
            <a:ext cx="973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НИЯУ МИФИ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39" name="Прямая соединительная линия 17"/>
          <p:cNvCxnSpPr/>
          <p:nvPr/>
        </p:nvCxnSpPr>
        <p:spPr>
          <a:xfrm>
            <a:off x="838080" y="792360"/>
            <a:ext cx="10515960" cy="360"/>
          </a:xfrm>
          <a:prstGeom prst="straightConnector1">
            <a:avLst/>
          </a:prstGeom>
          <a:ln w="22225">
            <a:solidFill>
              <a:srgbClr val="537599"/>
            </a:solidFill>
          </a:ln>
        </p:spPr>
      </p:cxnSp>
      <p:sp>
        <p:nvSpPr>
          <p:cNvPr id="140" name="Овал 18"/>
          <p:cNvSpPr/>
          <p:nvPr/>
        </p:nvSpPr>
        <p:spPr>
          <a:xfrm>
            <a:off x="112716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1" name="Рисунок 10" descr=""/>
          <p:cNvPicPr/>
          <p:nvPr/>
        </p:nvPicPr>
        <p:blipFill>
          <a:blip r:embed="rId3"/>
          <a:stretch/>
        </p:blipFill>
        <p:spPr>
          <a:xfrm>
            <a:off x="11244960" y="6021360"/>
            <a:ext cx="926280" cy="791640"/>
          </a:xfrm>
          <a:prstGeom prst="rect">
            <a:avLst/>
          </a:prstGeom>
          <a:ln w="0">
            <a:noFill/>
          </a:ln>
        </p:spPr>
      </p:pic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dt" idx="16"/>
          </p:nvPr>
        </p:nvSpPr>
        <p:spPr>
          <a:xfrm>
            <a:off x="2352240" y="6452640"/>
            <a:ext cx="1305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ftr" idx="17"/>
          </p:nvPr>
        </p:nvSpPr>
        <p:spPr>
          <a:xfrm>
            <a:off x="6856560" y="6462000"/>
            <a:ext cx="175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PlaceHolder 5"/>
          <p:cNvSpPr>
            <a:spLocks noGrp="1"/>
          </p:cNvSpPr>
          <p:nvPr>
            <p:ph type="sldNum" idx="18"/>
          </p:nvPr>
        </p:nvSpPr>
        <p:spPr>
          <a:xfrm>
            <a:off x="5785560" y="6566040"/>
            <a:ext cx="606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DDE46FEB-FAE2-4628-8253-48C33ACF09F2}" type="slidenum">
              <a: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rPr>
              <a:t>&lt;number&gt;</a:t>
            </a:fld>
            <a:endParaRPr b="0" lang="ru-RU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Прямоугольник 21"/>
          <p:cNvSpPr/>
          <p:nvPr/>
        </p:nvSpPr>
        <p:spPr>
          <a:xfrm rot="5400000">
            <a:off x="-3276720" y="3268440"/>
            <a:ext cx="690624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19"/>
          <p:cNvSpPr/>
          <p:nvPr/>
        </p:nvSpPr>
        <p:spPr>
          <a:xfrm>
            <a:off x="-2880" y="8280"/>
            <a:ext cx="356760" cy="79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Прямоугольник 6"/>
          <p:cNvSpPr/>
          <p:nvPr/>
        </p:nvSpPr>
        <p:spPr>
          <a:xfrm>
            <a:off x="0" y="6556680"/>
            <a:ext cx="1219176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7"/>
          <p:cNvSpPr/>
          <p:nvPr/>
        </p:nvSpPr>
        <p:spPr>
          <a:xfrm>
            <a:off x="-8640" y="6562440"/>
            <a:ext cx="1219536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001010101010101011111111101000010010101011110101010101010110101010101010011001101010101010000010010101001000100010010111111101011110101111101011111111010101010110101010100101010101011011010111111011010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000010010100100100100001010000101111111111110101010100100101111110010001000101011111000000100101101010101010101000011110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11"/>
          <p:cNvSpPr/>
          <p:nvPr/>
        </p:nvSpPr>
        <p:spPr>
          <a:xfrm>
            <a:off x="10315080" y="6541920"/>
            <a:ext cx="996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www.kaf22.ru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12"/>
          <p:cNvSpPr/>
          <p:nvPr/>
        </p:nvSpPr>
        <p:spPr>
          <a:xfrm>
            <a:off x="9489600" y="6355440"/>
            <a:ext cx="1827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Кафедра №22 «Кибернетика»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Овал 13"/>
          <p:cNvSpPr/>
          <p:nvPr/>
        </p:nvSpPr>
        <p:spPr>
          <a:xfrm>
            <a:off x="162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" name="Рисунок 14" descr=""/>
          <p:cNvPicPr/>
          <p:nvPr/>
        </p:nvPicPr>
        <p:blipFill>
          <a:blip r:embed="rId2"/>
          <a:stretch/>
        </p:blipFill>
        <p:spPr>
          <a:xfrm>
            <a:off x="28800" y="6021360"/>
            <a:ext cx="874440" cy="872640"/>
          </a:xfrm>
          <a:prstGeom prst="rect">
            <a:avLst/>
          </a:prstGeom>
          <a:ln w="0">
            <a:noFill/>
          </a:ln>
        </p:spPr>
      </p:pic>
      <p:sp>
        <p:nvSpPr>
          <p:cNvPr id="155" name="TextBox 15"/>
          <p:cNvSpPr/>
          <p:nvPr/>
        </p:nvSpPr>
        <p:spPr>
          <a:xfrm>
            <a:off x="873000" y="6576120"/>
            <a:ext cx="1048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www.mephi.ru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16"/>
          <p:cNvSpPr/>
          <p:nvPr/>
        </p:nvSpPr>
        <p:spPr>
          <a:xfrm>
            <a:off x="866880" y="6374520"/>
            <a:ext cx="973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НИЯУ МИФИ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7" name="Прямая соединительная линия 17"/>
          <p:cNvCxnSpPr/>
          <p:nvPr/>
        </p:nvCxnSpPr>
        <p:spPr>
          <a:xfrm>
            <a:off x="838080" y="792360"/>
            <a:ext cx="10515960" cy="360"/>
          </a:xfrm>
          <a:prstGeom prst="straightConnector1">
            <a:avLst/>
          </a:prstGeom>
          <a:ln w="22225">
            <a:solidFill>
              <a:srgbClr val="537599"/>
            </a:solidFill>
          </a:ln>
        </p:spPr>
      </p:cxnSp>
      <p:sp>
        <p:nvSpPr>
          <p:cNvPr id="158" name="Овал 18"/>
          <p:cNvSpPr/>
          <p:nvPr/>
        </p:nvSpPr>
        <p:spPr>
          <a:xfrm>
            <a:off x="112716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9" name="Рисунок 10" descr=""/>
          <p:cNvPicPr/>
          <p:nvPr/>
        </p:nvPicPr>
        <p:blipFill>
          <a:blip r:embed="rId3"/>
          <a:stretch/>
        </p:blipFill>
        <p:spPr>
          <a:xfrm>
            <a:off x="11244960" y="6021360"/>
            <a:ext cx="926280" cy="791640"/>
          </a:xfrm>
          <a:prstGeom prst="rect">
            <a:avLst/>
          </a:prstGeom>
          <a:ln w="0">
            <a:noFill/>
          </a:ln>
        </p:spPr>
      </p:pic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838080" y="25200"/>
            <a:ext cx="10515240" cy="7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1" name="Ромб 7"/>
          <p:cNvSpPr/>
          <p:nvPr/>
        </p:nvSpPr>
        <p:spPr>
          <a:xfrm>
            <a:off x="5789880" y="6599880"/>
            <a:ext cx="698400" cy="280440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ldNum" idx="19"/>
          </p:nvPr>
        </p:nvSpPr>
        <p:spPr>
          <a:xfrm>
            <a:off x="5846040" y="6591960"/>
            <a:ext cx="569520" cy="28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12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B54E8FC3-736B-47A8-81F6-B92DDCB14FE4}" type="slidenum">
              <a:rPr b="0" lang="ru-RU" sz="12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body"/>
          </p:nvPr>
        </p:nvSpPr>
        <p:spPr>
          <a:xfrm>
            <a:off x="838080" y="903600"/>
            <a:ext cx="5181120" cy="509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Seventh Outline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body"/>
          </p:nvPr>
        </p:nvSpPr>
        <p:spPr>
          <a:xfrm>
            <a:off x="6172200" y="903600"/>
            <a:ext cx="5181120" cy="509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Прямоугольник 21"/>
          <p:cNvSpPr/>
          <p:nvPr/>
        </p:nvSpPr>
        <p:spPr>
          <a:xfrm rot="5400000">
            <a:off x="-3276720" y="3268440"/>
            <a:ext cx="690624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19"/>
          <p:cNvSpPr/>
          <p:nvPr/>
        </p:nvSpPr>
        <p:spPr>
          <a:xfrm>
            <a:off x="-2880" y="8280"/>
            <a:ext cx="356760" cy="79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Прямоугольник 6"/>
          <p:cNvSpPr/>
          <p:nvPr/>
        </p:nvSpPr>
        <p:spPr>
          <a:xfrm>
            <a:off x="0" y="6556680"/>
            <a:ext cx="1219176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7"/>
          <p:cNvSpPr/>
          <p:nvPr/>
        </p:nvSpPr>
        <p:spPr>
          <a:xfrm>
            <a:off x="-8640" y="6562440"/>
            <a:ext cx="1219536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001010101010101011111111101000010010101011110101010101010110101010101010011001101010101010000010010101001000100010010111111101011110101111101011111111010101010110101010100101010101011011010111111011010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000010010100100100100001010000101111111111110101010100100101111110010001000101011111000000100101101010101010101000011110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11"/>
          <p:cNvSpPr/>
          <p:nvPr/>
        </p:nvSpPr>
        <p:spPr>
          <a:xfrm>
            <a:off x="10315080" y="6541920"/>
            <a:ext cx="996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www.kaf22.ru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12"/>
          <p:cNvSpPr/>
          <p:nvPr/>
        </p:nvSpPr>
        <p:spPr>
          <a:xfrm>
            <a:off x="9489600" y="6355440"/>
            <a:ext cx="1827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Кафедра №22 «Кибернетика»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Овал 13"/>
          <p:cNvSpPr/>
          <p:nvPr/>
        </p:nvSpPr>
        <p:spPr>
          <a:xfrm>
            <a:off x="162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2" name="Рисунок 14" descr=""/>
          <p:cNvPicPr/>
          <p:nvPr/>
        </p:nvPicPr>
        <p:blipFill>
          <a:blip r:embed="rId2"/>
          <a:stretch/>
        </p:blipFill>
        <p:spPr>
          <a:xfrm>
            <a:off x="28800" y="6021360"/>
            <a:ext cx="874440" cy="872640"/>
          </a:xfrm>
          <a:prstGeom prst="rect">
            <a:avLst/>
          </a:prstGeom>
          <a:ln w="0">
            <a:noFill/>
          </a:ln>
        </p:spPr>
      </p:pic>
      <p:sp>
        <p:nvSpPr>
          <p:cNvPr id="173" name="TextBox 15"/>
          <p:cNvSpPr/>
          <p:nvPr/>
        </p:nvSpPr>
        <p:spPr>
          <a:xfrm>
            <a:off x="873000" y="6576120"/>
            <a:ext cx="1048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www.mephi.ru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16"/>
          <p:cNvSpPr/>
          <p:nvPr/>
        </p:nvSpPr>
        <p:spPr>
          <a:xfrm>
            <a:off x="866880" y="6374520"/>
            <a:ext cx="973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НИЯУ МИФИ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5" name="Прямая соединительная линия 17"/>
          <p:cNvCxnSpPr/>
          <p:nvPr/>
        </p:nvCxnSpPr>
        <p:spPr>
          <a:xfrm>
            <a:off x="838080" y="792360"/>
            <a:ext cx="10515960" cy="360"/>
          </a:xfrm>
          <a:prstGeom prst="straightConnector1">
            <a:avLst/>
          </a:prstGeom>
          <a:ln w="22225">
            <a:solidFill>
              <a:srgbClr val="537599"/>
            </a:solidFill>
          </a:ln>
        </p:spPr>
      </p:cxnSp>
      <p:sp>
        <p:nvSpPr>
          <p:cNvPr id="176" name="Овал 18"/>
          <p:cNvSpPr/>
          <p:nvPr/>
        </p:nvSpPr>
        <p:spPr>
          <a:xfrm>
            <a:off x="112716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7" name="Рисунок 10" descr=""/>
          <p:cNvPicPr/>
          <p:nvPr/>
        </p:nvPicPr>
        <p:blipFill>
          <a:blip r:embed="rId3"/>
          <a:stretch/>
        </p:blipFill>
        <p:spPr>
          <a:xfrm>
            <a:off x="11244960" y="6021360"/>
            <a:ext cx="926280" cy="791640"/>
          </a:xfrm>
          <a:prstGeom prst="rect">
            <a:avLst/>
          </a:prstGeom>
          <a:ln w="0">
            <a:noFill/>
          </a:ln>
        </p:spPr>
      </p:pic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499400" y="3435840"/>
            <a:ext cx="9143640" cy="105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2400" spc="-1" strike="noStrike">
                <a:solidFill>
                  <a:srgbClr val="92d050"/>
                </a:solidFill>
                <a:latin typeface="Arial"/>
              </a:rPr>
              <a:t>Название </a:t>
            </a:r>
            <a:br>
              <a:rPr sz="2400"/>
            </a:br>
            <a:r>
              <a:rPr b="0" lang="ru-RU" sz="2400" spc="-1" strike="noStrike">
                <a:solidFill>
                  <a:srgbClr val="92d050"/>
                </a:solidFill>
                <a:latin typeface="Arial"/>
              </a:rPr>
              <a:t>выпускной </a:t>
            </a:r>
            <a:r>
              <a:rPr b="0" lang="ru-RU" sz="2400" spc="-1" strike="noStrike">
                <a:solidFill>
                  <a:srgbClr val="92d050"/>
                </a:solidFill>
                <a:latin typeface="Arial"/>
              </a:rPr>
              <a:t>квалификационно</a:t>
            </a:r>
            <a:r>
              <a:rPr b="0" lang="ru-RU" sz="2400" spc="-1" strike="noStrike">
                <a:solidFill>
                  <a:srgbClr val="92d050"/>
                </a:solidFill>
                <a:latin typeface="Arial"/>
              </a:rPr>
              <a:t>й работы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9" name="Заголовок 1"/>
          <p:cNvSpPr/>
          <p:nvPr/>
        </p:nvSpPr>
        <p:spPr>
          <a:xfrm>
            <a:off x="239400" y="1132560"/>
            <a:ext cx="11952360" cy="14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6604" lnSpcReduction="10000"/>
          </a:bodyPr>
          <a:p>
            <a:pPr algn="ctr" defTabSz="914400"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ru-RU" sz="1400" spc="-1" strike="noStrike" cap="all">
                <a:solidFill>
                  <a:schemeClr val="dk1"/>
                </a:solidFill>
                <a:latin typeface="Arial"/>
              </a:rPr>
              <a:t>Институт интеллектуальных кибернетических систем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ru-RU" sz="1300" spc="-1" strike="noStrike" cap="all">
                <a:solidFill>
                  <a:schemeClr val="dk1"/>
                </a:solidFill>
                <a:latin typeface="Arial"/>
              </a:rPr>
              <a:t>Кафедра кибернетики (№ 22)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1200" spc="-1" strike="noStrike" cap="all">
                <a:solidFill>
                  <a:schemeClr val="dk1"/>
                </a:solidFill>
                <a:latin typeface="Arial"/>
              </a:rPr>
              <a:t>	</a:t>
            </a:r>
            <a:r>
              <a:rPr b="1" lang="en-US" sz="1200" spc="-1" strike="noStrike" cap="all">
                <a:solidFill>
                  <a:schemeClr val="dk1"/>
                </a:solidFill>
                <a:latin typeface="Arial"/>
              </a:rPr>
              <a:t>	</a:t>
            </a:r>
            <a:r>
              <a:rPr b="1" lang="en-US" sz="1200" spc="-1" strike="noStrike" cap="all">
                <a:solidFill>
                  <a:schemeClr val="dk1"/>
                </a:solidFill>
                <a:latin typeface="Arial"/>
              </a:rPr>
              <a:t>	</a:t>
            </a:r>
            <a:r>
              <a:rPr b="1" lang="en-US" sz="1200" spc="-1" strike="noStrike" cap="all">
                <a:solidFill>
                  <a:schemeClr val="dk1"/>
                </a:solidFill>
                <a:latin typeface="Arial"/>
              </a:rPr>
              <a:t>	</a:t>
            </a:r>
            <a:r>
              <a:rPr b="1" lang="ru-RU" sz="1200" spc="-1" strike="noStrike" cap="all">
                <a:solidFill>
                  <a:schemeClr val="dk1"/>
                </a:solidFill>
                <a:latin typeface="Arial"/>
              </a:rPr>
              <a:t>Направление подготовки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0" name="Таблица 12"/>
          <p:cNvGraphicFramePr/>
          <p:nvPr/>
        </p:nvGraphicFramePr>
        <p:xfrm>
          <a:off x="6341400" y="4582080"/>
          <a:ext cx="5796360" cy="1163880"/>
        </p:xfrm>
        <a:graphic>
          <a:graphicData uri="http://schemas.openxmlformats.org/drawingml/2006/table">
            <a:tbl>
              <a:tblPr/>
              <a:tblGrid>
                <a:gridCol w="3063600"/>
                <a:gridCol w="2732400"/>
              </a:tblGrid>
              <a:tr h="370800">
                <a:tc>
                  <a:txBody>
                    <a:bodyPr lIns="121680" rIns="12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1" lang="ru-RU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Студент: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21680" rIns="121680" anchor="t">
                      <a:noAutofit/>
                    </a:bodyPr>
                    <a:p>
                      <a:endParaRPr b="0" lang="ru-RU" sz="16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121680" marR="1216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2280">
                <a:tc>
                  <a:txBody>
                    <a:bodyPr lIns="121680" rIns="12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1" lang="ru-RU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Группа: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21680" rIns="121680" anchor="t">
                      <a:noAutofit/>
                    </a:bodyPr>
                    <a:p>
                      <a:endParaRPr b="0" lang="ru-RU" sz="16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121680" marR="1216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0800">
                <a:tc>
                  <a:txBody>
                    <a:bodyPr lIns="121680" rIns="12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1" lang="ru-RU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Научный руководитель: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21680" rIns="121680" anchor="t">
                      <a:noAutofit/>
                    </a:bodyPr>
                    <a:p>
                      <a:endParaRPr b="0" lang="ru-RU" sz="16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121680" marR="1216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1" name="TextBox 13"/>
          <p:cNvSpPr/>
          <p:nvPr/>
        </p:nvSpPr>
        <p:spPr>
          <a:xfrm>
            <a:off x="3689280" y="2883240"/>
            <a:ext cx="45032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Arial Black"/>
              </a:rPr>
              <a:t>Научно-исследовательская работа на тему: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14"/>
          <p:cNvSpPr/>
          <p:nvPr/>
        </p:nvSpPr>
        <p:spPr>
          <a:xfrm>
            <a:off x="5195880" y="6232680"/>
            <a:ext cx="1490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Москва, 20</a:t>
            </a: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21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Прямоугольник 1"/>
          <p:cNvSpPr/>
          <p:nvPr/>
        </p:nvSpPr>
        <p:spPr>
          <a:xfrm>
            <a:off x="595440" y="-2520"/>
            <a:ext cx="115344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ru-RU" sz="1600" spc="-1" strike="noStrike">
                <a:solidFill>
                  <a:schemeClr val="dk1"/>
                </a:solidFill>
                <a:latin typeface="Arial"/>
              </a:rPr>
              <a:t>МИНИСТЕРСТВО НАУКИ И ВЫСШЕГО ОБРАЗОВАНИЯ РОССИЙСКОЙ  ФЕДЕРАЦИИ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ru-RU" sz="1600" spc="-1" strike="noStrike">
                <a:solidFill>
                  <a:schemeClr val="dk1"/>
                </a:solidFill>
                <a:latin typeface="Arial"/>
              </a:rPr>
              <a:t>Федеральное государственное автономное образовательное учреждение высшего образования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ru-RU" sz="16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1" lang="ru-RU" sz="1600" spc="-1" strike="noStrike">
                <a:solidFill>
                  <a:schemeClr val="dk1"/>
                </a:solidFill>
                <a:latin typeface="Arial"/>
              </a:rPr>
              <a:t>«Национальный исследовательский ядерный университет «МИФИ»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Заголовок 6"/>
          <p:cNvSpPr/>
          <p:nvPr/>
        </p:nvSpPr>
        <p:spPr>
          <a:xfrm>
            <a:off x="9344880" y="4570920"/>
            <a:ext cx="2365920" cy="3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0" lang="ru-RU" sz="1600" spc="-1" strike="noStrike">
                <a:solidFill>
                  <a:srgbClr val="92d050"/>
                </a:solidFill>
                <a:latin typeface="Arial"/>
              </a:rPr>
              <a:t>Петров П.П.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Заголовок 6"/>
          <p:cNvSpPr/>
          <p:nvPr/>
        </p:nvSpPr>
        <p:spPr>
          <a:xfrm>
            <a:off x="9344880" y="4925520"/>
            <a:ext cx="2365920" cy="3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0" lang="ru-RU" sz="1600" spc="-1" strike="noStrike">
                <a:solidFill>
                  <a:srgbClr val="92d050"/>
                </a:solidFill>
                <a:latin typeface="Arial"/>
              </a:rPr>
              <a:t>Петров П.П.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Заголовок 6"/>
          <p:cNvSpPr/>
          <p:nvPr/>
        </p:nvSpPr>
        <p:spPr>
          <a:xfrm>
            <a:off x="9344880" y="5298120"/>
            <a:ext cx="2365920" cy="66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0" lang="ru-RU" sz="1600" spc="-1" strike="noStrike">
                <a:solidFill>
                  <a:srgbClr val="92d050"/>
                </a:solidFill>
                <a:latin typeface="Arial"/>
              </a:rPr>
              <a:t>к.т.н. доцент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ru-RU" sz="1600" spc="-1" strike="noStrike">
                <a:solidFill>
                  <a:srgbClr val="92d050"/>
                </a:solidFill>
                <a:latin typeface="Arial"/>
              </a:rPr>
              <a:t>Петров П.П.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Заголовок 6"/>
          <p:cNvSpPr/>
          <p:nvPr/>
        </p:nvSpPr>
        <p:spPr>
          <a:xfrm>
            <a:off x="6329520" y="2262600"/>
            <a:ext cx="4257000" cy="3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1" lang="ru-RU" sz="1100" spc="-1" strike="noStrike">
                <a:solidFill>
                  <a:srgbClr val="92d050"/>
                </a:solidFill>
                <a:latin typeface="Arial"/>
              </a:rPr>
              <a:t>09.03.04 ПРОГРАММНАЯ ИНЖЕНЕРИЯ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Прямоугольник 21"/>
          <p:cNvSpPr/>
          <p:nvPr/>
        </p:nvSpPr>
        <p:spPr>
          <a:xfrm rot="5400000">
            <a:off x="-3276720" y="3268440"/>
            <a:ext cx="690624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19"/>
          <p:cNvSpPr/>
          <p:nvPr/>
        </p:nvSpPr>
        <p:spPr>
          <a:xfrm>
            <a:off x="-2880" y="8280"/>
            <a:ext cx="356760" cy="79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Прямоугольник 6"/>
          <p:cNvSpPr/>
          <p:nvPr/>
        </p:nvSpPr>
        <p:spPr>
          <a:xfrm>
            <a:off x="0" y="6556680"/>
            <a:ext cx="1219176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7"/>
          <p:cNvSpPr/>
          <p:nvPr/>
        </p:nvSpPr>
        <p:spPr>
          <a:xfrm>
            <a:off x="-8640" y="6562440"/>
            <a:ext cx="1219536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001010101010101011111111101000010010101011110101010101010110101010101010011001101010101010000010010101001000100010010111111101011110101111101011111111010101010110101010100101010101011011010111111011010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000010010100100100100001010000101111111111110101010100100101111110010001000101011111000000100101101010101010101000011110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11"/>
          <p:cNvSpPr/>
          <p:nvPr/>
        </p:nvSpPr>
        <p:spPr>
          <a:xfrm>
            <a:off x="10315080" y="6541920"/>
            <a:ext cx="996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www.kaf22.ru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12"/>
          <p:cNvSpPr/>
          <p:nvPr/>
        </p:nvSpPr>
        <p:spPr>
          <a:xfrm>
            <a:off x="9489600" y="6355440"/>
            <a:ext cx="1827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Кафедра №22 «Кибернетика»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Овал 13"/>
          <p:cNvSpPr/>
          <p:nvPr/>
        </p:nvSpPr>
        <p:spPr>
          <a:xfrm>
            <a:off x="162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Рисунок 14" descr=""/>
          <p:cNvPicPr/>
          <p:nvPr/>
        </p:nvPicPr>
        <p:blipFill>
          <a:blip r:embed="rId2"/>
          <a:stretch/>
        </p:blipFill>
        <p:spPr>
          <a:xfrm>
            <a:off x="28800" y="6021360"/>
            <a:ext cx="874440" cy="872640"/>
          </a:xfrm>
          <a:prstGeom prst="rect">
            <a:avLst/>
          </a:prstGeom>
          <a:ln w="0">
            <a:noFill/>
          </a:ln>
        </p:spPr>
      </p:pic>
      <p:sp>
        <p:nvSpPr>
          <p:cNvPr id="196" name="TextBox 15"/>
          <p:cNvSpPr/>
          <p:nvPr/>
        </p:nvSpPr>
        <p:spPr>
          <a:xfrm>
            <a:off x="873000" y="6576120"/>
            <a:ext cx="1048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www.mephi.ru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Box 16"/>
          <p:cNvSpPr/>
          <p:nvPr/>
        </p:nvSpPr>
        <p:spPr>
          <a:xfrm>
            <a:off x="866880" y="6374520"/>
            <a:ext cx="973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НИЯУ МИФИ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98" name="Прямая соединительная линия 17"/>
          <p:cNvCxnSpPr/>
          <p:nvPr/>
        </p:nvCxnSpPr>
        <p:spPr>
          <a:xfrm>
            <a:off x="838080" y="792360"/>
            <a:ext cx="10515960" cy="360"/>
          </a:xfrm>
          <a:prstGeom prst="straightConnector1">
            <a:avLst/>
          </a:prstGeom>
          <a:ln w="22225">
            <a:solidFill>
              <a:srgbClr val="537599"/>
            </a:solidFill>
          </a:ln>
        </p:spPr>
      </p:cxnSp>
      <p:sp>
        <p:nvSpPr>
          <p:cNvPr id="199" name="Овал 18"/>
          <p:cNvSpPr/>
          <p:nvPr/>
        </p:nvSpPr>
        <p:spPr>
          <a:xfrm>
            <a:off x="112716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0" name="Рисунок 10" descr=""/>
          <p:cNvPicPr/>
          <p:nvPr/>
        </p:nvPicPr>
        <p:blipFill>
          <a:blip r:embed="rId3"/>
          <a:stretch/>
        </p:blipFill>
        <p:spPr>
          <a:xfrm>
            <a:off x="11244960" y="6021360"/>
            <a:ext cx="926280" cy="791640"/>
          </a:xfrm>
          <a:prstGeom prst="rect">
            <a:avLst/>
          </a:prstGeom>
          <a:ln w="0">
            <a:noFill/>
          </a:ln>
        </p:spPr>
      </p:pic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1499400" y="3435840"/>
            <a:ext cx="9143640" cy="105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2400" spc="-1" strike="noStrike">
                <a:solidFill>
                  <a:srgbClr val="92d050"/>
                </a:solidFill>
                <a:latin typeface="Arial"/>
              </a:rPr>
              <a:t>Название </a:t>
            </a:r>
            <a:br>
              <a:rPr sz="2400"/>
            </a:br>
            <a:r>
              <a:rPr b="0" lang="ru-RU" sz="2400" spc="-1" strike="noStrike">
                <a:solidFill>
                  <a:srgbClr val="92d050"/>
                </a:solidFill>
                <a:latin typeface="Arial"/>
              </a:rPr>
              <a:t>выпускной квалификационной работы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2" name="Заголовок 1"/>
          <p:cNvSpPr/>
          <p:nvPr/>
        </p:nvSpPr>
        <p:spPr>
          <a:xfrm>
            <a:off x="239400" y="1132560"/>
            <a:ext cx="11952360" cy="147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 fontScale="96604" lnSpcReduction="10000"/>
          </a:bodyPr>
          <a:p>
            <a:pPr algn="ctr" defTabSz="914400"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ru-RU" sz="1400" spc="-1" strike="noStrike" cap="all">
                <a:solidFill>
                  <a:schemeClr val="dk1"/>
                </a:solidFill>
                <a:latin typeface="Arial"/>
              </a:rPr>
              <a:t>Институт интеллектуальных кибернетических систем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ru-RU" sz="1300" spc="-1" strike="noStrike" cap="all">
                <a:solidFill>
                  <a:schemeClr val="dk1"/>
                </a:solidFill>
                <a:latin typeface="Arial"/>
              </a:rPr>
              <a:t>Кафедра кибернетики (№ 22)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en-US" sz="1200" spc="-1" strike="noStrike" cap="all">
                <a:solidFill>
                  <a:schemeClr val="dk1"/>
                </a:solidFill>
                <a:latin typeface="Arial"/>
              </a:rPr>
              <a:t>	</a:t>
            </a:r>
            <a:r>
              <a:rPr b="1" lang="en-US" sz="1200" spc="-1" strike="noStrike" cap="all">
                <a:solidFill>
                  <a:schemeClr val="dk1"/>
                </a:solidFill>
                <a:latin typeface="Arial"/>
              </a:rPr>
              <a:t>	</a:t>
            </a:r>
            <a:r>
              <a:rPr b="1" lang="en-US" sz="1200" spc="-1" strike="noStrike" cap="all">
                <a:solidFill>
                  <a:schemeClr val="dk1"/>
                </a:solidFill>
                <a:latin typeface="Arial"/>
              </a:rPr>
              <a:t>	</a:t>
            </a:r>
            <a:r>
              <a:rPr b="1" lang="en-US" sz="1200" spc="-1" strike="noStrike" cap="all">
                <a:solidFill>
                  <a:schemeClr val="dk1"/>
                </a:solidFill>
                <a:latin typeface="Arial"/>
              </a:rPr>
              <a:t>	</a:t>
            </a:r>
            <a:r>
              <a:rPr b="1" lang="ru-RU" sz="1200" spc="-1" strike="noStrike" cap="all">
                <a:solidFill>
                  <a:schemeClr val="dk1"/>
                </a:solidFill>
                <a:latin typeface="Arial"/>
              </a:rPr>
              <a:t>Направление подготовки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3" name="Таблица 12"/>
          <p:cNvGraphicFramePr/>
          <p:nvPr/>
        </p:nvGraphicFramePr>
        <p:xfrm>
          <a:off x="6341400" y="4582080"/>
          <a:ext cx="5796360" cy="1163880"/>
        </p:xfrm>
        <a:graphic>
          <a:graphicData uri="http://schemas.openxmlformats.org/drawingml/2006/table">
            <a:tbl>
              <a:tblPr/>
              <a:tblGrid>
                <a:gridCol w="3063600"/>
                <a:gridCol w="2732400"/>
              </a:tblGrid>
              <a:tr h="370800">
                <a:tc>
                  <a:txBody>
                    <a:bodyPr lIns="121680" rIns="12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1" lang="ru-RU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Студент: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21680" rIns="121680" anchor="t">
                      <a:noAutofit/>
                    </a:bodyPr>
                    <a:p>
                      <a:endParaRPr b="0" lang="ru-RU" sz="16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121680" marR="1216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2280">
                <a:tc>
                  <a:txBody>
                    <a:bodyPr lIns="121680" rIns="12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1" lang="ru-RU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Группа: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21680" rIns="121680" anchor="t">
                      <a:noAutofit/>
                    </a:bodyPr>
                    <a:p>
                      <a:endParaRPr b="0" lang="ru-RU" sz="16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121680" marR="1216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0800">
                <a:tc>
                  <a:txBody>
                    <a:bodyPr lIns="121680" rIns="121680"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b="1" lang="ru-RU" sz="1600" spc="-1" strike="noStrike">
                          <a:solidFill>
                            <a:schemeClr val="dk1"/>
                          </a:solidFill>
                          <a:latin typeface="Arial"/>
                        </a:rPr>
                        <a:t>Научный руководитель:</a:t>
                      </a:r>
                      <a:endParaRPr b="0" lang="ru-RU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121680" marR="1216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121680" rIns="121680" anchor="t">
                      <a:noAutofit/>
                    </a:bodyPr>
                    <a:p>
                      <a:endParaRPr b="0" lang="ru-RU" sz="1600" spc="-1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t" marL="121680" marR="1216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4" name="TextBox 13"/>
          <p:cNvSpPr/>
          <p:nvPr/>
        </p:nvSpPr>
        <p:spPr>
          <a:xfrm>
            <a:off x="3504600" y="2883240"/>
            <a:ext cx="4871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Arial Black"/>
              </a:rPr>
              <a:t>Выпускная квалификационная работа на тему: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14"/>
          <p:cNvSpPr/>
          <p:nvPr/>
        </p:nvSpPr>
        <p:spPr>
          <a:xfrm>
            <a:off x="5195880" y="6232680"/>
            <a:ext cx="1490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Москва, 20</a:t>
            </a: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21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Прямоугольник 1"/>
          <p:cNvSpPr/>
          <p:nvPr/>
        </p:nvSpPr>
        <p:spPr>
          <a:xfrm>
            <a:off x="595440" y="-2520"/>
            <a:ext cx="115344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ru-RU" sz="1600" spc="-1" strike="noStrike">
                <a:solidFill>
                  <a:schemeClr val="dk1"/>
                </a:solidFill>
                <a:latin typeface="Arial"/>
              </a:rPr>
              <a:t>МИНИСТЕРСТВО НАУКИ И ВЫСШЕГО ОБРАЗОВАНИЯ РОССИЙСКОЙ  ФЕДЕРАЦИИ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ru-RU" sz="1600" spc="-1" strike="noStrike">
                <a:solidFill>
                  <a:schemeClr val="dk1"/>
                </a:solidFill>
                <a:latin typeface="Arial"/>
              </a:rPr>
              <a:t>Федеральное государственное автономное образовательное учреждение высшего образования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ru-RU" sz="16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1" lang="ru-RU" sz="1600" spc="-1" strike="noStrike">
                <a:solidFill>
                  <a:schemeClr val="dk1"/>
                </a:solidFill>
                <a:latin typeface="Arial"/>
              </a:rPr>
              <a:t>«Национальный исследовательский ядерный университет «МИФИ»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Заголовок 6"/>
          <p:cNvSpPr/>
          <p:nvPr/>
        </p:nvSpPr>
        <p:spPr>
          <a:xfrm>
            <a:off x="9344880" y="4570920"/>
            <a:ext cx="2365920" cy="3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0" lang="ru-RU" sz="1600" spc="-1" strike="noStrike">
                <a:solidFill>
                  <a:srgbClr val="92d050"/>
                </a:solidFill>
                <a:latin typeface="Arial"/>
              </a:rPr>
              <a:t>Петров П.П.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Заголовок 6"/>
          <p:cNvSpPr/>
          <p:nvPr/>
        </p:nvSpPr>
        <p:spPr>
          <a:xfrm>
            <a:off x="9344880" y="4925520"/>
            <a:ext cx="2365920" cy="3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0" lang="ru-RU" sz="1600" spc="-1" strike="noStrike">
                <a:solidFill>
                  <a:srgbClr val="92d050"/>
                </a:solidFill>
                <a:latin typeface="Arial"/>
              </a:rPr>
              <a:t>Петров П.П.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Заголовок 6"/>
          <p:cNvSpPr/>
          <p:nvPr/>
        </p:nvSpPr>
        <p:spPr>
          <a:xfrm>
            <a:off x="9344880" y="5298120"/>
            <a:ext cx="2365920" cy="66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0" lang="ru-RU" sz="1600" spc="-1" strike="noStrike">
                <a:solidFill>
                  <a:srgbClr val="92d050"/>
                </a:solidFill>
                <a:latin typeface="Arial"/>
              </a:rPr>
              <a:t>к.т.н. доцент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0" lang="ru-RU" sz="1600" spc="-1" strike="noStrike">
                <a:solidFill>
                  <a:srgbClr val="92d050"/>
                </a:solidFill>
                <a:latin typeface="Arial"/>
              </a:rPr>
              <a:t>Петров П.П.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Заголовок 6"/>
          <p:cNvSpPr/>
          <p:nvPr/>
        </p:nvSpPr>
        <p:spPr>
          <a:xfrm>
            <a:off x="6329520" y="2262600"/>
            <a:ext cx="4257000" cy="35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1" lang="ru-RU" sz="1100" spc="-1" strike="noStrike">
                <a:solidFill>
                  <a:srgbClr val="92d050"/>
                </a:solidFill>
                <a:latin typeface="Arial"/>
              </a:rPr>
              <a:t>09.03.04 ПРОГРАММНАЯ ИНЖЕНЕРИЯ</a:t>
            </a:r>
            <a:endParaRPr b="0" lang="ru-RU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Прямоугольник 21"/>
          <p:cNvSpPr/>
          <p:nvPr/>
        </p:nvSpPr>
        <p:spPr>
          <a:xfrm rot="5400000">
            <a:off x="-3276720" y="3268440"/>
            <a:ext cx="690624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Box 19"/>
          <p:cNvSpPr/>
          <p:nvPr/>
        </p:nvSpPr>
        <p:spPr>
          <a:xfrm>
            <a:off x="-2880" y="8280"/>
            <a:ext cx="356760" cy="79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Прямоугольник 6"/>
          <p:cNvSpPr/>
          <p:nvPr/>
        </p:nvSpPr>
        <p:spPr>
          <a:xfrm>
            <a:off x="0" y="6556680"/>
            <a:ext cx="1219176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7"/>
          <p:cNvSpPr/>
          <p:nvPr/>
        </p:nvSpPr>
        <p:spPr>
          <a:xfrm>
            <a:off x="-8640" y="6562440"/>
            <a:ext cx="1219536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001010101010101011111111101000010010101011110101010101010110101010101010011001101010101010000010010101001000100010010111111101011110101111101011111111010101010110101010100101010101011011010111111011010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000010010100100100100001010000101111111111110101010100100101111110010001000101011111000000100101101010101010101000011110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Box 11"/>
          <p:cNvSpPr/>
          <p:nvPr/>
        </p:nvSpPr>
        <p:spPr>
          <a:xfrm>
            <a:off x="10315080" y="6541920"/>
            <a:ext cx="996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www.kaf22.ru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12"/>
          <p:cNvSpPr/>
          <p:nvPr/>
        </p:nvSpPr>
        <p:spPr>
          <a:xfrm>
            <a:off x="9489600" y="6355440"/>
            <a:ext cx="1827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Кафедра №22 «Кибернетика»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Овал 13"/>
          <p:cNvSpPr/>
          <p:nvPr/>
        </p:nvSpPr>
        <p:spPr>
          <a:xfrm>
            <a:off x="162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8" name="Рисунок 14" descr=""/>
          <p:cNvPicPr/>
          <p:nvPr/>
        </p:nvPicPr>
        <p:blipFill>
          <a:blip r:embed="rId2"/>
          <a:stretch/>
        </p:blipFill>
        <p:spPr>
          <a:xfrm>
            <a:off x="28800" y="6021360"/>
            <a:ext cx="874440" cy="872640"/>
          </a:xfrm>
          <a:prstGeom prst="rect">
            <a:avLst/>
          </a:prstGeom>
          <a:ln w="0">
            <a:noFill/>
          </a:ln>
        </p:spPr>
      </p:pic>
      <p:sp>
        <p:nvSpPr>
          <p:cNvPr id="219" name="TextBox 15"/>
          <p:cNvSpPr/>
          <p:nvPr/>
        </p:nvSpPr>
        <p:spPr>
          <a:xfrm>
            <a:off x="873000" y="6576120"/>
            <a:ext cx="1048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www.mephi.ru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16"/>
          <p:cNvSpPr/>
          <p:nvPr/>
        </p:nvSpPr>
        <p:spPr>
          <a:xfrm>
            <a:off x="866880" y="6374520"/>
            <a:ext cx="973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НИЯУ МИФИ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21" name="Прямая соединительная линия 17"/>
          <p:cNvCxnSpPr/>
          <p:nvPr/>
        </p:nvCxnSpPr>
        <p:spPr>
          <a:xfrm>
            <a:off x="838080" y="792360"/>
            <a:ext cx="10515960" cy="360"/>
          </a:xfrm>
          <a:prstGeom prst="straightConnector1">
            <a:avLst/>
          </a:prstGeom>
          <a:ln w="22225">
            <a:solidFill>
              <a:srgbClr val="537599"/>
            </a:solidFill>
          </a:ln>
        </p:spPr>
      </p:cxnSp>
      <p:sp>
        <p:nvSpPr>
          <p:cNvPr id="222" name="Овал 18"/>
          <p:cNvSpPr/>
          <p:nvPr/>
        </p:nvSpPr>
        <p:spPr>
          <a:xfrm>
            <a:off x="112716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3" name="Рисунок 10" descr=""/>
          <p:cNvPicPr/>
          <p:nvPr/>
        </p:nvPicPr>
        <p:blipFill>
          <a:blip r:embed="rId3"/>
          <a:stretch/>
        </p:blipFill>
        <p:spPr>
          <a:xfrm>
            <a:off x="11244960" y="6021360"/>
            <a:ext cx="926280" cy="791640"/>
          </a:xfrm>
          <a:prstGeom prst="rect">
            <a:avLst/>
          </a:prstGeom>
          <a:ln w="0">
            <a:noFill/>
          </a:ln>
        </p:spPr>
      </p:pic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dt" idx="20"/>
          </p:nvPr>
        </p:nvSpPr>
        <p:spPr>
          <a:xfrm>
            <a:off x="2352240" y="6452640"/>
            <a:ext cx="1305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ftr" idx="21"/>
          </p:nvPr>
        </p:nvSpPr>
        <p:spPr>
          <a:xfrm>
            <a:off x="6856560" y="6462000"/>
            <a:ext cx="175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 type="sldNum" idx="22"/>
          </p:nvPr>
        </p:nvSpPr>
        <p:spPr>
          <a:xfrm>
            <a:off x="5785560" y="6566040"/>
            <a:ext cx="606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1D6955CF-C70A-4432-A172-B9E052FA80E4}" type="slidenum">
              <a: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rPr>
              <a:t>&lt;number&gt;</a:t>
            </a:fld>
            <a:endParaRPr b="0" lang="ru-RU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Прямоугольник 21"/>
          <p:cNvSpPr/>
          <p:nvPr/>
        </p:nvSpPr>
        <p:spPr>
          <a:xfrm rot="5400000">
            <a:off x="-3276720" y="3268440"/>
            <a:ext cx="690624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Box 19"/>
          <p:cNvSpPr/>
          <p:nvPr/>
        </p:nvSpPr>
        <p:spPr>
          <a:xfrm>
            <a:off x="-2880" y="8280"/>
            <a:ext cx="356760" cy="79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Прямоугольник 6"/>
          <p:cNvSpPr/>
          <p:nvPr/>
        </p:nvSpPr>
        <p:spPr>
          <a:xfrm>
            <a:off x="0" y="6556680"/>
            <a:ext cx="1219176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Box 7"/>
          <p:cNvSpPr/>
          <p:nvPr/>
        </p:nvSpPr>
        <p:spPr>
          <a:xfrm>
            <a:off x="-8640" y="6562440"/>
            <a:ext cx="1219536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001010101010101011111111101000010010101011110101010101010110101010101010011001101010101010000010010101001000100010010111111101011110101111101011111111010101010110101010100101010101011011010111111011010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000010010100100100100001010000101111111111110101010100100101111110010001000101011111000000100101101010101010101000011110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Box 11"/>
          <p:cNvSpPr/>
          <p:nvPr/>
        </p:nvSpPr>
        <p:spPr>
          <a:xfrm>
            <a:off x="10315080" y="6541920"/>
            <a:ext cx="996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www.kaf22.ru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Box 12"/>
          <p:cNvSpPr/>
          <p:nvPr/>
        </p:nvSpPr>
        <p:spPr>
          <a:xfrm>
            <a:off x="9489600" y="6355440"/>
            <a:ext cx="1827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Кафедра №22 «Кибернетика»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Овал 13"/>
          <p:cNvSpPr/>
          <p:nvPr/>
        </p:nvSpPr>
        <p:spPr>
          <a:xfrm>
            <a:off x="162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7" name="Рисунок 14" descr=""/>
          <p:cNvPicPr/>
          <p:nvPr/>
        </p:nvPicPr>
        <p:blipFill>
          <a:blip r:embed="rId2"/>
          <a:stretch/>
        </p:blipFill>
        <p:spPr>
          <a:xfrm>
            <a:off x="28800" y="6021360"/>
            <a:ext cx="874440" cy="872640"/>
          </a:xfrm>
          <a:prstGeom prst="rect">
            <a:avLst/>
          </a:prstGeom>
          <a:ln w="0">
            <a:noFill/>
          </a:ln>
        </p:spPr>
      </p:pic>
      <p:sp>
        <p:nvSpPr>
          <p:cNvPr id="238" name="TextBox 15"/>
          <p:cNvSpPr/>
          <p:nvPr/>
        </p:nvSpPr>
        <p:spPr>
          <a:xfrm>
            <a:off x="873000" y="6576120"/>
            <a:ext cx="1048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www.mephi.ru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16"/>
          <p:cNvSpPr/>
          <p:nvPr/>
        </p:nvSpPr>
        <p:spPr>
          <a:xfrm>
            <a:off x="866880" y="6374520"/>
            <a:ext cx="973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НИЯУ МИФИ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40" name="Прямая соединительная линия 17"/>
          <p:cNvCxnSpPr/>
          <p:nvPr/>
        </p:nvCxnSpPr>
        <p:spPr>
          <a:xfrm>
            <a:off x="838080" y="792360"/>
            <a:ext cx="10515960" cy="360"/>
          </a:xfrm>
          <a:prstGeom prst="straightConnector1">
            <a:avLst/>
          </a:prstGeom>
          <a:ln w="22225">
            <a:solidFill>
              <a:srgbClr val="537599"/>
            </a:solidFill>
          </a:ln>
        </p:spPr>
      </p:cxnSp>
      <p:sp>
        <p:nvSpPr>
          <p:cNvPr id="241" name="Овал 18"/>
          <p:cNvSpPr/>
          <p:nvPr/>
        </p:nvSpPr>
        <p:spPr>
          <a:xfrm>
            <a:off x="112716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2" name="Рисунок 10" descr=""/>
          <p:cNvPicPr/>
          <p:nvPr/>
        </p:nvPicPr>
        <p:blipFill>
          <a:blip r:embed="rId3"/>
          <a:stretch/>
        </p:blipFill>
        <p:spPr>
          <a:xfrm>
            <a:off x="11244960" y="6021360"/>
            <a:ext cx="926280" cy="791640"/>
          </a:xfrm>
          <a:prstGeom prst="rect">
            <a:avLst/>
          </a:prstGeom>
          <a:ln w="0">
            <a:noFill/>
          </a:ln>
        </p:spPr>
      </p:pic>
      <p:sp>
        <p:nvSpPr>
          <p:cNvPr id="243" name="Ромб 6"/>
          <p:cNvSpPr/>
          <p:nvPr/>
        </p:nvSpPr>
        <p:spPr>
          <a:xfrm>
            <a:off x="5746680" y="6556680"/>
            <a:ext cx="698400" cy="364680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838080" y="25200"/>
            <a:ext cx="10515240" cy="7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838080" y="870840"/>
            <a:ext cx="10515240" cy="530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dt" idx="23"/>
          </p:nvPr>
        </p:nvSpPr>
        <p:spPr>
          <a:xfrm>
            <a:off x="2352240" y="6452640"/>
            <a:ext cx="1305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 type="ftr" idx="24"/>
          </p:nvPr>
        </p:nvSpPr>
        <p:spPr>
          <a:xfrm>
            <a:off x="6856560" y="6462000"/>
            <a:ext cx="175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PlaceHolder 5"/>
          <p:cNvSpPr>
            <a:spLocks noGrp="1"/>
          </p:cNvSpPr>
          <p:nvPr>
            <p:ph type="sldNum" idx="25"/>
          </p:nvPr>
        </p:nvSpPr>
        <p:spPr>
          <a:xfrm>
            <a:off x="5746680" y="6556680"/>
            <a:ext cx="69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46E10809-BE40-46D9-BF1B-88C50C50C263}" type="slidenum">
              <a: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rPr>
              <a:t>&lt;number&gt;</a:t>
            </a:fld>
            <a:endParaRPr b="0" lang="ru-RU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Прямоугольник 21"/>
          <p:cNvSpPr/>
          <p:nvPr/>
        </p:nvSpPr>
        <p:spPr>
          <a:xfrm rot="5400000">
            <a:off x="-3276720" y="3268440"/>
            <a:ext cx="690624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19"/>
          <p:cNvSpPr/>
          <p:nvPr/>
        </p:nvSpPr>
        <p:spPr>
          <a:xfrm>
            <a:off x="-2880" y="8280"/>
            <a:ext cx="356760" cy="79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Прямоугольник 6"/>
          <p:cNvSpPr/>
          <p:nvPr/>
        </p:nvSpPr>
        <p:spPr>
          <a:xfrm>
            <a:off x="0" y="6556680"/>
            <a:ext cx="1219176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Box 7"/>
          <p:cNvSpPr/>
          <p:nvPr/>
        </p:nvSpPr>
        <p:spPr>
          <a:xfrm>
            <a:off x="-8640" y="6562440"/>
            <a:ext cx="1219536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001010101010101011111111101000010010101011110101010101010110101010101010011001101010101010000010010101001000100010010111111101011110101111101011111111010101010110101010100101010101011011010111111011010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000010010100100100100001010000101111111111110101010100100101111110010001000101011111000000100101101010101010101000011110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11"/>
          <p:cNvSpPr/>
          <p:nvPr/>
        </p:nvSpPr>
        <p:spPr>
          <a:xfrm>
            <a:off x="10315080" y="6541920"/>
            <a:ext cx="996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www.kaf22.ru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Box 12"/>
          <p:cNvSpPr/>
          <p:nvPr/>
        </p:nvSpPr>
        <p:spPr>
          <a:xfrm>
            <a:off x="9489600" y="6355440"/>
            <a:ext cx="1827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Кафедра №22 «Кибернетика»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Овал 13"/>
          <p:cNvSpPr/>
          <p:nvPr/>
        </p:nvSpPr>
        <p:spPr>
          <a:xfrm>
            <a:off x="162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8" name="Рисунок 14" descr=""/>
          <p:cNvPicPr/>
          <p:nvPr/>
        </p:nvPicPr>
        <p:blipFill>
          <a:blip r:embed="rId2"/>
          <a:stretch/>
        </p:blipFill>
        <p:spPr>
          <a:xfrm>
            <a:off x="28800" y="6021360"/>
            <a:ext cx="874440" cy="872640"/>
          </a:xfrm>
          <a:prstGeom prst="rect">
            <a:avLst/>
          </a:prstGeom>
          <a:ln w="0">
            <a:noFill/>
          </a:ln>
        </p:spPr>
      </p:pic>
      <p:sp>
        <p:nvSpPr>
          <p:cNvPr id="259" name="TextBox 15"/>
          <p:cNvSpPr/>
          <p:nvPr/>
        </p:nvSpPr>
        <p:spPr>
          <a:xfrm>
            <a:off x="873000" y="6576120"/>
            <a:ext cx="1048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www.mephi.ru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Box 16"/>
          <p:cNvSpPr/>
          <p:nvPr/>
        </p:nvSpPr>
        <p:spPr>
          <a:xfrm>
            <a:off x="866880" y="6374520"/>
            <a:ext cx="973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НИЯУ МИФИ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61" name="Прямая соединительная линия 17"/>
          <p:cNvCxnSpPr/>
          <p:nvPr/>
        </p:nvCxnSpPr>
        <p:spPr>
          <a:xfrm>
            <a:off x="838080" y="792360"/>
            <a:ext cx="10515960" cy="360"/>
          </a:xfrm>
          <a:prstGeom prst="straightConnector1">
            <a:avLst/>
          </a:prstGeom>
          <a:ln w="22225">
            <a:solidFill>
              <a:srgbClr val="537599"/>
            </a:solidFill>
          </a:ln>
        </p:spPr>
      </p:cxnSp>
      <p:sp>
        <p:nvSpPr>
          <p:cNvPr id="262" name="Овал 18"/>
          <p:cNvSpPr/>
          <p:nvPr/>
        </p:nvSpPr>
        <p:spPr>
          <a:xfrm>
            <a:off x="112716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3" name="Рисунок 10" descr=""/>
          <p:cNvPicPr/>
          <p:nvPr/>
        </p:nvPicPr>
        <p:blipFill>
          <a:blip r:embed="rId3"/>
          <a:stretch/>
        </p:blipFill>
        <p:spPr>
          <a:xfrm>
            <a:off x="11244960" y="6021360"/>
            <a:ext cx="926280" cy="791640"/>
          </a:xfrm>
          <a:prstGeom prst="rect">
            <a:avLst/>
          </a:prstGeom>
          <a:ln w="0">
            <a:noFill/>
          </a:ln>
        </p:spPr>
      </p:pic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Образец текста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dt" idx="26"/>
          </p:nvPr>
        </p:nvSpPr>
        <p:spPr>
          <a:xfrm>
            <a:off x="2352240" y="6452640"/>
            <a:ext cx="1305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 type="ftr" idx="27"/>
          </p:nvPr>
        </p:nvSpPr>
        <p:spPr>
          <a:xfrm>
            <a:off x="6856560" y="6462000"/>
            <a:ext cx="175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PlaceHolder 5"/>
          <p:cNvSpPr>
            <a:spLocks noGrp="1"/>
          </p:cNvSpPr>
          <p:nvPr>
            <p:ph type="sldNum" idx="28"/>
          </p:nvPr>
        </p:nvSpPr>
        <p:spPr>
          <a:xfrm>
            <a:off x="5785560" y="6566040"/>
            <a:ext cx="606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E45866F9-FDAE-41F8-8746-F0FEF717238C}" type="slidenum">
              <a: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rPr>
              <a:t>&lt;number&gt;</a:t>
            </a:fld>
            <a:endParaRPr b="0" lang="ru-RU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Прямоугольник 21"/>
          <p:cNvSpPr/>
          <p:nvPr/>
        </p:nvSpPr>
        <p:spPr>
          <a:xfrm rot="5400000">
            <a:off x="-3276720" y="3268440"/>
            <a:ext cx="690624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Box 19"/>
          <p:cNvSpPr/>
          <p:nvPr/>
        </p:nvSpPr>
        <p:spPr>
          <a:xfrm>
            <a:off x="-2880" y="8280"/>
            <a:ext cx="356760" cy="79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Прямоугольник 6"/>
          <p:cNvSpPr/>
          <p:nvPr/>
        </p:nvSpPr>
        <p:spPr>
          <a:xfrm>
            <a:off x="0" y="6556680"/>
            <a:ext cx="1219176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Box 7"/>
          <p:cNvSpPr/>
          <p:nvPr/>
        </p:nvSpPr>
        <p:spPr>
          <a:xfrm>
            <a:off x="-8640" y="6562440"/>
            <a:ext cx="1219536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001010101010101011111111101000010010101011110101010101010110101010101010011001101010101010000010010101001000100010010111111101011110101111101011111111010101010110101010100101010101011011010111111011010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000010010100100100100001010000101111111111110101010100100101111110010001000101011111000000100101101010101010101000011110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Box 11"/>
          <p:cNvSpPr/>
          <p:nvPr/>
        </p:nvSpPr>
        <p:spPr>
          <a:xfrm>
            <a:off x="10315080" y="6541920"/>
            <a:ext cx="996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www.kaf22.ru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Box 12"/>
          <p:cNvSpPr/>
          <p:nvPr/>
        </p:nvSpPr>
        <p:spPr>
          <a:xfrm>
            <a:off x="9489600" y="6355440"/>
            <a:ext cx="1827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Кафедра №22 «Кибернетика»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Овал 13"/>
          <p:cNvSpPr/>
          <p:nvPr/>
        </p:nvSpPr>
        <p:spPr>
          <a:xfrm>
            <a:off x="162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6" name="Рисунок 14" descr=""/>
          <p:cNvPicPr/>
          <p:nvPr/>
        </p:nvPicPr>
        <p:blipFill>
          <a:blip r:embed="rId2"/>
          <a:stretch/>
        </p:blipFill>
        <p:spPr>
          <a:xfrm>
            <a:off x="28800" y="6021360"/>
            <a:ext cx="874440" cy="872640"/>
          </a:xfrm>
          <a:prstGeom prst="rect">
            <a:avLst/>
          </a:prstGeom>
          <a:ln w="0">
            <a:noFill/>
          </a:ln>
        </p:spPr>
      </p:pic>
      <p:sp>
        <p:nvSpPr>
          <p:cNvPr id="277" name="TextBox 15"/>
          <p:cNvSpPr/>
          <p:nvPr/>
        </p:nvSpPr>
        <p:spPr>
          <a:xfrm>
            <a:off x="873000" y="6576120"/>
            <a:ext cx="1048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www.mephi.ru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Box 16"/>
          <p:cNvSpPr/>
          <p:nvPr/>
        </p:nvSpPr>
        <p:spPr>
          <a:xfrm>
            <a:off x="866880" y="6374520"/>
            <a:ext cx="973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НИЯУ МИФИ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79" name="Прямая соединительная линия 17"/>
          <p:cNvCxnSpPr/>
          <p:nvPr/>
        </p:nvCxnSpPr>
        <p:spPr>
          <a:xfrm>
            <a:off x="838080" y="792360"/>
            <a:ext cx="10515960" cy="360"/>
          </a:xfrm>
          <a:prstGeom prst="straightConnector1">
            <a:avLst/>
          </a:prstGeom>
          <a:ln w="22225">
            <a:solidFill>
              <a:srgbClr val="537599"/>
            </a:solidFill>
          </a:ln>
        </p:spPr>
      </p:cxnSp>
      <p:sp>
        <p:nvSpPr>
          <p:cNvPr id="280" name="Овал 18"/>
          <p:cNvSpPr/>
          <p:nvPr/>
        </p:nvSpPr>
        <p:spPr>
          <a:xfrm>
            <a:off x="112716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1" name="Рисунок 10" descr=""/>
          <p:cNvPicPr/>
          <p:nvPr/>
        </p:nvPicPr>
        <p:blipFill>
          <a:blip r:embed="rId3"/>
          <a:stretch/>
        </p:blipFill>
        <p:spPr>
          <a:xfrm>
            <a:off x="11244960" y="6021360"/>
            <a:ext cx="926280" cy="791640"/>
          </a:xfrm>
          <a:prstGeom prst="rect">
            <a:avLst/>
          </a:prstGeom>
          <a:ln w="0">
            <a:noFill/>
          </a:ln>
        </p:spPr>
      </p:pic>
      <p:sp>
        <p:nvSpPr>
          <p:cNvPr id="282" name="Ромб 9"/>
          <p:cNvSpPr/>
          <p:nvPr/>
        </p:nvSpPr>
        <p:spPr>
          <a:xfrm>
            <a:off x="5746680" y="6556680"/>
            <a:ext cx="698400" cy="364680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838080" y="25200"/>
            <a:ext cx="10515240" cy="7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838080" y="878400"/>
            <a:ext cx="5181120" cy="529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body"/>
          </p:nvPr>
        </p:nvSpPr>
        <p:spPr>
          <a:xfrm>
            <a:off x="6172200" y="878400"/>
            <a:ext cx="5181120" cy="529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 type="dt" idx="29"/>
          </p:nvPr>
        </p:nvSpPr>
        <p:spPr>
          <a:xfrm>
            <a:off x="2352240" y="6452640"/>
            <a:ext cx="1305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7" name="PlaceHolder 5"/>
          <p:cNvSpPr>
            <a:spLocks noGrp="1"/>
          </p:cNvSpPr>
          <p:nvPr>
            <p:ph type="ftr" idx="30"/>
          </p:nvPr>
        </p:nvSpPr>
        <p:spPr>
          <a:xfrm>
            <a:off x="6856560" y="6462000"/>
            <a:ext cx="175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PlaceHolder 6"/>
          <p:cNvSpPr>
            <a:spLocks noGrp="1"/>
          </p:cNvSpPr>
          <p:nvPr>
            <p:ph type="sldNum" idx="31"/>
          </p:nvPr>
        </p:nvSpPr>
        <p:spPr>
          <a:xfrm>
            <a:off x="5785560" y="6566040"/>
            <a:ext cx="606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0347E913-3B06-4967-B400-5264EC58D339}" type="slidenum">
              <a: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rPr>
              <a:t>&lt;number&gt;</a:t>
            </a:fld>
            <a:endParaRPr b="0" lang="ru-RU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Прямоугольник 21"/>
          <p:cNvSpPr/>
          <p:nvPr/>
        </p:nvSpPr>
        <p:spPr>
          <a:xfrm rot="5400000">
            <a:off x="-3276720" y="3268440"/>
            <a:ext cx="690624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Box 19"/>
          <p:cNvSpPr/>
          <p:nvPr/>
        </p:nvSpPr>
        <p:spPr>
          <a:xfrm>
            <a:off x="-2880" y="8280"/>
            <a:ext cx="356760" cy="79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Прямоугольник 6"/>
          <p:cNvSpPr/>
          <p:nvPr/>
        </p:nvSpPr>
        <p:spPr>
          <a:xfrm>
            <a:off x="0" y="6556680"/>
            <a:ext cx="1219176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Box 7"/>
          <p:cNvSpPr/>
          <p:nvPr/>
        </p:nvSpPr>
        <p:spPr>
          <a:xfrm>
            <a:off x="-8640" y="6562440"/>
            <a:ext cx="1219536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001010101010101011111111101000010010101011110101010101010110101010101010011001101010101010000010010101001000100010010111111101011110101111101011111111010101010110101010100101010101011011010111111011010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000010010100100100100001010000101111111111110101010100100101111110010001000101011111000000100101101010101010101000011110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Box 11"/>
          <p:cNvSpPr/>
          <p:nvPr/>
        </p:nvSpPr>
        <p:spPr>
          <a:xfrm>
            <a:off x="10315080" y="6541920"/>
            <a:ext cx="996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www.kaf22.ru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Box 12"/>
          <p:cNvSpPr/>
          <p:nvPr/>
        </p:nvSpPr>
        <p:spPr>
          <a:xfrm>
            <a:off x="9489600" y="6355440"/>
            <a:ext cx="1827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Кафедра №22 «Кибернетика»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Овал 13"/>
          <p:cNvSpPr/>
          <p:nvPr/>
        </p:nvSpPr>
        <p:spPr>
          <a:xfrm>
            <a:off x="162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9" name="Рисунок 14" descr=""/>
          <p:cNvPicPr/>
          <p:nvPr/>
        </p:nvPicPr>
        <p:blipFill>
          <a:blip r:embed="rId2"/>
          <a:stretch/>
        </p:blipFill>
        <p:spPr>
          <a:xfrm>
            <a:off x="28800" y="6021360"/>
            <a:ext cx="874440" cy="872640"/>
          </a:xfrm>
          <a:prstGeom prst="rect">
            <a:avLst/>
          </a:prstGeom>
          <a:ln w="0">
            <a:noFill/>
          </a:ln>
        </p:spPr>
      </p:pic>
      <p:sp>
        <p:nvSpPr>
          <p:cNvPr id="300" name="TextBox 15"/>
          <p:cNvSpPr/>
          <p:nvPr/>
        </p:nvSpPr>
        <p:spPr>
          <a:xfrm>
            <a:off x="873000" y="6576120"/>
            <a:ext cx="1048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www.mephi.ru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Box 16"/>
          <p:cNvSpPr/>
          <p:nvPr/>
        </p:nvSpPr>
        <p:spPr>
          <a:xfrm>
            <a:off x="866880" y="6374520"/>
            <a:ext cx="973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НИЯУ МИФИ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02" name="Прямая соединительная линия 17"/>
          <p:cNvCxnSpPr/>
          <p:nvPr/>
        </p:nvCxnSpPr>
        <p:spPr>
          <a:xfrm>
            <a:off x="838080" y="792360"/>
            <a:ext cx="10515960" cy="360"/>
          </a:xfrm>
          <a:prstGeom prst="straightConnector1">
            <a:avLst/>
          </a:prstGeom>
          <a:ln w="22225">
            <a:solidFill>
              <a:srgbClr val="537599"/>
            </a:solidFill>
          </a:ln>
        </p:spPr>
      </p:cxnSp>
      <p:sp>
        <p:nvSpPr>
          <p:cNvPr id="303" name="Овал 18"/>
          <p:cNvSpPr/>
          <p:nvPr/>
        </p:nvSpPr>
        <p:spPr>
          <a:xfrm>
            <a:off x="112716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4" name="Рисунок 10" descr=""/>
          <p:cNvPicPr/>
          <p:nvPr/>
        </p:nvPicPr>
        <p:blipFill>
          <a:blip r:embed="rId3"/>
          <a:stretch/>
        </p:blipFill>
        <p:spPr>
          <a:xfrm>
            <a:off x="11244960" y="6021360"/>
            <a:ext cx="926280" cy="791640"/>
          </a:xfrm>
          <a:prstGeom prst="rect">
            <a:avLst/>
          </a:prstGeom>
          <a:ln w="0">
            <a:noFill/>
          </a:ln>
        </p:spPr>
      </p:pic>
      <p:sp>
        <p:nvSpPr>
          <p:cNvPr id="305" name="Ромб 11"/>
          <p:cNvSpPr/>
          <p:nvPr/>
        </p:nvSpPr>
        <p:spPr>
          <a:xfrm>
            <a:off x="5746680" y="6556680"/>
            <a:ext cx="698400" cy="364680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839880" y="40680"/>
            <a:ext cx="10515240" cy="76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839880" y="897480"/>
            <a:ext cx="5157360" cy="66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body"/>
          </p:nvPr>
        </p:nvSpPr>
        <p:spPr>
          <a:xfrm>
            <a:off x="839880" y="1563120"/>
            <a:ext cx="5157360" cy="462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9" name="PlaceHolder 4"/>
          <p:cNvSpPr>
            <a:spLocks noGrp="1"/>
          </p:cNvSpPr>
          <p:nvPr>
            <p:ph type="body"/>
          </p:nvPr>
        </p:nvSpPr>
        <p:spPr>
          <a:xfrm>
            <a:off x="6172200" y="897480"/>
            <a:ext cx="5182920" cy="66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0" name="PlaceHolder 5"/>
          <p:cNvSpPr>
            <a:spLocks noGrp="1"/>
          </p:cNvSpPr>
          <p:nvPr>
            <p:ph type="body"/>
          </p:nvPr>
        </p:nvSpPr>
        <p:spPr>
          <a:xfrm>
            <a:off x="6172200" y="1563120"/>
            <a:ext cx="5182920" cy="462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</a:t>
            </a: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текста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</a:t>
            </a: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уровень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</a:t>
            </a: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й </a:t>
            </a: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урове</a:t>
            </a: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нь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вер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ты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й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уро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вен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ь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я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ы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й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у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р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о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в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е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н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ь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1" name="PlaceHolder 6"/>
          <p:cNvSpPr>
            <a:spLocks noGrp="1"/>
          </p:cNvSpPr>
          <p:nvPr>
            <p:ph type="dt" idx="32"/>
          </p:nvPr>
        </p:nvSpPr>
        <p:spPr>
          <a:xfrm>
            <a:off x="2352240" y="6452640"/>
            <a:ext cx="1305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2" name="PlaceHolder 7"/>
          <p:cNvSpPr>
            <a:spLocks noGrp="1"/>
          </p:cNvSpPr>
          <p:nvPr>
            <p:ph type="ftr" idx="33"/>
          </p:nvPr>
        </p:nvSpPr>
        <p:spPr>
          <a:xfrm>
            <a:off x="6856560" y="6462000"/>
            <a:ext cx="175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" name="PlaceHolder 8"/>
          <p:cNvSpPr>
            <a:spLocks noGrp="1"/>
          </p:cNvSpPr>
          <p:nvPr>
            <p:ph type="sldNum" idx="34"/>
          </p:nvPr>
        </p:nvSpPr>
        <p:spPr>
          <a:xfrm>
            <a:off x="5785560" y="6566040"/>
            <a:ext cx="606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80FBB592-397F-43A0-91A6-1523F3B7445B}" type="slidenum">
              <a: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rPr>
              <a:t>&lt;number&gt;</a:t>
            </a:fld>
            <a:endParaRPr b="0" lang="ru-RU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Прямоугольник 21"/>
          <p:cNvSpPr/>
          <p:nvPr/>
        </p:nvSpPr>
        <p:spPr>
          <a:xfrm rot="5400000">
            <a:off x="-3276720" y="3268440"/>
            <a:ext cx="690624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Box 19"/>
          <p:cNvSpPr/>
          <p:nvPr/>
        </p:nvSpPr>
        <p:spPr>
          <a:xfrm>
            <a:off x="-2880" y="8280"/>
            <a:ext cx="356760" cy="79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Прямоугольник 6"/>
          <p:cNvSpPr/>
          <p:nvPr/>
        </p:nvSpPr>
        <p:spPr>
          <a:xfrm>
            <a:off x="0" y="6556680"/>
            <a:ext cx="1219176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Box 7"/>
          <p:cNvSpPr/>
          <p:nvPr/>
        </p:nvSpPr>
        <p:spPr>
          <a:xfrm>
            <a:off x="-8640" y="6562440"/>
            <a:ext cx="1219536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001010101010101011111111101000010010101011110101010101010110101010101010011001101010101010000010010101001000100010010111111101011110101111101011111111010101010110101010100101010101011011010111111011010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000010010100100100100001010000101111111111110101010100100101111110010001000101011111000000100101101010101010101000011110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Box 11"/>
          <p:cNvSpPr/>
          <p:nvPr/>
        </p:nvSpPr>
        <p:spPr>
          <a:xfrm>
            <a:off x="10315080" y="6541920"/>
            <a:ext cx="996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www.kaf22.ru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Box 12"/>
          <p:cNvSpPr/>
          <p:nvPr/>
        </p:nvSpPr>
        <p:spPr>
          <a:xfrm>
            <a:off x="9489600" y="6355440"/>
            <a:ext cx="1827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Кафедра №22 «Кибернетика»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Овал 13"/>
          <p:cNvSpPr/>
          <p:nvPr/>
        </p:nvSpPr>
        <p:spPr>
          <a:xfrm>
            <a:off x="162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1" name="Рисунок 14" descr=""/>
          <p:cNvPicPr/>
          <p:nvPr/>
        </p:nvPicPr>
        <p:blipFill>
          <a:blip r:embed="rId2"/>
          <a:stretch/>
        </p:blipFill>
        <p:spPr>
          <a:xfrm>
            <a:off x="28800" y="6021360"/>
            <a:ext cx="874440" cy="872640"/>
          </a:xfrm>
          <a:prstGeom prst="rect">
            <a:avLst/>
          </a:prstGeom>
          <a:ln w="0">
            <a:noFill/>
          </a:ln>
        </p:spPr>
      </p:pic>
      <p:sp>
        <p:nvSpPr>
          <p:cNvPr id="322" name="TextBox 15"/>
          <p:cNvSpPr/>
          <p:nvPr/>
        </p:nvSpPr>
        <p:spPr>
          <a:xfrm>
            <a:off x="873000" y="6576120"/>
            <a:ext cx="1048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www.mephi.ru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Box 16"/>
          <p:cNvSpPr/>
          <p:nvPr/>
        </p:nvSpPr>
        <p:spPr>
          <a:xfrm>
            <a:off x="866880" y="6374520"/>
            <a:ext cx="973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НИЯУ МИФИ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24" name="Прямая соединительная линия 17"/>
          <p:cNvCxnSpPr/>
          <p:nvPr/>
        </p:nvCxnSpPr>
        <p:spPr>
          <a:xfrm>
            <a:off x="838080" y="792360"/>
            <a:ext cx="10515960" cy="360"/>
          </a:xfrm>
          <a:prstGeom prst="straightConnector1">
            <a:avLst/>
          </a:prstGeom>
          <a:ln w="22225">
            <a:solidFill>
              <a:srgbClr val="537599"/>
            </a:solidFill>
          </a:ln>
        </p:spPr>
      </p:cxnSp>
      <p:sp>
        <p:nvSpPr>
          <p:cNvPr id="325" name="Овал 18"/>
          <p:cNvSpPr/>
          <p:nvPr/>
        </p:nvSpPr>
        <p:spPr>
          <a:xfrm>
            <a:off x="112716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6" name="Рисунок 10" descr=""/>
          <p:cNvPicPr/>
          <p:nvPr/>
        </p:nvPicPr>
        <p:blipFill>
          <a:blip r:embed="rId3"/>
          <a:stretch/>
        </p:blipFill>
        <p:spPr>
          <a:xfrm>
            <a:off x="11244960" y="6021360"/>
            <a:ext cx="926280" cy="791640"/>
          </a:xfrm>
          <a:prstGeom prst="rect">
            <a:avLst/>
          </a:prstGeom>
          <a:ln w="0">
            <a:noFill/>
          </a:ln>
        </p:spPr>
      </p:pic>
      <p:sp>
        <p:nvSpPr>
          <p:cNvPr id="327" name="Ромб 7"/>
          <p:cNvSpPr/>
          <p:nvPr/>
        </p:nvSpPr>
        <p:spPr>
          <a:xfrm>
            <a:off x="5746680" y="6556680"/>
            <a:ext cx="698400" cy="364680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838080" y="25200"/>
            <a:ext cx="10515240" cy="7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dt" idx="35"/>
          </p:nvPr>
        </p:nvSpPr>
        <p:spPr>
          <a:xfrm>
            <a:off x="2352240" y="6452640"/>
            <a:ext cx="1305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ftr" idx="36"/>
          </p:nvPr>
        </p:nvSpPr>
        <p:spPr>
          <a:xfrm>
            <a:off x="6856560" y="6462000"/>
            <a:ext cx="175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 type="sldNum" idx="37"/>
          </p:nvPr>
        </p:nvSpPr>
        <p:spPr>
          <a:xfrm>
            <a:off x="5785560" y="6566040"/>
            <a:ext cx="6066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30F158BA-D817-4364-8375-25A246E74BDB}" type="slidenum">
              <a: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rPr>
              <a:t>&lt;number&gt;</a:t>
            </a:fld>
            <a:endParaRPr b="0" lang="ru-RU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Прямоугольник 21"/>
          <p:cNvSpPr/>
          <p:nvPr/>
        </p:nvSpPr>
        <p:spPr>
          <a:xfrm rot="5400000">
            <a:off x="-3276720" y="3268440"/>
            <a:ext cx="690624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Box 19"/>
          <p:cNvSpPr/>
          <p:nvPr/>
        </p:nvSpPr>
        <p:spPr>
          <a:xfrm>
            <a:off x="-2880" y="8280"/>
            <a:ext cx="356760" cy="79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Прямоугольник 6"/>
          <p:cNvSpPr/>
          <p:nvPr/>
        </p:nvSpPr>
        <p:spPr>
          <a:xfrm>
            <a:off x="0" y="6556680"/>
            <a:ext cx="12191760" cy="369000"/>
          </a:xfrm>
          <a:prstGeom prst="rect">
            <a:avLst/>
          </a:prstGeom>
          <a:solidFill>
            <a:srgbClr val="537599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Box 7"/>
          <p:cNvSpPr/>
          <p:nvPr/>
        </p:nvSpPr>
        <p:spPr>
          <a:xfrm>
            <a:off x="-8640" y="6562440"/>
            <a:ext cx="12195360" cy="52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" rIns="18000" tIns="45000" bIns="4500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1010100010010010010101010101010000001010101011111101010101010111111111110010010010101000101001010101001010010101001010010000001000010010101010101010111111111010000100101010111101010101010101101010101010100110011010101010100000100101010010001000100101111111010111101011111010111111110101010101101010101001010101010110110101111110110101</a:t>
            </a:r>
            <a:r>
              <a:rPr b="0" lang="en-US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000010010100100100100001010000101111111111110101010100100101111110010001000101011111000000100101101010101010101000011110</a:t>
            </a:r>
            <a:r>
              <a:rPr b="0" lang="ru-RU" sz="800" spc="-1" strike="noStrike">
                <a:solidFill>
                  <a:schemeClr val="dk1">
                    <a:alpha val="10000"/>
                  </a:schemeClr>
                </a:solidFill>
                <a:latin typeface="Calibri"/>
              </a:rPr>
              <a:t>00110000100101010010111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Box 11"/>
          <p:cNvSpPr/>
          <p:nvPr/>
        </p:nvSpPr>
        <p:spPr>
          <a:xfrm>
            <a:off x="10315080" y="6541920"/>
            <a:ext cx="9964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www.kaf22.ru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Box 12"/>
          <p:cNvSpPr/>
          <p:nvPr/>
        </p:nvSpPr>
        <p:spPr>
          <a:xfrm>
            <a:off x="9489600" y="6355440"/>
            <a:ext cx="182736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Кафедра №22 «Кибернетика»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Овал 13"/>
          <p:cNvSpPr/>
          <p:nvPr/>
        </p:nvSpPr>
        <p:spPr>
          <a:xfrm>
            <a:off x="162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0" name="Рисунок 14" descr=""/>
          <p:cNvPicPr/>
          <p:nvPr/>
        </p:nvPicPr>
        <p:blipFill>
          <a:blip r:embed="rId2"/>
          <a:stretch/>
        </p:blipFill>
        <p:spPr>
          <a:xfrm>
            <a:off x="28800" y="6021360"/>
            <a:ext cx="874440" cy="872640"/>
          </a:xfrm>
          <a:prstGeom prst="rect">
            <a:avLst/>
          </a:prstGeom>
          <a:ln w="0">
            <a:noFill/>
          </a:ln>
        </p:spPr>
      </p:pic>
      <p:sp>
        <p:nvSpPr>
          <p:cNvPr id="341" name="TextBox 15"/>
          <p:cNvSpPr/>
          <p:nvPr/>
        </p:nvSpPr>
        <p:spPr>
          <a:xfrm>
            <a:off x="873000" y="6576120"/>
            <a:ext cx="1048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/>
                </a:solidFill>
                <a:latin typeface="Calibri"/>
              </a:rPr>
              <a:t>www.mephi.ru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Box 16"/>
          <p:cNvSpPr/>
          <p:nvPr/>
        </p:nvSpPr>
        <p:spPr>
          <a:xfrm>
            <a:off x="866880" y="6374520"/>
            <a:ext cx="9738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1000" spc="-1" strike="noStrike">
                <a:solidFill>
                  <a:srgbClr val="537599"/>
                </a:solidFill>
                <a:latin typeface="Calibri"/>
              </a:rPr>
              <a:t>НИЯУ МИФИ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43" name="Прямая соединительная линия 17"/>
          <p:cNvCxnSpPr/>
          <p:nvPr/>
        </p:nvCxnSpPr>
        <p:spPr>
          <a:xfrm>
            <a:off x="838080" y="792360"/>
            <a:ext cx="10515960" cy="360"/>
          </a:xfrm>
          <a:prstGeom prst="straightConnector1">
            <a:avLst/>
          </a:prstGeom>
          <a:ln w="22225">
            <a:solidFill>
              <a:srgbClr val="537599"/>
            </a:solidFill>
          </a:ln>
        </p:spPr>
      </p:cxnSp>
      <p:sp>
        <p:nvSpPr>
          <p:cNvPr id="344" name="Овал 18"/>
          <p:cNvSpPr/>
          <p:nvPr/>
        </p:nvSpPr>
        <p:spPr>
          <a:xfrm>
            <a:off x="11271600" y="6006600"/>
            <a:ext cx="899640" cy="89964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45720" rIns="45720" anchor="ctr">
            <a:spAutoFit/>
          </a:bodyPr>
          <a:p>
            <a:endParaRPr b="1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5" name="Рисунок 10" descr=""/>
          <p:cNvPicPr/>
          <p:nvPr/>
        </p:nvPicPr>
        <p:blipFill>
          <a:blip r:embed="rId3"/>
          <a:stretch/>
        </p:blipFill>
        <p:spPr>
          <a:xfrm>
            <a:off x="11244960" y="6021360"/>
            <a:ext cx="926280" cy="791640"/>
          </a:xfrm>
          <a:prstGeom prst="rect">
            <a:avLst/>
          </a:prstGeom>
          <a:ln w="0">
            <a:noFill/>
          </a:ln>
        </p:spPr>
      </p:pic>
      <p:sp>
        <p:nvSpPr>
          <p:cNvPr id="346" name="Ромб 6"/>
          <p:cNvSpPr/>
          <p:nvPr/>
        </p:nvSpPr>
        <p:spPr>
          <a:xfrm>
            <a:off x="5746680" y="6556680"/>
            <a:ext cx="698400" cy="364680"/>
          </a:xfrm>
          <a:prstGeom prst="diamond">
            <a:avLst/>
          </a:prstGeom>
          <a:solidFill>
            <a:schemeClr val="bg1"/>
          </a:solidFill>
          <a:ln w="6350">
            <a:solidFill>
              <a:srgbClr val="5375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endParaRPr b="0" lang="ru-RU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838080" y="25200"/>
            <a:ext cx="10515240" cy="7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838080" y="870840"/>
            <a:ext cx="10515240" cy="530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dt" idx="38"/>
          </p:nvPr>
        </p:nvSpPr>
        <p:spPr>
          <a:xfrm>
            <a:off x="2352240" y="6452640"/>
            <a:ext cx="13057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0" name="PlaceHolder 4"/>
          <p:cNvSpPr>
            <a:spLocks noGrp="1"/>
          </p:cNvSpPr>
          <p:nvPr>
            <p:ph type="ftr" idx="39"/>
          </p:nvPr>
        </p:nvSpPr>
        <p:spPr>
          <a:xfrm>
            <a:off x="6856560" y="6462000"/>
            <a:ext cx="1752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" name="PlaceHolder 5"/>
          <p:cNvSpPr>
            <a:spLocks noGrp="1"/>
          </p:cNvSpPr>
          <p:nvPr>
            <p:ph type="sldNum" idx="40"/>
          </p:nvPr>
        </p:nvSpPr>
        <p:spPr>
          <a:xfrm>
            <a:off x="5746680" y="6556680"/>
            <a:ext cx="69840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fld id="{9647E6F0-1690-4C69-A820-54057D61C4A6}" type="slidenum">
              <a:rPr b="0" lang="ru-RU" sz="2000" spc="-1" strike="noStrike">
                <a:ln>
                  <a:solidFill>
                    <a:srgbClr val="537599"/>
                  </a:solidFill>
                </a:ln>
                <a:solidFill>
                  <a:srgbClr val="ffffff"/>
                </a:solidFill>
                <a:latin typeface="Calibri"/>
              </a:rPr>
              <a:t>&lt;number&gt;</a:t>
            </a:fld>
            <a:endParaRPr b="0" lang="ru-RU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svg"/><Relationship Id="rId3" Type="http://schemas.openxmlformats.org/officeDocument/2006/relationships/slideLayout" Target="../slideLayouts/slideLayout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svg"/><Relationship Id="rId3" Type="http://schemas.openxmlformats.org/officeDocument/2006/relationships/slideLayout" Target="../slideLayouts/slideLayout1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2648520" y="3435840"/>
            <a:ext cx="6857640" cy="105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465"/>
          </a:bodyPr>
          <a:p>
            <a:pPr indent="0" algn="ctr">
              <a:buNone/>
            </a:pPr>
            <a:r>
              <a:rPr b="1" lang="ru-RU" sz="2400" spc="-1" strike="noStrike">
                <a:solidFill>
                  <a:schemeClr val="dk1"/>
                </a:solidFill>
                <a:latin typeface="Arial"/>
                <a:ea typeface="Times New Roman"/>
              </a:rPr>
              <a:t>Разработка прототипа системы синхронизации файлов для системы поддержки учебного процесса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/>
          </p:nvPr>
        </p:nvSpPr>
        <p:spPr>
          <a:xfrm>
            <a:off x="9276120" y="4645800"/>
            <a:ext cx="2184120" cy="28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Гаина Г.Е,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/>
          </p:nvPr>
        </p:nvSpPr>
        <p:spPr>
          <a:xfrm>
            <a:off x="9276120" y="5000400"/>
            <a:ext cx="2184120" cy="29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Б23-514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7" name="PlaceHolder 4"/>
          <p:cNvSpPr>
            <a:spLocks noGrp="1"/>
          </p:cNvSpPr>
          <p:nvPr>
            <p:ph/>
          </p:nvPr>
        </p:nvSpPr>
        <p:spPr>
          <a:xfrm>
            <a:off x="9271440" y="5466600"/>
            <a:ext cx="2184120" cy="58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6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Рословцев В. В.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838080" y="25200"/>
            <a:ext cx="10515240" cy="7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Реферат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9" name="Объект 2"/>
          <p:cNvSpPr/>
          <p:nvPr/>
        </p:nvSpPr>
        <p:spPr>
          <a:xfrm>
            <a:off x="5517000" y="5686560"/>
            <a:ext cx="1209960" cy="5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49280">
              <a:lnSpc>
                <a:spcPct val="97000"/>
              </a:lnSpc>
              <a:spcBef>
                <a:spcPts val="799"/>
              </a:spcBef>
            </a:pPr>
            <a:endParaRPr b="0" lang="ru-RU" sz="2400" spc="-1" strike="noStrike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360" name="Объект 2"/>
          <p:cNvSpPr/>
          <p:nvPr/>
        </p:nvSpPr>
        <p:spPr>
          <a:xfrm>
            <a:off x="7176960" y="1622520"/>
            <a:ext cx="4425840" cy="4294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e5662e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anchor="t">
            <a:noAutofit/>
          </a:bodyPr>
          <a:p>
            <a:r>
              <a:rPr b="1" lang="ru-RU" sz="2000" spc="-1" strike="noStrike">
                <a:solidFill>
                  <a:srgbClr val="1f2b6d"/>
                </a:solidFill>
                <a:latin typeface="Arial"/>
                <a:ea typeface=""/>
              </a:rPr>
              <a:t>СИСТЕМА СИНХРОНИЗАЦИИ ФАЙЛОВ, РАСПРЕДЕЛЁННОЕ ХРАНЕНИЕ, ВЕРСИОНИРОВАНИЕ, КОНТЕНТ-АДРЕСУЕМОЕ ХРАНИЛИЩЕ, КОНТРОЛЬ ВЕРСИЙ, РАЗРЕШЕНИЕ КОНФЛИКТОВ, КОНТЕЙНЕРИЗАЦИЯ, УЧЕБНЫЙ ПРОЦЕСС, МЕТАДАННЫЕ, СНИМКИ СОСТОЯНИЯ, ТРЁХСТОРОННЕЕ СЛИЯНИЕ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Box 6"/>
          <p:cNvSpPr/>
          <p:nvPr/>
        </p:nvSpPr>
        <p:spPr>
          <a:xfrm>
            <a:off x="7176960" y="1054440"/>
            <a:ext cx="4425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ru-RU" sz="2400" spc="-1" strike="noStrike">
                <a:solidFill>
                  <a:srgbClr val="e5662e"/>
                </a:solidFill>
                <a:latin typeface="Arial"/>
              </a:rPr>
              <a:t>Ключевые слова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Объект 2"/>
          <p:cNvSpPr/>
          <p:nvPr/>
        </p:nvSpPr>
        <p:spPr>
          <a:xfrm>
            <a:off x="838080" y="1622520"/>
            <a:ext cx="5888880" cy="1806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1f2b6d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/>
        </p:style>
        <p:txBody>
          <a:bodyPr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f2b6d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1f2b6d"/>
                </a:solidFill>
                <a:latin typeface="Arial"/>
              </a:rPr>
              <a:t>53 страниц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f2b6d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1f2b6d"/>
                </a:solidFill>
                <a:latin typeface="Arial"/>
              </a:rPr>
              <a:t>12 таблиц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f2b6d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1f2b6d"/>
                </a:solidFill>
                <a:latin typeface="Arial"/>
              </a:rPr>
              <a:t>9 рисунков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f2b6d"/>
              </a:buClr>
              <a:buFont typeface="Arial"/>
              <a:buChar char="•"/>
            </a:pPr>
            <a:r>
              <a:rPr b="0" lang="ru-RU" sz="2000" spc="-1" strike="noStrike">
                <a:solidFill>
                  <a:srgbClr val="1f2b6d"/>
                </a:solidFill>
                <a:latin typeface="Arial"/>
              </a:rPr>
              <a:t>21 использованных источников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Box 11"/>
          <p:cNvSpPr/>
          <p:nvPr/>
        </p:nvSpPr>
        <p:spPr>
          <a:xfrm>
            <a:off x="838080" y="1045800"/>
            <a:ext cx="5506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ru-RU" sz="2400" spc="-1" strike="noStrike">
                <a:solidFill>
                  <a:srgbClr val="1f2b6d"/>
                </a:solidFill>
                <a:latin typeface="Arial"/>
              </a:rPr>
              <a:t>Пояснительная записка содержит: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6B908F36-0A81-45AE-B6C6-6039EE28C28C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838080" y="25200"/>
            <a:ext cx="10515240" cy="7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Актуальность работы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/>
          </p:nvPr>
        </p:nvSpPr>
        <p:spPr>
          <a:xfrm>
            <a:off x="670680" y="1382760"/>
            <a:ext cx="9589320" cy="4091760"/>
          </a:xfrm>
          <a:prstGeom prst="rect">
            <a:avLst/>
          </a:prstGeom>
          <a:solidFill>
            <a:schemeClr val="lt1"/>
          </a:solidFill>
          <a:ln w="38160">
            <a:solidFill>
              <a:srgbClr val="e5662e"/>
            </a:solidFill>
            <a:miter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1f2b6d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Использование человеком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множества различных устройств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1f2b6d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Рост потребности в мобильном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доступе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1f2b6d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Потребность в согласованности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данных, которую не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предоставляют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распространенные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аналоги(Google Drive)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1f2b6d"/>
              </a:buClr>
              <a:buFont typeface="Arial"/>
              <a:buChar char="•"/>
            </a:pP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Необходимость: удобный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интерфейс, отвечающий всем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требованиям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C339B641-0CB8-4A60-ACB5-9171515520EC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838080" y="25200"/>
            <a:ext cx="10515240" cy="7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Цели учебно-исследовательской работы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/>
          </p:nvPr>
        </p:nvSpPr>
        <p:spPr>
          <a:xfrm>
            <a:off x="0" y="7584120"/>
            <a:ext cx="10515240" cy="530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8" name="TextBox 8"/>
          <p:cNvSpPr/>
          <p:nvPr/>
        </p:nvSpPr>
        <p:spPr>
          <a:xfrm>
            <a:off x="1878840" y="1393560"/>
            <a:ext cx="1403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ru-RU" sz="2400" spc="-1" strike="noStrike">
                <a:solidFill>
                  <a:srgbClr val="e5662e"/>
                </a:solidFill>
                <a:latin typeface="Arial"/>
              </a:rPr>
              <a:t>Цель 1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Box 12"/>
          <p:cNvSpPr/>
          <p:nvPr/>
        </p:nvSpPr>
        <p:spPr>
          <a:xfrm>
            <a:off x="743400" y="1993680"/>
            <a:ext cx="3674520" cy="456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e5662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ru-RU" sz="1800" spc="-1" strike="noStrike">
                <a:solidFill>
                  <a:srgbClr val="1f2b6d"/>
                </a:solidFill>
                <a:latin typeface="Arial"/>
              </a:rPr>
              <a:t>Проанализировать</a:t>
            </a:r>
            <a:r>
              <a:rPr b="0" lang="ru-RU" sz="1800" spc="-1" strike="noStrike">
                <a:solidFill>
                  <a:srgbClr val="1f2b6d"/>
                </a:solidFill>
                <a:latin typeface="Arial"/>
              </a:rPr>
              <a:t> 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ru-RU" sz="1800" spc="-1" strike="noStrike">
                <a:solidFill>
                  <a:srgbClr val="1f2b6d"/>
                </a:solidFill>
                <a:latin typeface="Arial"/>
              </a:rPr>
              <a:t>возможности платформы .NET для манипуляции файловой системой и асинхронного взаимодействия, подходы к децентрализованному хранению неструктурированных данных и механизмы версионирования объектов  для выявления оптимальной модели построения системы синхронизации файлов в учебном процессе.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Box 16"/>
          <p:cNvSpPr/>
          <p:nvPr/>
        </p:nvSpPr>
        <p:spPr>
          <a:xfrm>
            <a:off x="5626440" y="1369800"/>
            <a:ext cx="1403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ru-RU" sz="2400" spc="-1" strike="noStrike">
                <a:solidFill>
                  <a:srgbClr val="e5662e"/>
                </a:solidFill>
                <a:latin typeface="Arial"/>
              </a:rPr>
              <a:t>Цель </a:t>
            </a:r>
            <a:r>
              <a:rPr b="1" lang="en-US" sz="2400" spc="-1" strike="noStrike">
                <a:solidFill>
                  <a:srgbClr val="e5662e"/>
                </a:solidFill>
                <a:latin typeface="Arial"/>
              </a:rPr>
              <a:t>2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Box 17"/>
          <p:cNvSpPr/>
          <p:nvPr/>
        </p:nvSpPr>
        <p:spPr>
          <a:xfrm>
            <a:off x="4750560" y="1993680"/>
            <a:ext cx="3108960" cy="3411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e5662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ru-RU" sz="1800" spc="-1" strike="noStrike">
                <a:solidFill>
                  <a:srgbClr val="1f2b6d"/>
                </a:solidFill>
                <a:latin typeface="Arial"/>
              </a:rPr>
              <a:t>Спроектировать 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0" lang="ru-RU" sz="1800" spc="-1" strike="noStrike">
                <a:solidFill>
                  <a:srgbClr val="1f2b6d"/>
                </a:solidFill>
                <a:latin typeface="Arial"/>
              </a:rPr>
              <a:t>модели метаданных для контент-адресуемого хранения и версионирования файлов, алгоритмы синхронизации, а также и программные интерфейсы взаимодействия узлов синхронизации.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Box 18"/>
          <p:cNvSpPr/>
          <p:nvPr/>
        </p:nvSpPr>
        <p:spPr>
          <a:xfrm>
            <a:off x="9127080" y="1393560"/>
            <a:ext cx="1403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ru-RU" sz="2400" spc="-1" strike="noStrike">
                <a:solidFill>
                  <a:srgbClr val="e5662e"/>
                </a:solidFill>
                <a:latin typeface="Arial"/>
              </a:rPr>
              <a:t>Цель </a:t>
            </a:r>
            <a:r>
              <a:rPr b="1" lang="en-US" sz="2400" spc="-1" strike="noStrike">
                <a:solidFill>
                  <a:srgbClr val="e5662e"/>
                </a:solidFill>
                <a:latin typeface="Arial"/>
              </a:rPr>
              <a:t>3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Box 19"/>
          <p:cNvSpPr/>
          <p:nvPr/>
        </p:nvSpPr>
        <p:spPr>
          <a:xfrm>
            <a:off x="8192160" y="1993680"/>
            <a:ext cx="3346560" cy="398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e5662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tabLst>
                <a:tab algn="l" pos="0"/>
              </a:tabLst>
            </a:pPr>
            <a:r>
              <a:rPr b="1" lang="ru-RU" sz="1800" spc="-1" strike="noStrike">
                <a:solidFill>
                  <a:srgbClr val="1f2b6d"/>
                </a:solidFill>
                <a:latin typeface="Arial"/>
              </a:rPr>
              <a:t>Разработать </a:t>
            </a:r>
            <a:r>
              <a:rPr b="0" lang="ru-RU" sz="1800" spc="-1" strike="noStrike">
                <a:solidFill>
                  <a:srgbClr val="1f2b6d"/>
                </a:solidFill>
                <a:latin typeface="Arial"/>
              </a:rPr>
              <a:t>и реализовать рограммный прототип системы синхронизации файлов на платформе .NET , обеспечивающий распределённое хранение  данных, контроль версий и корректное разрешение конфликтов при одновременном изменении файлов на разных узлах.</a:t>
            </a:r>
            <a:r>
              <a:rPr b="1" lang="ru-RU" sz="1800" spc="-1" strike="noStrike">
                <a:solidFill>
                  <a:schemeClr val="dk1"/>
                </a:solidFill>
                <a:latin typeface="Arial"/>
              </a:rPr>
              <a:t>	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E4EBB982-3CD2-438F-8DC0-CF20CE2AFDA7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838080" y="25200"/>
            <a:ext cx="10515240" cy="7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Задачи учебно-исследовательской работы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/>
          </p:nvPr>
        </p:nvSpPr>
        <p:spPr>
          <a:xfrm>
            <a:off x="900000" y="1047240"/>
            <a:ext cx="10643760" cy="50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514440" indent="-514440" defTabSz="914400">
              <a:lnSpc>
                <a:spcPct val="110000"/>
              </a:lnSpc>
              <a:spcBef>
                <a:spcPts val="1001"/>
              </a:spcBef>
              <a:buClr>
                <a:srgbClr val="1f2b6d"/>
              </a:buClr>
              <a:buFont typeface="Calibri Light"/>
              <a:buAutoNum type="arabicPeriod"/>
            </a:pPr>
            <a:r>
              <a:rPr b="1" lang="ru-RU" sz="2200" spc="-1" strike="noStrike">
                <a:solidFill>
                  <a:srgbClr val="1f2b6d"/>
                </a:solidFill>
                <a:latin typeface="Arial"/>
              </a:rPr>
              <a:t>Провести анализ средств хранения и обмена данных на C#.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1f2b6d"/>
              </a:buClr>
              <a:buFont typeface="Calibri Light"/>
              <a:buAutoNum type="arabicPeriod"/>
            </a:pPr>
            <a:r>
              <a:rPr b="1" lang="ru-RU" sz="2200" spc="-1" strike="noStrike">
                <a:solidFill>
                  <a:srgbClr val="1f2b6d"/>
                </a:solidFill>
                <a:latin typeface="Arial"/>
              </a:rPr>
              <a:t>Спроектировать модели метаданных для контент-адресуемого хранения и версионирования файлов.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110000"/>
              </a:lnSpc>
              <a:spcBef>
                <a:spcPts val="1001"/>
              </a:spcBef>
              <a:buClr>
                <a:srgbClr val="1f2b6d"/>
              </a:buClr>
              <a:buFont typeface="Calibri Light"/>
              <a:buAutoNum type="arabicPeriod"/>
            </a:pPr>
            <a:r>
              <a:rPr b="1" lang="ru-RU" sz="2200" spc="-1" strike="noStrike">
                <a:solidFill>
                  <a:srgbClr val="1f2b6d"/>
                </a:solidFill>
                <a:latin typeface="Arial"/>
              </a:rPr>
              <a:t>Разработать алгоритмы синхронизации данных на различных узлах.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1f2b6d"/>
              </a:buClr>
              <a:buFont typeface="Calibri Light"/>
              <a:buAutoNum type="arabicPeriod"/>
            </a:pPr>
            <a:r>
              <a:rPr b="1" lang="ru-RU" sz="2200" spc="-1" strike="noStrike">
                <a:solidFill>
                  <a:srgbClr val="1f2b6d"/>
                </a:solidFill>
                <a:latin typeface="Arial"/>
              </a:rPr>
              <a:t>Спроектировать архитектуру переносимой системы хранения неструктурированных данных.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  <a:p>
            <a:pPr marL="514440" indent="-514440" defTabSz="914400">
              <a:lnSpc>
                <a:spcPct val="110000"/>
              </a:lnSpc>
              <a:spcBef>
                <a:spcPts val="1001"/>
              </a:spcBef>
              <a:buClr>
                <a:srgbClr val="1f2b6d"/>
              </a:buClr>
              <a:buFont typeface="Calibri Light"/>
              <a:buAutoNum type="arabicPeriod"/>
            </a:pPr>
            <a:r>
              <a:rPr b="1" lang="ru-RU" sz="2200" spc="-1" strike="noStrike">
                <a:solidFill>
                  <a:srgbClr val="1f2b6d"/>
                </a:solidFill>
                <a:latin typeface="Arial"/>
              </a:rPr>
              <a:t>Реализовать прототип, провести его тестирование и наполнить данными.</a:t>
            </a:r>
            <a:endParaRPr b="0" lang="en-US" sz="2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EE52C1D7-4407-4B05-A9E6-9FAA7179B457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1221920" cy="110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 </a:t>
            </a: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Результаты анализа средств хранения данных</a:t>
            </a:r>
            <a:br>
              <a:rPr sz="3600"/>
            </a:br>
            <a:endParaRPr b="1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/>
          </p:nvPr>
        </p:nvSpPr>
        <p:spPr>
          <a:xfrm>
            <a:off x="838080" y="1104120"/>
            <a:ext cx="10861920" cy="3340080"/>
          </a:xfrm>
          <a:prstGeom prst="rect">
            <a:avLst/>
          </a:prstGeom>
          <a:solidFill>
            <a:schemeClr val="lt1"/>
          </a:solidFill>
          <a:ln w="38160">
            <a:solidFill>
              <a:srgbClr val="1f2b6d"/>
            </a:solidFill>
            <a:miter/>
          </a:ln>
        </p:spPr>
        <p:txBody>
          <a:bodyPr lIns="91440" rIns="91440" tIns="45720" bIns="45720" anchor="t">
            <a:normAutofit fontScale="98192" lnSpcReduction="10000"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rgbClr val="1f2b6d"/>
                </a:solidFill>
                <a:latin typeface="Arial"/>
              </a:rPr>
              <a:t>Прямая работа с файловой </a:t>
            </a:r>
            <a:r>
              <a:rPr b="1" lang="ru-RU" sz="2400" spc="-1" strike="noStrike">
                <a:solidFill>
                  <a:srgbClr val="1f2b6d"/>
                </a:solidFill>
                <a:latin typeface="Arial"/>
              </a:rPr>
              <a:t>системой: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 просто но есть риск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потери данных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rgbClr val="1f2b6d"/>
                </a:solidFill>
                <a:latin typeface="Arial"/>
              </a:rPr>
              <a:t>Виртуальная файловая система: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удобно в использовании, но требует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архитектурно-зависимых компонент.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Не переносимо.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rgbClr val="1f2b6d"/>
                </a:solidFill>
                <a:latin typeface="Arial"/>
              </a:rPr>
              <a:t>Внутреннее хранилище </a:t>
            </a:r>
            <a:r>
              <a:rPr b="1" lang="ru-RU" sz="2400" spc="-1" strike="noStrike">
                <a:solidFill>
                  <a:srgbClr val="1f2b6d"/>
                </a:solidFill>
                <a:latin typeface="Arial"/>
              </a:rPr>
              <a:t>приложения: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 дублирование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данных, но простота реализации и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безопасность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8" name="TextBox 5"/>
          <p:cNvSpPr/>
          <p:nvPr/>
        </p:nvSpPr>
        <p:spPr>
          <a:xfrm>
            <a:off x="838080" y="4775040"/>
            <a:ext cx="10861920" cy="131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8081d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50000"/>
              </a:lnSpc>
            </a:pPr>
            <a:r>
              <a:rPr b="1" lang="ru-RU" sz="2400" spc="-1" strike="noStrike">
                <a:solidFill>
                  <a:srgbClr val="1f2b6d"/>
                </a:solidFill>
                <a:latin typeface="Arial"/>
              </a:rPr>
              <a:t>Вывод: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 для хранения данных используем внутреннее хранилище приложения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0366F615-06B4-489D-B790-513E60E75746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838080" y="151920"/>
            <a:ext cx="11221920" cy="110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 </a:t>
            </a: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Результаты анализа средств обмена инфомацией</a:t>
            </a:r>
            <a:br>
              <a:rPr sz="3600"/>
            </a:br>
            <a:endParaRPr b="1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/>
          </p:nvPr>
        </p:nvSpPr>
        <p:spPr>
          <a:xfrm>
            <a:off x="838080" y="1104120"/>
            <a:ext cx="10861920" cy="3340080"/>
          </a:xfrm>
          <a:prstGeom prst="rect">
            <a:avLst/>
          </a:prstGeom>
          <a:solidFill>
            <a:schemeClr val="lt1"/>
          </a:solidFill>
          <a:ln w="38160">
            <a:solidFill>
              <a:srgbClr val="1f2b6d"/>
            </a:solidFill>
            <a:miter/>
          </a:ln>
        </p:spPr>
        <p:txBody>
          <a:bodyPr lIns="91440" rIns="91440" tIns="45720" bIns="45720" anchor="t">
            <a:normAutofit fontScale="96763" lnSpcReduction="10000"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rgbClr val="1f2b6d"/>
                </a:solidFill>
                <a:latin typeface="Arial"/>
              </a:rPr>
              <a:t>Синхронный HTTP: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прост в написании и использовании, но может вызывать задержки в работе.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rgbClr val="1f2b6d"/>
                </a:solidFill>
                <a:latin typeface="Arial"/>
              </a:rPr>
              <a:t>Асинхронный HTTP и стиль REST: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 нет блокировок процесса, понятное наполнение http методов.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rgbClr val="1f2b6d"/>
                </a:solidFill>
                <a:latin typeface="Arial"/>
              </a:rPr>
              <a:t>WebSockets: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мгновенные уведомления о изменениях, но сложнее в реализации.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1" name="TextBox 2"/>
          <p:cNvSpPr/>
          <p:nvPr/>
        </p:nvSpPr>
        <p:spPr>
          <a:xfrm>
            <a:off x="838080" y="4775040"/>
            <a:ext cx="10861920" cy="131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8081d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50000"/>
              </a:lnSpc>
            </a:pPr>
            <a:r>
              <a:rPr b="1" lang="ru-RU" sz="2400" spc="-1" strike="noStrike">
                <a:solidFill>
                  <a:srgbClr val="1f2b6d"/>
                </a:solidFill>
                <a:latin typeface="Arial"/>
              </a:rPr>
              <a:t>Вывод: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 для обмена данными оптимально использовать асинхронный HTTP + REST стиль.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BA4D10B3-1064-4A9F-8BBB-8AEC2E78E843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838080" y="25200"/>
            <a:ext cx="10515240" cy="7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Анализ существующих систем версионирования и хранения данных.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/>
          </p:nvPr>
        </p:nvSpPr>
        <p:spPr>
          <a:xfrm>
            <a:off x="540000" y="1620000"/>
            <a:ext cx="11340000" cy="1440000"/>
          </a:xfrm>
          <a:prstGeom prst="rect">
            <a:avLst/>
          </a:prstGeom>
          <a:solidFill>
            <a:schemeClr val="lt1"/>
          </a:solidFill>
          <a:ln w="38160">
            <a:solidFill>
              <a:srgbClr val="e5662e"/>
            </a:solidFill>
            <a:miter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SVN (Apache Subversion) — централизованная система контроля версий. Все операции (коммит, обновление, просмотр истории) требуют соединения с центральным сервером. Изменения хранятся в виде дельт.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4" name="Объект 6"/>
          <p:cNvSpPr txBox="1"/>
          <p:nvPr/>
        </p:nvSpPr>
        <p:spPr>
          <a:xfrm>
            <a:off x="540000" y="3420000"/>
            <a:ext cx="11160000" cy="1440000"/>
          </a:xfrm>
          <a:prstGeom prst="rect">
            <a:avLst/>
          </a:prstGeom>
          <a:solidFill>
            <a:schemeClr val="lt1"/>
          </a:solidFill>
          <a:ln w="38160">
            <a:solidFill>
              <a:srgbClr val="e5662e"/>
            </a:solidFill>
            <a:miter/>
          </a:ln>
        </p:spPr>
        <p:txBody>
          <a:bodyPr anchor="t">
            <a:normAutofit/>
          </a:bodyPr>
          <a:p>
            <a:pPr defTabSz="914400"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Git — распределённая система контроля версий. Каждый узел хранит полную историю изменений в виде графа коммитов. Работает со снимками файловой системы, а не с дельтами.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E3D6B13F-8410-49D6-A2C0-C3D85A2EABB2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900000" y="180000"/>
            <a:ext cx="10453320" cy="54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Сравнительный анализ аналогов: Git, SVN в рамках задачи УИР.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6" name="PlaceHolder 2"/>
          <p:cNvSpPr>
            <a:spLocks noGrp="1"/>
          </p:cNvSpPr>
          <p:nvPr>
            <p:ph/>
          </p:nvPr>
        </p:nvSpPr>
        <p:spPr>
          <a:xfrm>
            <a:off x="720000" y="1980000"/>
            <a:ext cx="5257440" cy="3296880"/>
          </a:xfrm>
          <a:prstGeom prst="rect">
            <a:avLst/>
          </a:prstGeom>
          <a:solidFill>
            <a:schemeClr val="lt1"/>
          </a:solidFill>
          <a:ln w="38160">
            <a:solidFill>
              <a:srgbClr val="e5662e"/>
            </a:solidFill>
            <a:miter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Локальная история версий (работа офлайн)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Идентификация объекта по хэшу, то есть дедупликация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7" name="Объект 8"/>
          <p:cNvSpPr txBox="1"/>
          <p:nvPr/>
        </p:nvSpPr>
        <p:spPr>
          <a:xfrm>
            <a:off x="6442560" y="1980000"/>
            <a:ext cx="5257440" cy="3296880"/>
          </a:xfrm>
          <a:prstGeom prst="rect">
            <a:avLst/>
          </a:prstGeom>
          <a:solidFill>
            <a:schemeClr val="lt1"/>
          </a:solidFill>
          <a:ln w="38160">
            <a:solidFill>
              <a:srgbClr val="e5662e"/>
            </a:solidFill>
            <a:miter/>
          </a:ln>
        </p:spPr>
        <p:txBody>
          <a:bodyPr anchor="t">
            <a:normAutofit/>
          </a:bodyPr>
          <a:p>
            <a:pPr defTabSz="914400"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Механизм трёх файлов для ручного разрешения конфликтов (base, local, server), что оптимально для неструктурированных данных.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defTabSz="914400"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Линейная история версий, без (DAG)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defTabSz="914400">
              <a:lnSpc>
                <a:spcPct val="90000"/>
              </a:lnSpc>
              <a:spcBef>
                <a:spcPts val="1417"/>
              </a:spcBef>
              <a:tabLst>
                <a:tab algn="l" pos="0"/>
              </a:tabLst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8" name="Объект 1"/>
          <p:cNvSpPr txBox="1"/>
          <p:nvPr/>
        </p:nvSpPr>
        <p:spPr>
          <a:xfrm>
            <a:off x="720000" y="1023120"/>
            <a:ext cx="5257440" cy="956880"/>
          </a:xfrm>
          <a:prstGeom prst="rect">
            <a:avLst/>
          </a:prstGeom>
          <a:solidFill>
            <a:schemeClr val="lt1"/>
          </a:solidFill>
          <a:ln w="38160">
            <a:solidFill>
              <a:srgbClr val="e5662e"/>
            </a:solidFill>
            <a:miter/>
          </a:ln>
        </p:spPr>
        <p:txBody>
          <a:bodyPr anchor="t">
            <a:norm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600" spc="-1" strike="noStrike">
                <a:solidFill>
                  <a:srgbClr val="1f2b6d"/>
                </a:solidFill>
                <a:latin typeface="Arial"/>
              </a:rPr>
              <a:t>Приемущества Git над SVN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9" name="Объект 4"/>
          <p:cNvSpPr txBox="1"/>
          <p:nvPr/>
        </p:nvSpPr>
        <p:spPr>
          <a:xfrm>
            <a:off x="6442560" y="1023120"/>
            <a:ext cx="5257440" cy="956880"/>
          </a:xfrm>
          <a:prstGeom prst="rect">
            <a:avLst/>
          </a:prstGeom>
          <a:solidFill>
            <a:schemeClr val="lt1"/>
          </a:solidFill>
          <a:ln w="38160">
            <a:solidFill>
              <a:srgbClr val="e5662e"/>
            </a:solidFill>
            <a:miter/>
          </a:ln>
        </p:spPr>
        <p:txBody>
          <a:bodyPr anchor="t">
            <a:normAutofit/>
          </a:bodyPr>
          <a:p>
            <a:pPr algn="ctr"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600" spc="-1" strike="noStrike">
                <a:solidFill>
                  <a:srgbClr val="1f2b6d"/>
                </a:solidFill>
                <a:latin typeface="Arial"/>
              </a:rPr>
              <a:t>Приемущест</a:t>
            </a:r>
            <a:r>
              <a:rPr b="0" lang="ru-RU" sz="2600" spc="-1" strike="noStrike">
                <a:solidFill>
                  <a:srgbClr val="1f2b6d"/>
                </a:solidFill>
                <a:latin typeface="Arial"/>
              </a:rPr>
              <a:t>ва SVN над </a:t>
            </a:r>
            <a:r>
              <a:rPr b="0" lang="ru-RU" sz="2600" spc="-1" strike="noStrike">
                <a:solidFill>
                  <a:srgbClr val="1f2b6d"/>
                </a:solidFill>
                <a:latin typeface="Arial"/>
              </a:rPr>
              <a:t>Git</a:t>
            </a:r>
            <a:endParaRPr b="0" lang="en-US" sz="2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4BCF952A-D20C-4A10-AD54-CD64D7849322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title"/>
          </p:nvPr>
        </p:nvSpPr>
        <p:spPr>
          <a:xfrm>
            <a:off x="838080" y="25200"/>
            <a:ext cx="10515240" cy="7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Итоговые свойства разрабатываемой системы.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1" name="PlaceHolder 2"/>
          <p:cNvSpPr>
            <a:spLocks noGrp="1"/>
          </p:cNvSpPr>
          <p:nvPr>
            <p:ph/>
          </p:nvPr>
        </p:nvSpPr>
        <p:spPr>
          <a:xfrm>
            <a:off x="0" y="7584120"/>
            <a:ext cx="10515240" cy="530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2" name="TextBox 13"/>
          <p:cNvSpPr/>
          <p:nvPr/>
        </p:nvSpPr>
        <p:spPr>
          <a:xfrm>
            <a:off x="540000" y="1800000"/>
            <a:ext cx="11520000" cy="404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e5662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ru-RU" sz="1800" spc="-1" strike="noStrike">
                <a:solidFill>
                  <a:srgbClr val="1f2b6d"/>
                </a:solidFill>
                <a:latin typeface="Arial"/>
              </a:rPr>
              <a:t>Возьмем от SVN: </a:t>
            </a:r>
            <a:r>
              <a:rPr b="0" lang="ru-RU" sz="1800" spc="-1" strike="noStrike">
                <a:solidFill>
                  <a:srgbClr val="1f2b6d"/>
                </a:solidFill>
                <a:latin typeface="Arial"/>
              </a:rPr>
              <a:t>линейную историю коммитов, и механизм разрешения конфликтов.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Box 1"/>
          <p:cNvSpPr/>
          <p:nvPr/>
        </p:nvSpPr>
        <p:spPr>
          <a:xfrm>
            <a:off x="540000" y="2254320"/>
            <a:ext cx="11520000" cy="403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e5662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ru-RU" sz="1800" spc="-1" strike="noStrike">
                <a:solidFill>
                  <a:srgbClr val="1f2b6d"/>
                </a:solidFill>
                <a:latin typeface="Arial"/>
              </a:rPr>
              <a:t>Возьмем от Git: </a:t>
            </a:r>
            <a:r>
              <a:rPr b="0" lang="ru-RU" sz="1800" spc="-1" strike="noStrike">
                <a:solidFill>
                  <a:srgbClr val="1f2b6d"/>
                </a:solidFill>
                <a:latin typeface="Arial"/>
              </a:rPr>
              <a:t>хранение локально истории коммитов и механизм дедупликации.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1429A16F-B3C2-408F-BA20-6744DBAFEE8A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838080" y="25200"/>
            <a:ext cx="10515240" cy="7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Подходящие объекты метаданных для задачи УИР.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5" name="Объект 2"/>
          <p:cNvSpPr/>
          <p:nvPr/>
        </p:nvSpPr>
        <p:spPr>
          <a:xfrm>
            <a:off x="720000" y="1600200"/>
            <a:ext cx="10389960" cy="365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e5662e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ru-RU" sz="2400" spc="-1" strike="noStrike">
                <a:solidFill>
                  <a:srgbClr val="1f2b6d"/>
                </a:solidFill>
                <a:latin typeface="Arial"/>
              </a:rPr>
              <a:t>Со</a:t>
            </a:r>
            <a:r>
              <a:rPr b="1" lang="ru-RU" sz="2400" spc="-1" strike="noStrike">
                <a:solidFill>
                  <a:srgbClr val="1f2b6d"/>
                </a:solidFill>
                <a:latin typeface="Arial"/>
              </a:rPr>
              <a:t>стояние единицы хранения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: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ru-RU" sz="2400" spc="-1" strike="noStrike">
                <a:solidFill>
                  <a:srgbClr val="1f2b6d"/>
                </a:solidFill>
                <a:latin typeface="Arial"/>
              </a:rPr>
              <a:t>Состояние конфликтной ситуации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: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ru-RU" sz="2400" spc="-1" strike="noStrike">
                <a:solidFill>
                  <a:srgbClr val="1f2b6d"/>
                </a:solidFill>
                <a:latin typeface="Arial"/>
              </a:rPr>
              <a:t>Состояние узла хранения: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mc:AlternateContent>
        <mc:Choice xmlns:a14="http://schemas.microsoft.com/office/drawing/2010/main" Requires="a14">
          <p:sp>
            <p:nvSpPr>
              <p:cNvPr id="396" name=""/>
              <p:cNvSpPr txBox="1"/>
              <p:nvPr/>
            </p:nvSpPr>
            <p:spPr>
              <a:xfrm>
                <a:off x="5983920" y="1884960"/>
                <a:ext cx="3736080" cy="18540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FileState</m:t>
                    </m:r>
                    <m:r>
                      <m:t xml:space="preserve">=</m:t>
                    </m:r>
                    <m:d>
                      <m:dPr>
                        <m:begChr m:val="⟨"/>
                        <m:endChr m:val="⟩"/>
                      </m:dPr>
                      <m:e>
                        <m:r>
                          <m:rPr>
                            <m:lit/>
                            <m:nor/>
                          </m:rPr>
                          <m:t xml:space="preserve">path</m:t>
                        </m:r>
                        <m:r>
                          <m:t xml:space="preserve">,</m:t>
                        </m:r>
                        <m:r>
                          <m:rPr>
                            <m:lit/>
                            <m:nor/>
                          </m:rPr>
                          <m:t xml:space="preserve">base_hash</m:t>
                        </m:r>
                        <m:r>
                          <m:t xml:space="preserve">,</m:t>
                        </m:r>
                        <m:r>
                          <m:rPr>
                            <m:lit/>
                            <m:nor/>
                          </m:rPr>
                          <m:t xml:space="preserve">local_hash</m:t>
                        </m:r>
                        <m:r>
                          <m:t xml:space="preserve">,</m:t>
                        </m:r>
                        <m:r>
                          <m:rPr>
                            <m:lit/>
                            <m:nor/>
                          </m:rPr>
                          <m:t xml:space="preserve">server_hash</m:t>
                        </m:r>
                        <m:r>
                          <m:t xml:space="preserve">,</m:t>
                        </m:r>
                        <m:r>
                          <m:rPr>
                            <m:lit/>
                            <m:nor/>
                          </m:rPr>
                          <m:t xml:space="preserve">status</m:t>
                        </m:r>
                      </m:e>
                    </m:d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397" name=""/>
              <p:cNvSpPr txBox="1"/>
              <p:nvPr/>
            </p:nvSpPr>
            <p:spPr>
              <a:xfrm>
                <a:off x="6660000" y="2393640"/>
                <a:ext cx="1995480" cy="138636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Conflict</m:t>
                    </m:r>
                    <m:r>
                      <m:t xml:space="preserve">=</m:t>
                    </m:r>
                    <m:d>
                      <m:dPr>
                        <m:begChr m:val="⟨"/>
                        <m:endChr m:val="⟩"/>
                      </m:dPr>
                      <m:e>
                        <m:m>
                          <m:mr>
                            <m:e>
                              <m:r>
                                <m:rPr>
                                  <m:lit/>
                                  <m:nor/>
                                </m:rPr>
                                <m:t xml:space="preserve">path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lit/>
                                  <m:nor/>
                                </m:rPr>
                                <m:t xml:space="preserve">base_blob_hash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lit/>
                                  <m:nor/>
                                </m:rPr>
                                <m:t xml:space="preserve">local_blob_hash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lit/>
                                  <m:nor/>
                                </m:rPr>
                                <m:t xml:space="preserve">server_blob_hash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lit/>
                                  <m:nor/>
                                </m:rPr>
                                <m:t xml:space="preserve">resolved_blob_hash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lit/>
                                  <m:nor/>
                                </m:rPr>
                                <m:t xml:space="preserve">resolved_by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lit/>
                                  <m:nor/>
                                </m:rPr>
                                <m:t xml:space="preserve">resolved_at</m:t>
                              </m:r>
                            </m:e>
                          </m:mr>
                        </m:m>
                      </m:e>
                    </m:d>
                  </m:oMath>
                </a14:m>
              </a:p>
            </p:txBody>
          </p:sp>
        </mc:Choice>
        <mc:Fallback/>
      </mc:AlternateContent>
      <mc:AlternateContent>
        <mc:Choice xmlns:a14="http://schemas.microsoft.com/office/drawing/2010/main" Requires="a14">
          <p:sp>
            <p:nvSpPr>
              <p:cNvPr id="398" name=""/>
              <p:cNvSpPr txBox="1"/>
              <p:nvPr/>
            </p:nvSpPr>
            <p:spPr>
              <a:xfrm>
                <a:off x="5414040" y="3490920"/>
                <a:ext cx="1785960" cy="11890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r>
                      <m:t xml:space="preserve">Node</m:t>
                    </m:r>
                    <m:r>
                      <m:t xml:space="preserve">=</m:t>
                    </m:r>
                    <m:d>
                      <m:dPr>
                        <m:begChr m:val="⟨"/>
                        <m:endChr m:val="⟩"/>
                      </m:dPr>
                      <m:e>
                        <m:m>
                          <m:mr>
                            <m:e>
                              <m:r>
                                <m:rPr>
                                  <m:lit/>
                                  <m:nor/>
                                </m:rPr>
                                <m:t xml:space="preserve">node_id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lit/>
                                  <m:nor/>
                                </m:rPr>
                                <m:t xml:space="preserve">node_type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lit/>
                                  <m:nor/>
                                </m:rPr>
                                <m:t xml:space="preserve">current_commit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lit/>
                                  <m:nor/>
                                </m:rPr>
                                <m:t xml:space="preserve">commit_history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lit/>
                                  <m:nor/>
                                </m:rPr>
                                <m:t xml:space="preserve">blob_storage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lit/>
                                  <m:nor/>
                                </m:rPr>
                                <m:t xml:space="preserve">last_sync_snapshot</m:t>
                              </m:r>
                            </m:e>
                          </m:mr>
                        </m:m>
                      </m:e>
                    </m:d>
                  </m:oMath>
                </a14:m>
              </a:p>
            </p:txBody>
          </p:sp>
        </mc:Choice>
        <mc:Fallback/>
      </mc:AlternateContent>
      <p:sp>
        <p:nvSpPr>
          <p:cNvPr id="3" name="PlaceHolder 2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6878429F-468F-4287-AAA5-D413B59076AA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838080" y="25200"/>
            <a:ext cx="10515240" cy="7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Разработка алгоритма синхронизации данных с сервером.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0" name="Объект 10"/>
          <p:cNvSpPr/>
          <p:nvPr/>
        </p:nvSpPr>
        <p:spPr>
          <a:xfrm>
            <a:off x="720000" y="1600200"/>
            <a:ext cx="10389960" cy="253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e5662e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ru-RU" sz="2400" spc="-1" strike="noStrike">
                <a:solidFill>
                  <a:srgbClr val="1f2b6d"/>
                </a:solidFill>
                <a:latin typeface="Arial"/>
              </a:rPr>
              <a:t>Основная идея: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для определения требуемого воздействия в рамах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задачи синхронизации, для каждой единицы хранения необходимо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хранить три хеша: хеш на момент последней синхронизации, хеш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файла на сервере в текущий момент, хеш файла на локальном узле в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текущий момент.</a:t>
            </a:r>
            <a:endParaRPr b="1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F0AF5F31-DFA8-4E40-818D-D8C6F0F8A4D9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838080" y="25200"/>
            <a:ext cx="10515240" cy="7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Состояния для работы алгоритма синхронизации.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402" name=""/>
          <p:cNvGraphicFramePr/>
          <p:nvPr/>
        </p:nvGraphicFramePr>
        <p:xfrm>
          <a:off x="580320" y="1048320"/>
          <a:ext cx="3309120" cy="7380360"/>
        </p:xfrm>
        <a:graphic>
          <a:graphicData uri="http://schemas.openxmlformats.org/drawingml/2006/table">
            <a:tbl>
              <a:tblPr/>
              <a:tblGrid>
                <a:gridCol w="1681560"/>
                <a:gridCol w="1627560"/>
              </a:tblGrid>
              <a:tr h="32544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Liberation Serif;Times New Roman"/>
                        </a:rPr>
                        <a:t>Условие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Liberation Serif;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Liberation Serif;Times New Roman"/>
                        </a:rPr>
                        <a:t>Статус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Liberation Serif;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78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Liberation Serif;Times New Roman"/>
                        </a:rPr>
                        <a:t>`local_hash == server_hash`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Liberation Serif;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Liberation Serif;Times New Roman"/>
                        </a:rPr>
                        <a:t>synced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Liberation Serif;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59084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Liberation Serif;Times New Roman"/>
                        </a:rPr>
                        <a:t>`local_hash == base_hash`, `server_hash != base_hash`, `server_hash != null`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Liberation Serif;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Liberation Serif;Times New Roman"/>
                        </a:rPr>
                        <a:t>server_modified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Liberation Serif;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3776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Liberation Serif;Times New Roman"/>
                        </a:rPr>
                        <a:t>`local_hash == base_hash`, `server_hash == null`, `base_hash != null`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Liberation Serif;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Liberation Serif;Times New Roman"/>
                        </a:rPr>
                        <a:t>server_deleted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Liberation Serif;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0846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Liberation Serif;Times New Roman"/>
                        </a:rPr>
                        <a:t>`local_hash != base_hash`, `server_hash == base_hash`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Liberation Serif;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Liberation Serif;Times New Roman"/>
                        </a:rPr>
                        <a:t>local_modified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Liberation Serif;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03" name=""/>
          <p:cNvGraphicFramePr/>
          <p:nvPr/>
        </p:nvGraphicFramePr>
        <p:xfrm>
          <a:off x="3932640" y="1068480"/>
          <a:ext cx="3992760" cy="4943880"/>
        </p:xfrm>
        <a:graphic>
          <a:graphicData uri="http://schemas.openxmlformats.org/drawingml/2006/table">
            <a:tbl>
              <a:tblPr/>
              <a:tblGrid>
                <a:gridCol w="2767680"/>
                <a:gridCol w="1225080"/>
              </a:tblGrid>
              <a:tr h="12358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Liberation Serif;Times New Roman"/>
                        </a:rPr>
                        <a:t>`local_hash != base_hash`, `server_hash != base_hash`, `local_hash != server_hash`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Liberation Serif;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Liberation Serif;Times New Roman"/>
                        </a:rPr>
                        <a:t>conflict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Liberation Serif;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2358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Liberation Serif;Times New Roman"/>
                        </a:rPr>
                        <a:t>`base_hash == null`, `local_hash != null`, `server_hash == null`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Liberation Serif;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Liberation Serif;Times New Roman"/>
                        </a:rPr>
                        <a:t>new_local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Liberation Serif;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2358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Liberation Serif;Times New Roman"/>
                        </a:rPr>
                        <a:t>`base_hash == null`, `local_hash == null`, `server_hash != null`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Liberation Serif;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Liberation Serif;Times New Roman"/>
                        </a:rPr>
                        <a:t>new_server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Liberation Serif;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2366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Liberation Serif;Times New Roman"/>
                        </a:rPr>
                        <a:t>`base_hash == null`, `local_hash != null`, `server_hash != null`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Liberation Serif;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Liberation Serif;Times New Roman"/>
                        </a:rPr>
                        <a:t>independent_creation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Liberation Serif;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04" name=""/>
          <p:cNvGraphicFramePr/>
          <p:nvPr/>
        </p:nvGraphicFramePr>
        <p:xfrm>
          <a:off x="8100000" y="1080000"/>
          <a:ext cx="3959640" cy="4858920"/>
        </p:xfrm>
        <a:graphic>
          <a:graphicData uri="http://schemas.openxmlformats.org/drawingml/2006/table">
            <a:tbl>
              <a:tblPr/>
              <a:tblGrid>
                <a:gridCol w="2376720"/>
                <a:gridCol w="1582920"/>
              </a:tblGrid>
              <a:tr h="1802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Liberation Serif;Times New Roman"/>
                        </a:rPr>
                        <a:t>`local_hash == null`, `base_hash != null`, `server_hash != base_hash`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Liberation Serif;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Liberation Serif;Times New Roman"/>
                        </a:rPr>
                        <a:t>local_deleted_server_modified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Liberation Serif;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8025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Liberation Serif;Times New Roman"/>
                        </a:rPr>
                        <a:t>`server_hash == null`, `base_hash != null`, `local_hash != base_hash`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Liberation Serif;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Liberation Serif;Times New Roman"/>
                        </a:rPr>
                        <a:t>server_deleted_local_modified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Liberation Serif;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2538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Liberation Serif;Times New Roman"/>
                        </a:rPr>
                        <a:t>`local_hash == null`, `server_hash == null`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Liberation Serif;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ru-RU" sz="1800" spc="-1" strike="noStrike">
                          <a:solidFill>
                            <a:srgbClr val="000000"/>
                          </a:solidFill>
                          <a:latin typeface="Liberation Serif;Times New Roman"/>
                        </a:rPr>
                        <a:t>deleted_both</a:t>
                      </a:r>
                      <a:endParaRPr b="0" lang="ru-RU" sz="1800" spc="-1" strike="noStrike">
                        <a:solidFill>
                          <a:srgbClr val="000000"/>
                        </a:solidFill>
                        <a:latin typeface="Liberation Serif;Times New Roman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07D42178-3C1E-44F2-B075-19985615AC61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841320" y="136080"/>
            <a:ext cx="10453320" cy="59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Работа алгоритма синхронизации  при наличии конфликта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406" name="" descr=""/>
          <p:cNvPicPr/>
          <p:nvPr/>
        </p:nvPicPr>
        <p:blipFill>
          <a:blip r:embed="rId1"/>
          <a:stretch/>
        </p:blipFill>
        <p:spPr>
          <a:xfrm>
            <a:off x="1059480" y="879480"/>
            <a:ext cx="4802760" cy="5420520"/>
          </a:xfrm>
          <a:prstGeom prst="rect">
            <a:avLst/>
          </a:prstGeom>
          <a:ln w="0">
            <a:noFill/>
          </a:ln>
        </p:spPr>
      </p:pic>
      <p:pic>
        <p:nvPicPr>
          <p:cNvPr id="407" name="" descr=""/>
          <p:cNvPicPr/>
          <p:nvPr/>
        </p:nvPicPr>
        <p:blipFill>
          <a:blip r:embed="rId2"/>
          <a:stretch/>
        </p:blipFill>
        <p:spPr>
          <a:xfrm>
            <a:off x="7199280" y="882360"/>
            <a:ext cx="3713760" cy="54176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281E615C-4BF4-4EA1-8A11-A6FE1307317E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841320" y="136080"/>
            <a:ext cx="3838680" cy="436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Работа алгоритма синхронизации после разрешения конликта.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409" name="" descr=""/>
          <p:cNvPicPr/>
          <p:nvPr/>
        </p:nvPicPr>
        <p:blipFill>
          <a:blip r:embed="rId1"/>
          <a:stretch/>
        </p:blipFill>
        <p:spPr>
          <a:xfrm>
            <a:off x="7560000" y="86400"/>
            <a:ext cx="3600000" cy="63936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A4A79183-B154-4E96-A5B1-A8BA08E550F1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838080" y="25200"/>
            <a:ext cx="10515240" cy="7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Проектирование системы синхронизации.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1" name="Объект 11"/>
          <p:cNvSpPr/>
          <p:nvPr/>
        </p:nvSpPr>
        <p:spPr>
          <a:xfrm>
            <a:off x="540000" y="1440000"/>
            <a:ext cx="10569960" cy="3817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e5662e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Была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выбранна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клиент-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серверная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архитектур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а, за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маштабиру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емость.</a:t>
            </a:r>
            <a:br>
              <a:rPr sz="2400"/>
            </a:b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Так же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было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решено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использова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ть Docker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для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переносим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ости.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К качестве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системы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хранения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матаданны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х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использов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алась база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данных 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PostgreSQ</a:t>
            </a:r>
            <a:r>
              <a:rPr b="0" lang="ru-RU" sz="2400" spc="-1" strike="noStrike">
                <a:solidFill>
                  <a:srgbClr val="1f2b6d"/>
                </a:solidFill>
                <a:latin typeface="Arial"/>
              </a:rPr>
              <a:t>L.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F10A3D6F-2B9D-48C2-8CDC-7ED3C3155A17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960000" y="162360"/>
            <a:ext cx="4248360" cy="631764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62B117FE-A7B0-4C65-B508-485B00A7C9E1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838080" y="25200"/>
            <a:ext cx="10515240" cy="7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Схема базы данных для описание процесса работы системы.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414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544400" y="900000"/>
            <a:ext cx="8355600" cy="55800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40"/>
          </p:nvPr>
        </p:nvSpPr>
        <p:spPr/>
        <p:txBody>
          <a:bodyPr/>
          <a:p>
            <a:fld id="{8157F3FE-F27F-4FF1-A633-6461B4D99065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838080" y="25200"/>
            <a:ext cx="10515240" cy="7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Пример исходного кода приложения.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416" name="" descr=""/>
          <p:cNvPicPr/>
          <p:nvPr/>
        </p:nvPicPr>
        <p:blipFill>
          <a:blip r:embed="rId1"/>
          <a:stretch/>
        </p:blipFill>
        <p:spPr>
          <a:xfrm>
            <a:off x="5580000" y="773280"/>
            <a:ext cx="5532840" cy="5760000"/>
          </a:xfrm>
          <a:prstGeom prst="rect">
            <a:avLst/>
          </a:prstGeom>
          <a:ln w="0">
            <a:noFill/>
          </a:ln>
        </p:spPr>
      </p:pic>
      <p:sp>
        <p:nvSpPr>
          <p:cNvPr id="417" name="Заголовок 12"/>
          <p:cNvSpPr txBox="1"/>
          <p:nvPr/>
        </p:nvSpPr>
        <p:spPr>
          <a:xfrm>
            <a:off x="720000" y="1800000"/>
            <a:ext cx="3780000" cy="4140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defTabSz="914400">
              <a:lnSpc>
                <a:spcPct val="90000"/>
              </a:lnSpc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На нем можно видеть генерацию Swagger документации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4A38A801-9785-462E-B7E6-DCB6A74718C1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838080" y="25200"/>
            <a:ext cx="11354040" cy="7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Документация на API в понятном виде(Swagger)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9" name="TextBox 16"/>
          <p:cNvSpPr/>
          <p:nvPr/>
        </p:nvSpPr>
        <p:spPr>
          <a:xfrm>
            <a:off x="3011040" y="3279960"/>
            <a:ext cx="61362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420" name="" descr=""/>
          <p:cNvPicPr/>
          <p:nvPr/>
        </p:nvPicPr>
        <p:blipFill>
          <a:blip r:embed="rId1"/>
          <a:stretch/>
        </p:blipFill>
        <p:spPr>
          <a:xfrm>
            <a:off x="1590480" y="1033200"/>
            <a:ext cx="8669520" cy="52668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5D164367-36F5-41B5-9BE2-B84CE160F89A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838080" y="25200"/>
            <a:ext cx="10515240" cy="7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600" spc="-1" strike="noStrike">
                <a:solidFill>
                  <a:schemeClr val="dk1"/>
                </a:solidFill>
                <a:latin typeface="Calibri Light"/>
              </a:rPr>
              <a:t>Тестирование приложения через GUI.</a:t>
            </a:r>
            <a:endParaRPr b="0" lang="en-US" sz="36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422" name="" descr=""/>
          <p:cNvPicPr/>
          <p:nvPr/>
        </p:nvPicPr>
        <p:blipFill>
          <a:blip r:embed="rId1"/>
          <a:stretch/>
        </p:blipFill>
        <p:spPr>
          <a:xfrm>
            <a:off x="1410480" y="884880"/>
            <a:ext cx="9209520" cy="5595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B89A3B8F-0902-4AA7-BCE3-CAD07AABA8D6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TextBox 4"/>
          <p:cNvSpPr/>
          <p:nvPr/>
        </p:nvSpPr>
        <p:spPr>
          <a:xfrm>
            <a:off x="4473000" y="4809960"/>
            <a:ext cx="32457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ru-RU" sz="2200" spc="-1" strike="noStrike">
                <a:solidFill>
                  <a:schemeClr val="dk1"/>
                </a:solidFill>
                <a:latin typeface="Arial Black"/>
              </a:rPr>
              <a:t>Спасибо за внимание!</a:t>
            </a:r>
            <a:endParaRPr b="0" lang="ru-RU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4" name="Рисунок 1" descr=""/>
          <p:cNvPicPr/>
          <p:nvPr/>
        </p:nvPicPr>
        <p:blipFill>
          <a:blip r:embed="rId1"/>
          <a:stretch/>
        </p:blipFill>
        <p:spPr>
          <a:xfrm>
            <a:off x="4432320" y="1130400"/>
            <a:ext cx="3327120" cy="331740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E4E2DE-4587-4ED9-A2F1-E80F01111847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1805</TotalTime>
  <Application>LibreOffice/24.2.7.2$Linux_X86_64 LibreOffice_project/420$Build-2</Application>
  <AppVersion>15.0000</AppVersion>
  <Words>679</Words>
  <Paragraphs>109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2017-09-30T21:27:42Z</dcterms:created>
  <dc:creator>V. R.</dc:creator>
  <dc:description/>
  <dc:language>ru-RU</dc:language>
  <cp:lastModifiedBy/>
  <dcterms:modified xsi:type="dcterms:W3CDTF">2026-06-19T12:29:53Z</dcterms:modified>
  <cp:revision>36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20</vt:i4>
  </property>
</Properties>
</file>