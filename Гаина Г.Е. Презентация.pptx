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_rels/slideMaster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slideMaster1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6.xml" ContentType="application/vnd.openxmlformats-officedocument.theme+xml"/>
  <Override PartName="/ppt/theme/theme15.xml" ContentType="application/vnd.openxmlformats-officedocument.theme+xml"/>
  <Override PartName="/ppt/theme/theme5.xml" ContentType="application/vnd.openxmlformats-officedocument.theme+xml"/>
  <Override PartName="/ppt/theme/theme14.xml" ContentType="application/vnd.openxmlformats-officedocument.theme+xml"/>
  <Override PartName="/ppt/theme/theme4.xml" ContentType="application/vnd.openxmlformats-officedocument.theme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13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svg" ContentType="image/svg"/>
  <Override PartName="/ppt/media/image9.png" ContentType="image/png"/>
  <Override PartName="/ppt/media/image7.png" ContentType="image/png"/>
  <Override PartName="/ppt/media/image11.png" ContentType="image/png"/>
  <Override PartName="/ppt/media/image8.svg" ContentType="image/svg"/>
  <Override PartName="/ppt/media/image10.png" ContentType="image/png"/>
  <Override PartName="/ppt/media/image12.png" ContentType="image/png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37"/>
    <p:sldId id="275" r:id="rId38"/>
    <p:sldId id="276" r:id="rId39"/>
    <p:sldId id="277" r:id="rId4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slide" Target="slides/slide19.xml"/><Relationship Id="rId38" Type="http://schemas.openxmlformats.org/officeDocument/2006/relationships/slide" Target="slides/slide20.xml"/><Relationship Id="rId39" Type="http://schemas.openxmlformats.org/officeDocument/2006/relationships/slide" Target="slides/slide21.xml"/><Relationship Id="rId40" Type="http://schemas.openxmlformats.org/officeDocument/2006/relationships/slide" Target="slides/slide22.xml"/><Relationship Id="rId4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EE26212-8A52-4C4B-8944-E149DEB5400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FD7F1686-A901-4D36-9A61-6D48ABF9101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ECACADAE-F014-4C53-B0B6-773D3F263DE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3C8E1EA8-05FB-4A82-925B-110DD67B3B7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57DA8051-0F1C-4C69-9855-13F35BEB293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EB344B12-2CF0-4D2E-9D2A-37C0A19F7AF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Два рисун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9"/>
          </p:nvPr>
        </p:nvSpPr>
        <p:spPr/>
        <p:txBody>
          <a:bodyPr/>
          <a:p>
            <a:fld id="{735D06C2-6A95-468D-BD1E-E13D9FA07810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7FD9AE7D-FBDC-4FD9-BA11-40AA968FCB2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A44E896B-E76E-4FB5-AC00-92F2F89EC58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8"/>
          </p:nvPr>
        </p:nvSpPr>
        <p:spPr/>
        <p:txBody>
          <a:bodyPr/>
          <a:p>
            <a:fld id="{FA86EA72-8F3B-4A60-BB5F-9D0436E85C3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1"/>
          </p:nvPr>
        </p:nvSpPr>
        <p:spPr/>
        <p:txBody>
          <a:bodyPr/>
          <a:p>
            <a:fld id="{DD25761C-6151-4D5F-A498-A021D08FC87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4"/>
          </p:nvPr>
        </p:nvSpPr>
        <p:spPr/>
        <p:txBody>
          <a:bodyPr/>
          <a:p>
            <a:fld id="{C0C9021E-DEA9-43B3-95C6-30BC9CF70EB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7"/>
          </p:nvPr>
        </p:nvSpPr>
        <p:spPr/>
        <p:txBody>
          <a:bodyPr/>
          <a:p>
            <a:fld id="{42662834-1FC6-4AB0-816B-FC87FFF4580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Заголовок и объект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0"/>
          </p:nvPr>
        </p:nvSpPr>
        <p:spPr/>
        <p:txBody>
          <a:bodyPr/>
          <a:p>
            <a:fld id="{C852CE1A-D9C9-433B-AE8C-4AD8BB3FFFC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8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7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Прямоугольник 21"/>
          <p:cNvSpPr/>
          <p:nvPr/>
        </p:nvSpPr>
        <p:spPr>
          <a:xfrm rot="5400000">
            <a:off x="-3276720" y="3268440"/>
            <a:ext cx="6906240" cy="369000"/>
          </a:xfrm>
          <a:prstGeom prst="rect">
            <a:avLst/>
          </a:prstGeom>
          <a:solidFill>
            <a:srgbClr val="537599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TextBox 19"/>
          <p:cNvSpPr/>
          <p:nvPr/>
        </p:nvSpPr>
        <p:spPr>
          <a:xfrm>
            <a:off x="-2880" y="8280"/>
            <a:ext cx="356760" cy="796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01010100010010010010101010101010000001010101011111101010101010111111111110010010010101000101001010101001010010101001010010000001000011</a:t>
            </a:r>
            <a:r>
              <a:rPr b="0" lang="en-US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100100100100001010000101111111111110101010100100101111110010001000101011111000000100101101010101010101000011110</a:t>
            </a: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00110000100101010010111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Прямоугольник 6"/>
          <p:cNvSpPr/>
          <p:nvPr/>
        </p:nvSpPr>
        <p:spPr>
          <a:xfrm>
            <a:off x="0" y="6556680"/>
            <a:ext cx="12191760" cy="369000"/>
          </a:xfrm>
          <a:prstGeom prst="rect">
            <a:avLst/>
          </a:prstGeom>
          <a:solidFill>
            <a:srgbClr val="537599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TextBox 7"/>
          <p:cNvSpPr/>
          <p:nvPr/>
        </p:nvSpPr>
        <p:spPr>
          <a:xfrm>
            <a:off x="-8640" y="6562440"/>
            <a:ext cx="12195360" cy="5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1010100010010010010101010101010000001010101011111101010101010111111111110010010010101000101001010101001010010101001010010000001000010010101010101010111111111010000100101010111101010101010101101010101010100110011010101010100000100101010010001000100101111111010111101011111010111111110101010101101010101001010101010110110101111110110101</a:t>
            </a:r>
            <a:r>
              <a:rPr b="0" lang="en-US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000010010100100100100001010000101111111111110101010100100101111110010001000101011111000000100101101010101010101000011110</a:t>
            </a: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00110000100101010010111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TextBox 11"/>
          <p:cNvSpPr/>
          <p:nvPr/>
        </p:nvSpPr>
        <p:spPr>
          <a:xfrm>
            <a:off x="10315080" y="6541920"/>
            <a:ext cx="996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Calibri"/>
              </a:rPr>
              <a:t>www.kaf22.ru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Box 12"/>
          <p:cNvSpPr/>
          <p:nvPr/>
        </p:nvSpPr>
        <p:spPr>
          <a:xfrm>
            <a:off x="9489600" y="6355440"/>
            <a:ext cx="18273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000" spc="-1" strike="noStrike">
                <a:solidFill>
                  <a:srgbClr val="537599"/>
                </a:solidFill>
                <a:latin typeface="Calibri"/>
              </a:rPr>
              <a:t>Кафедра №22 «Кибернетика»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Овал 13"/>
          <p:cNvSpPr/>
          <p:nvPr/>
        </p:nvSpPr>
        <p:spPr>
          <a:xfrm>
            <a:off x="16200" y="6006600"/>
            <a:ext cx="899640" cy="899640"/>
          </a:xfrm>
          <a:prstGeom prst="ellipse">
            <a:avLst/>
          </a:prstGeom>
          <a:solidFill>
            <a:srgbClr val="ffffff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" name="Рисунок 14" descr=""/>
          <p:cNvPicPr/>
          <p:nvPr/>
        </p:nvPicPr>
        <p:blipFill>
          <a:blip r:embed="rId2"/>
          <a:stretch/>
        </p:blipFill>
        <p:spPr>
          <a:xfrm>
            <a:off x="28800" y="6021360"/>
            <a:ext cx="874440" cy="872640"/>
          </a:xfrm>
          <a:prstGeom prst="rect">
            <a:avLst/>
          </a:prstGeom>
          <a:ln w="0">
            <a:noFill/>
          </a:ln>
        </p:spPr>
      </p:pic>
      <p:sp>
        <p:nvSpPr>
          <p:cNvPr id="8" name="TextBox 15"/>
          <p:cNvSpPr/>
          <p:nvPr/>
        </p:nvSpPr>
        <p:spPr>
          <a:xfrm>
            <a:off x="873000" y="6576120"/>
            <a:ext cx="1048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Calibri"/>
              </a:rPr>
              <a:t>www.mephi.ru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TextBox 16"/>
          <p:cNvSpPr/>
          <p:nvPr/>
        </p:nvSpPr>
        <p:spPr>
          <a:xfrm>
            <a:off x="866880" y="6374520"/>
            <a:ext cx="9738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000" spc="-1" strike="noStrike">
                <a:solidFill>
                  <a:srgbClr val="537599"/>
                </a:solidFill>
                <a:latin typeface="Calibri"/>
              </a:rPr>
              <a:t>НИЯУ МИФИ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0" name="Прямая соединительная линия 17"/>
          <p:cNvCxnSpPr/>
          <p:nvPr/>
        </p:nvCxnSpPr>
        <p:spPr>
          <a:xfrm>
            <a:off x="838080" y="792360"/>
            <a:ext cx="10515960" cy="360"/>
          </a:xfrm>
          <a:prstGeom prst="straightConnector1">
            <a:avLst/>
          </a:prstGeom>
          <a:ln w="22225">
            <a:solidFill>
              <a:srgbClr val="537599"/>
            </a:solidFill>
          </a:ln>
        </p:spPr>
      </p:cxnSp>
      <p:sp>
        <p:nvSpPr>
          <p:cNvPr id="11" name="Овал 18"/>
          <p:cNvSpPr/>
          <p:nvPr/>
        </p:nvSpPr>
        <p:spPr>
          <a:xfrm>
            <a:off x="11271600" y="6006600"/>
            <a:ext cx="899640" cy="899640"/>
          </a:xfrm>
          <a:prstGeom prst="ellipse">
            <a:avLst/>
          </a:prstGeom>
          <a:solidFill>
            <a:srgbClr val="ffffff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" name="Рисунок 10" descr=""/>
          <p:cNvPicPr/>
          <p:nvPr/>
        </p:nvPicPr>
        <p:blipFill>
          <a:blip r:embed="rId3"/>
          <a:stretch/>
        </p:blipFill>
        <p:spPr>
          <a:xfrm>
            <a:off x="11244960" y="6021360"/>
            <a:ext cx="926280" cy="791640"/>
          </a:xfrm>
          <a:prstGeom prst="rect">
            <a:avLst/>
          </a:prstGeom>
          <a:ln w="0">
            <a:noFill/>
          </a:ln>
        </p:spPr>
      </p:pic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1499400" y="3435840"/>
            <a:ext cx="9143640" cy="1055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ru-RU" sz="2400" spc="-1" strike="noStrike">
                <a:solidFill>
                  <a:srgbClr val="92d050"/>
                </a:solidFill>
                <a:latin typeface="Arial"/>
              </a:rPr>
              <a:t>Название </a:t>
            </a:r>
            <a:br>
              <a:rPr sz="2400"/>
            </a:br>
            <a:r>
              <a:rPr b="0" lang="ru-RU" sz="2400" spc="-1" strike="noStrike">
                <a:solidFill>
                  <a:srgbClr val="92d050"/>
                </a:solidFill>
                <a:latin typeface="Arial"/>
              </a:rPr>
              <a:t>выпускной </a:t>
            </a:r>
            <a:r>
              <a:rPr b="0" lang="ru-RU" sz="2400" spc="-1" strike="noStrike">
                <a:solidFill>
                  <a:srgbClr val="92d050"/>
                </a:solidFill>
                <a:latin typeface="Arial"/>
              </a:rPr>
              <a:t>квалификационной </a:t>
            </a:r>
            <a:r>
              <a:rPr b="0" lang="ru-RU" sz="2400" spc="-1" strike="noStrike">
                <a:solidFill>
                  <a:srgbClr val="92d050"/>
                </a:solidFill>
                <a:latin typeface="Arial"/>
              </a:rPr>
              <a:t>работы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" name="Заголовок 1"/>
          <p:cNvSpPr/>
          <p:nvPr/>
        </p:nvSpPr>
        <p:spPr>
          <a:xfrm>
            <a:off x="239400" y="1132560"/>
            <a:ext cx="11952360" cy="147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 fontScale="96604" lnSpcReduction="10000"/>
          </a:bodyPr>
          <a:p>
            <a:pPr algn="ctr" defTabSz="914400">
              <a:lnSpc>
                <a:spcPct val="100000"/>
              </a:lnSpc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ru-RU" sz="1400" spc="-1" strike="noStrike" cap="all">
                <a:solidFill>
                  <a:schemeClr val="dk1"/>
                </a:solidFill>
                <a:latin typeface="Arial"/>
              </a:rPr>
              <a:t>Институт интеллектуальных кибернетических систем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ru-RU" sz="1300" spc="-1" strike="noStrike" cap="all">
                <a:solidFill>
                  <a:schemeClr val="dk1"/>
                </a:solidFill>
                <a:latin typeface="Arial"/>
              </a:rPr>
              <a:t>Кафедра кибернетики (№ 22)</a:t>
            </a:r>
            <a:endParaRPr b="0" lang="ru-RU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1" lang="en-US" sz="1200" spc="-1" strike="noStrike" cap="all">
                <a:solidFill>
                  <a:schemeClr val="dk1"/>
                </a:solidFill>
                <a:latin typeface="Arial"/>
              </a:rPr>
              <a:t>	</a:t>
            </a:r>
            <a:r>
              <a:rPr b="1" lang="en-US" sz="1200" spc="-1" strike="noStrike" cap="all">
                <a:solidFill>
                  <a:schemeClr val="dk1"/>
                </a:solidFill>
                <a:latin typeface="Arial"/>
              </a:rPr>
              <a:t>	</a:t>
            </a:r>
            <a:r>
              <a:rPr b="1" lang="en-US" sz="1200" spc="-1" strike="noStrike" cap="all">
                <a:solidFill>
                  <a:schemeClr val="dk1"/>
                </a:solidFill>
                <a:latin typeface="Arial"/>
              </a:rPr>
              <a:t>	</a:t>
            </a:r>
            <a:r>
              <a:rPr b="1" lang="en-US" sz="1200" spc="-1" strike="noStrike" cap="all">
                <a:solidFill>
                  <a:schemeClr val="dk1"/>
                </a:solidFill>
                <a:latin typeface="Arial"/>
              </a:rPr>
              <a:t>	</a:t>
            </a:r>
            <a:r>
              <a:rPr b="1" lang="ru-RU" sz="1200" spc="-1" strike="noStrike" cap="all">
                <a:solidFill>
                  <a:schemeClr val="dk1"/>
                </a:solidFill>
                <a:latin typeface="Arial"/>
              </a:rPr>
              <a:t>Направление подготовки</a:t>
            </a:r>
            <a:endParaRPr b="0" lang="ru-RU" sz="1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5" name="Таблица 12"/>
          <p:cNvGraphicFramePr/>
          <p:nvPr/>
        </p:nvGraphicFramePr>
        <p:xfrm>
          <a:off x="6341400" y="4582080"/>
          <a:ext cx="5796360" cy="1163880"/>
        </p:xfrm>
        <a:graphic>
          <a:graphicData uri="http://schemas.openxmlformats.org/drawingml/2006/table">
            <a:tbl>
              <a:tblPr/>
              <a:tblGrid>
                <a:gridCol w="3063600"/>
                <a:gridCol w="2732400"/>
              </a:tblGrid>
              <a:tr h="370800">
                <a:tc>
                  <a:txBody>
                    <a:bodyPr lIns="121680" rIns="121680"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b="1" lang="ru-RU" sz="16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Студент:</a:t>
                      </a:r>
                      <a:endParaRPr b="0" lang="ru-RU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21680" marR="1216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121680" rIns="121680" anchor="t">
                      <a:noAutofit/>
                    </a:bodyPr>
                    <a:p>
                      <a:endParaRPr b="0" lang="ru-RU" sz="1600" spc="-1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anchor="t" marL="121680" marR="1216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22280">
                <a:tc>
                  <a:txBody>
                    <a:bodyPr lIns="121680" rIns="121680"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b="1" lang="ru-RU" sz="16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Группа:</a:t>
                      </a:r>
                      <a:endParaRPr b="0" lang="ru-RU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21680" marR="1216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121680" rIns="121680" anchor="t">
                      <a:noAutofit/>
                    </a:bodyPr>
                    <a:p>
                      <a:endParaRPr b="0" lang="ru-RU" sz="1600" spc="-1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anchor="t" marL="121680" marR="1216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70800">
                <a:tc>
                  <a:txBody>
                    <a:bodyPr lIns="121680" rIns="121680"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b="1" lang="ru-RU" sz="16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Научный руководитель:</a:t>
                      </a:r>
                      <a:endParaRPr b="0" lang="ru-RU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21680" marR="1216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121680" rIns="121680" anchor="t">
                      <a:noAutofit/>
                    </a:bodyPr>
                    <a:p>
                      <a:endParaRPr b="0" lang="ru-RU" sz="1600" spc="-1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anchor="t" marL="121680" marR="1216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6" name="TextBox 13"/>
          <p:cNvSpPr/>
          <p:nvPr/>
        </p:nvSpPr>
        <p:spPr>
          <a:xfrm>
            <a:off x="3693600" y="2883240"/>
            <a:ext cx="449388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600" spc="-1" strike="noStrike">
                <a:solidFill>
                  <a:schemeClr val="dk1"/>
                </a:solidFill>
                <a:latin typeface="Arial Black"/>
              </a:rPr>
              <a:t>Учебно-исследовательская работа на тему: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TextBox 14"/>
          <p:cNvSpPr/>
          <p:nvPr/>
        </p:nvSpPr>
        <p:spPr>
          <a:xfrm>
            <a:off x="5195520" y="6232680"/>
            <a:ext cx="14904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</a:rPr>
              <a:t>Москва, 20</a:t>
            </a: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2</a:t>
            </a:r>
            <a:r>
              <a:rPr b="0" lang="ru-RU" sz="1600" spc="-1" strike="noStrike">
                <a:solidFill>
                  <a:schemeClr val="dk1"/>
                </a:solidFill>
                <a:latin typeface="Calibri"/>
              </a:rPr>
              <a:t>6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Прямоугольник 1"/>
          <p:cNvSpPr/>
          <p:nvPr/>
        </p:nvSpPr>
        <p:spPr>
          <a:xfrm>
            <a:off x="595440" y="-2520"/>
            <a:ext cx="11534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ru-RU" sz="1600" spc="-1" strike="noStrike">
                <a:solidFill>
                  <a:schemeClr val="dk1"/>
                </a:solidFill>
                <a:latin typeface="Arial"/>
              </a:rPr>
              <a:t>МИНИСТЕРСТВО НАУКИ И ВЫСШЕГО ОБРАЗОВАНИЯ РОССИЙСКОЙ  ФЕДЕРАЦИИ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ru-RU" sz="1600" spc="-1" strike="noStrike">
                <a:solidFill>
                  <a:schemeClr val="dk1"/>
                </a:solidFill>
                <a:latin typeface="Arial"/>
              </a:rPr>
              <a:t>Федеральное государственное автономное образовательное учреждение высшего образования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ru-RU" sz="1600" spc="-1" strike="noStrike">
                <a:solidFill>
                  <a:schemeClr val="dk1"/>
                </a:solidFill>
                <a:latin typeface="Arial"/>
              </a:rPr>
              <a:t> </a:t>
            </a:r>
            <a:r>
              <a:rPr b="1" lang="ru-RU" sz="1600" spc="-1" strike="noStrike">
                <a:solidFill>
                  <a:schemeClr val="dk1"/>
                </a:solidFill>
                <a:latin typeface="Arial"/>
              </a:rPr>
              <a:t>«Национальный исследовательский ядерный университет «МИФИ»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Заголовок 6"/>
          <p:cNvSpPr/>
          <p:nvPr/>
        </p:nvSpPr>
        <p:spPr>
          <a:xfrm>
            <a:off x="6329520" y="2262600"/>
            <a:ext cx="4257000" cy="35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defTabSz="914400">
              <a:lnSpc>
                <a:spcPct val="90000"/>
              </a:lnSpc>
            </a:pPr>
            <a:r>
              <a:rPr b="1" lang="ru-RU" sz="1100" spc="-1" strike="noStrike">
                <a:solidFill>
                  <a:schemeClr val="dk1"/>
                </a:solidFill>
                <a:latin typeface="Arial"/>
              </a:rPr>
              <a:t>09.03.04 ПРОГРАММНАЯ ИНЖЕНЕРИЯ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9328320" y="4641120"/>
            <a:ext cx="2184120" cy="28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93198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rgbClr val="92d050"/>
                </a:solidFill>
                <a:latin typeface="Calibri"/>
              </a:rPr>
              <a:t>[</a:t>
            </a:r>
            <a:r>
              <a:rPr b="0" lang="ru-RU" sz="1600" spc="-1" strike="noStrike">
                <a:solidFill>
                  <a:srgbClr val="92d050"/>
                </a:solidFill>
                <a:latin typeface="Calibri"/>
              </a:rPr>
              <a:t>Иванов И.И.</a:t>
            </a:r>
            <a:r>
              <a:rPr b="0" lang="en-US" sz="1600" spc="-1" strike="noStrike">
                <a:solidFill>
                  <a:srgbClr val="92d050"/>
                </a:solidFill>
                <a:latin typeface="Calibri"/>
              </a:rPr>
              <a:t>]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9328320" y="4996080"/>
            <a:ext cx="2184120" cy="29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1600" spc="-1" strike="noStrike">
                <a:solidFill>
                  <a:srgbClr val="92d050"/>
                </a:solidFill>
                <a:latin typeface="Calibri"/>
              </a:rPr>
              <a:t>Б17-594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9323640" y="5461920"/>
            <a:ext cx="2184120" cy="58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6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1600" spc="-1" strike="noStrike">
                <a:solidFill>
                  <a:srgbClr val="92d050"/>
                </a:solidFill>
                <a:latin typeface="Calibri"/>
              </a:rPr>
              <a:t>к.т.н., доцент 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6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1600" spc="-1" strike="noStrike">
                <a:solidFill>
                  <a:srgbClr val="92d050"/>
                </a:solidFill>
                <a:latin typeface="Calibri"/>
              </a:rPr>
              <a:t>Петров П.П.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Прямоугольник 21"/>
          <p:cNvSpPr/>
          <p:nvPr/>
        </p:nvSpPr>
        <p:spPr>
          <a:xfrm rot="5400000">
            <a:off x="-3276720" y="3268440"/>
            <a:ext cx="6906240" cy="369000"/>
          </a:xfrm>
          <a:prstGeom prst="rect">
            <a:avLst/>
          </a:prstGeom>
          <a:solidFill>
            <a:srgbClr val="537599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TextBox 19"/>
          <p:cNvSpPr/>
          <p:nvPr/>
        </p:nvSpPr>
        <p:spPr>
          <a:xfrm>
            <a:off x="-2880" y="8280"/>
            <a:ext cx="356760" cy="796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01010100010010010010101010101010000001010101011111101010101010111111111110010010010101000101001010101001010010101001010010000001000011</a:t>
            </a:r>
            <a:r>
              <a:rPr b="0" lang="en-US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100100100100001010000101111111111110101010100100101111110010001000101011111000000100101101010101010101000011110</a:t>
            </a: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00110000100101010010111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Прямоугольник 6"/>
          <p:cNvSpPr/>
          <p:nvPr/>
        </p:nvSpPr>
        <p:spPr>
          <a:xfrm>
            <a:off x="0" y="6556680"/>
            <a:ext cx="12191760" cy="369000"/>
          </a:xfrm>
          <a:prstGeom prst="rect">
            <a:avLst/>
          </a:prstGeom>
          <a:solidFill>
            <a:srgbClr val="537599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TextBox 7"/>
          <p:cNvSpPr/>
          <p:nvPr/>
        </p:nvSpPr>
        <p:spPr>
          <a:xfrm>
            <a:off x="-8640" y="6562440"/>
            <a:ext cx="12195360" cy="5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1010100010010010010101010101010000001010101011111101010101010111111111110010010010101000101001010101001010010101001010010000001000010010101010101010111111111010000100101010111101010101010101101010101010100110011010101010100000100101010010001000100101111111010111101011111010111111110101010101101010101001010101010110110101111110110101</a:t>
            </a:r>
            <a:r>
              <a:rPr b="0" lang="en-US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000010010100100100100001010000101111111111110101010100100101111110010001000101011111000000100101101010101010101000011110</a:t>
            </a: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00110000100101010010111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TextBox 11"/>
          <p:cNvSpPr/>
          <p:nvPr/>
        </p:nvSpPr>
        <p:spPr>
          <a:xfrm>
            <a:off x="10315080" y="6541920"/>
            <a:ext cx="996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Calibri"/>
              </a:rPr>
              <a:t>www.kaf22.ru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TextBox 12"/>
          <p:cNvSpPr/>
          <p:nvPr/>
        </p:nvSpPr>
        <p:spPr>
          <a:xfrm>
            <a:off x="9489600" y="6355440"/>
            <a:ext cx="18273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000" spc="-1" strike="noStrike">
                <a:solidFill>
                  <a:srgbClr val="537599"/>
                </a:solidFill>
                <a:latin typeface="Calibri"/>
              </a:rPr>
              <a:t>Кафедра №22 «Кибернетика»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Овал 13"/>
          <p:cNvSpPr/>
          <p:nvPr/>
        </p:nvSpPr>
        <p:spPr>
          <a:xfrm>
            <a:off x="16200" y="6006600"/>
            <a:ext cx="899640" cy="899640"/>
          </a:xfrm>
          <a:prstGeom prst="ellipse">
            <a:avLst/>
          </a:prstGeom>
          <a:solidFill>
            <a:srgbClr val="ffffff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" name="Рисунок 14" descr=""/>
          <p:cNvPicPr/>
          <p:nvPr/>
        </p:nvPicPr>
        <p:blipFill>
          <a:blip r:embed="rId2"/>
          <a:stretch/>
        </p:blipFill>
        <p:spPr>
          <a:xfrm>
            <a:off x="28800" y="6021360"/>
            <a:ext cx="874440" cy="872640"/>
          </a:xfrm>
          <a:prstGeom prst="rect">
            <a:avLst/>
          </a:prstGeom>
          <a:ln w="0">
            <a:noFill/>
          </a:ln>
        </p:spPr>
      </p:pic>
      <p:sp>
        <p:nvSpPr>
          <p:cNvPr id="31" name="TextBox 15"/>
          <p:cNvSpPr/>
          <p:nvPr/>
        </p:nvSpPr>
        <p:spPr>
          <a:xfrm>
            <a:off x="873000" y="6576120"/>
            <a:ext cx="1048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Calibri"/>
              </a:rPr>
              <a:t>www.mephi.ru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TextBox 16"/>
          <p:cNvSpPr/>
          <p:nvPr/>
        </p:nvSpPr>
        <p:spPr>
          <a:xfrm>
            <a:off x="866880" y="6374520"/>
            <a:ext cx="9738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000" spc="-1" strike="noStrike">
                <a:solidFill>
                  <a:srgbClr val="537599"/>
                </a:solidFill>
                <a:latin typeface="Calibri"/>
              </a:rPr>
              <a:t>НИЯУ МИФИ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3" name="Прямая соединительная линия 17"/>
          <p:cNvCxnSpPr/>
          <p:nvPr/>
        </p:nvCxnSpPr>
        <p:spPr>
          <a:xfrm>
            <a:off x="838080" y="792360"/>
            <a:ext cx="10515960" cy="360"/>
          </a:xfrm>
          <a:prstGeom prst="straightConnector1">
            <a:avLst/>
          </a:prstGeom>
          <a:ln w="22225">
            <a:solidFill>
              <a:srgbClr val="537599"/>
            </a:solidFill>
          </a:ln>
        </p:spPr>
      </p:cxnSp>
      <p:sp>
        <p:nvSpPr>
          <p:cNvPr id="34" name="Овал 18"/>
          <p:cNvSpPr/>
          <p:nvPr/>
        </p:nvSpPr>
        <p:spPr>
          <a:xfrm>
            <a:off x="11271600" y="6006600"/>
            <a:ext cx="899640" cy="899640"/>
          </a:xfrm>
          <a:prstGeom prst="ellipse">
            <a:avLst/>
          </a:prstGeom>
          <a:solidFill>
            <a:srgbClr val="ffffff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" name="Рисунок 10" descr=""/>
          <p:cNvPicPr/>
          <p:nvPr/>
        </p:nvPicPr>
        <p:blipFill>
          <a:blip r:embed="rId3"/>
          <a:stretch/>
        </p:blipFill>
        <p:spPr>
          <a:xfrm>
            <a:off x="11244960" y="6021360"/>
            <a:ext cx="926280" cy="791640"/>
          </a:xfrm>
          <a:prstGeom prst="rect">
            <a:avLst/>
          </a:prstGeom>
          <a:ln w="0">
            <a:noFill/>
          </a:ln>
        </p:spPr>
      </p:pic>
      <p:sp>
        <p:nvSpPr>
          <p:cNvPr id="36" name="Ромб 5"/>
          <p:cNvSpPr/>
          <p:nvPr/>
        </p:nvSpPr>
        <p:spPr>
          <a:xfrm>
            <a:off x="5746680" y="6556680"/>
            <a:ext cx="698400" cy="364680"/>
          </a:xfrm>
          <a:prstGeom prst="diamond">
            <a:avLst/>
          </a:prstGeom>
          <a:solidFill>
            <a:schemeClr val="bg1"/>
          </a:solidFill>
          <a:ln w="6350">
            <a:solidFill>
              <a:srgbClr val="5375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anchor="ctr">
            <a:noAutofit/>
          </a:bodyPr>
          <a:p>
            <a:pPr algn="ctr" defTabSz="457200">
              <a:lnSpc>
                <a:spcPct val="100000"/>
              </a:lnSpc>
            </a:pPr>
            <a:endParaRPr b="0" lang="ru-RU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" name="PlaceHolder 1"/>
          <p:cNvSpPr>
            <a:spLocks noGrp="1"/>
          </p:cNvSpPr>
          <p:nvPr>
            <p:ph type="dt" idx="1"/>
          </p:nvPr>
        </p:nvSpPr>
        <p:spPr>
          <a:xfrm>
            <a:off x="2352240" y="6452640"/>
            <a:ext cx="1305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ftr" idx="2"/>
          </p:nvPr>
        </p:nvSpPr>
        <p:spPr>
          <a:xfrm>
            <a:off x="6856560" y="6462000"/>
            <a:ext cx="1752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sldNum" idx="3"/>
          </p:nvPr>
        </p:nvSpPr>
        <p:spPr>
          <a:xfrm>
            <a:off x="5785560" y="6566040"/>
            <a:ext cx="6066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b="0" lang="ru-RU" sz="2000" spc="-1" strike="noStrike">
                <a:ln>
                  <a:solidFill>
                    <a:srgbClr val="537599"/>
                  </a:solidFill>
                </a:ln>
                <a:solidFill>
                  <a:srgbClr val="ffffff"/>
                </a:solidFill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fld id="{2A1B4026-09DF-48F4-B144-2F955ECB4FBD}" type="slidenum">
              <a:rPr b="0" lang="ru-RU" sz="2000" spc="-1" strike="noStrike">
                <a:ln>
                  <a:solidFill>
                    <a:srgbClr val="537599"/>
                  </a:solidFill>
                </a:ln>
                <a:solidFill>
                  <a:srgbClr val="ffffff"/>
                </a:solidFill>
                <a:latin typeface="Calibri"/>
              </a:rPr>
              <a:t>&lt;number&gt;</a:t>
            </a:fld>
            <a:endParaRPr b="0" lang="ru-RU" sz="2000" spc="-1" strike="noStrike">
              <a:solidFill>
                <a:srgbClr val="000000"/>
              </a:solidFill>
              <a:latin typeface="Times New Roman"/>
            </a:endParaRPr>
          </a:p>
        </p:txBody>
      </p:sp>
      <p:cxnSp>
        <p:nvCxnSpPr>
          <p:cNvPr id="40" name="Прямая соединительная линия 6"/>
          <p:cNvCxnSpPr/>
          <p:nvPr/>
        </p:nvCxnSpPr>
        <p:spPr>
          <a:xfrm>
            <a:off x="838080" y="792360"/>
            <a:ext cx="10515960" cy="360"/>
          </a:xfrm>
          <a:prstGeom prst="straightConnector1">
            <a:avLst/>
          </a:prstGeom>
          <a:ln w="22225">
            <a:solidFill>
              <a:srgbClr val="ffffff"/>
            </a:solidFill>
          </a:ln>
        </p:spPr>
      </p:cxnSp>
      <p:sp>
        <p:nvSpPr>
          <p:cNvPr id="41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the outline text </a:t>
            </a: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format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</a:t>
            </a: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Прямоугольник 21"/>
          <p:cNvSpPr/>
          <p:nvPr/>
        </p:nvSpPr>
        <p:spPr>
          <a:xfrm rot="5400000">
            <a:off x="-3276720" y="3268440"/>
            <a:ext cx="6906240" cy="369000"/>
          </a:xfrm>
          <a:prstGeom prst="rect">
            <a:avLst/>
          </a:prstGeom>
          <a:solidFill>
            <a:srgbClr val="537599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TextBox 19"/>
          <p:cNvSpPr/>
          <p:nvPr/>
        </p:nvSpPr>
        <p:spPr>
          <a:xfrm>
            <a:off x="-2880" y="8280"/>
            <a:ext cx="356760" cy="796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01010100010010010010101010101010000001010101011111101010101010111111111110010010010101000101001010101001010010101001010010000001000011</a:t>
            </a:r>
            <a:r>
              <a:rPr b="0" lang="en-US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100100100100001010000101111111111110101010100100101111110010001000101011111000000100101101010101010101000011110</a:t>
            </a: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00110000100101010010111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Прямоугольник 6"/>
          <p:cNvSpPr/>
          <p:nvPr/>
        </p:nvSpPr>
        <p:spPr>
          <a:xfrm>
            <a:off x="0" y="6556680"/>
            <a:ext cx="12191760" cy="369000"/>
          </a:xfrm>
          <a:prstGeom prst="rect">
            <a:avLst/>
          </a:prstGeom>
          <a:solidFill>
            <a:srgbClr val="537599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TextBox 7"/>
          <p:cNvSpPr/>
          <p:nvPr/>
        </p:nvSpPr>
        <p:spPr>
          <a:xfrm>
            <a:off x="-8640" y="6562440"/>
            <a:ext cx="12195360" cy="5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1010100010010010010101010101010000001010101011111101010101010111111111110010010010101000101001010101001010010101001010010000001000010010101010101010111111111010000100101010111101010101010101101010101010100110011010101010100000100101010010001000100101111111010111101011111010111111110101010101101010101001010101010110110101111110110101</a:t>
            </a:r>
            <a:r>
              <a:rPr b="0" lang="en-US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000010010100100100100001010000101111111111110101010100100101111110010001000101011111000000100101101010101010101000011110</a:t>
            </a: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00110000100101010010111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TextBox 11"/>
          <p:cNvSpPr/>
          <p:nvPr/>
        </p:nvSpPr>
        <p:spPr>
          <a:xfrm>
            <a:off x="10315080" y="6541920"/>
            <a:ext cx="996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Calibri"/>
              </a:rPr>
              <a:t>www.kaf22.ru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TextBox 12"/>
          <p:cNvSpPr/>
          <p:nvPr/>
        </p:nvSpPr>
        <p:spPr>
          <a:xfrm>
            <a:off x="9489600" y="6355440"/>
            <a:ext cx="18273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000" spc="-1" strike="noStrike">
                <a:solidFill>
                  <a:srgbClr val="537599"/>
                </a:solidFill>
                <a:latin typeface="Calibri"/>
              </a:rPr>
              <a:t>Кафедра №22 «Кибернетика»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Овал 13"/>
          <p:cNvSpPr/>
          <p:nvPr/>
        </p:nvSpPr>
        <p:spPr>
          <a:xfrm>
            <a:off x="16200" y="6006600"/>
            <a:ext cx="899640" cy="899640"/>
          </a:xfrm>
          <a:prstGeom prst="ellipse">
            <a:avLst/>
          </a:prstGeom>
          <a:solidFill>
            <a:srgbClr val="ffffff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0" name="Рисунок 14" descr=""/>
          <p:cNvPicPr/>
          <p:nvPr/>
        </p:nvPicPr>
        <p:blipFill>
          <a:blip r:embed="rId2"/>
          <a:stretch/>
        </p:blipFill>
        <p:spPr>
          <a:xfrm>
            <a:off x="28800" y="6021360"/>
            <a:ext cx="874440" cy="872640"/>
          </a:xfrm>
          <a:prstGeom prst="rect">
            <a:avLst/>
          </a:prstGeom>
          <a:ln w="0">
            <a:noFill/>
          </a:ln>
        </p:spPr>
      </p:pic>
      <p:sp>
        <p:nvSpPr>
          <p:cNvPr id="51" name="TextBox 15"/>
          <p:cNvSpPr/>
          <p:nvPr/>
        </p:nvSpPr>
        <p:spPr>
          <a:xfrm>
            <a:off x="873000" y="6576120"/>
            <a:ext cx="1048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Calibri"/>
              </a:rPr>
              <a:t>www.mephi.ru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TextBox 16"/>
          <p:cNvSpPr/>
          <p:nvPr/>
        </p:nvSpPr>
        <p:spPr>
          <a:xfrm>
            <a:off x="866880" y="6374520"/>
            <a:ext cx="9738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000" spc="-1" strike="noStrike">
                <a:solidFill>
                  <a:srgbClr val="537599"/>
                </a:solidFill>
                <a:latin typeface="Calibri"/>
              </a:rPr>
              <a:t>НИЯУ МИФИ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53" name="Прямая соединительная линия 17"/>
          <p:cNvCxnSpPr/>
          <p:nvPr/>
        </p:nvCxnSpPr>
        <p:spPr>
          <a:xfrm>
            <a:off x="838080" y="792360"/>
            <a:ext cx="10515960" cy="360"/>
          </a:xfrm>
          <a:prstGeom prst="straightConnector1">
            <a:avLst/>
          </a:prstGeom>
          <a:ln w="22225">
            <a:solidFill>
              <a:srgbClr val="537599"/>
            </a:solidFill>
          </a:ln>
        </p:spPr>
      </p:cxnSp>
      <p:sp>
        <p:nvSpPr>
          <p:cNvPr id="54" name="Овал 18"/>
          <p:cNvSpPr/>
          <p:nvPr/>
        </p:nvSpPr>
        <p:spPr>
          <a:xfrm>
            <a:off x="11271600" y="6006600"/>
            <a:ext cx="899640" cy="899640"/>
          </a:xfrm>
          <a:prstGeom prst="ellipse">
            <a:avLst/>
          </a:prstGeom>
          <a:solidFill>
            <a:srgbClr val="ffffff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5" name="Рисунок 10" descr=""/>
          <p:cNvPicPr/>
          <p:nvPr/>
        </p:nvPicPr>
        <p:blipFill>
          <a:blip r:embed="rId3"/>
          <a:stretch/>
        </p:blipFill>
        <p:spPr>
          <a:xfrm>
            <a:off x="11244960" y="6021360"/>
            <a:ext cx="926280" cy="791640"/>
          </a:xfrm>
          <a:prstGeom prst="rect">
            <a:avLst/>
          </a:prstGeom>
          <a:ln w="0">
            <a:noFill/>
          </a:ln>
        </p:spPr>
      </p:pic>
      <p:sp>
        <p:nvSpPr>
          <p:cNvPr id="56" name="Ромб 7"/>
          <p:cNvSpPr/>
          <p:nvPr/>
        </p:nvSpPr>
        <p:spPr>
          <a:xfrm>
            <a:off x="5746680" y="6556680"/>
            <a:ext cx="698400" cy="364680"/>
          </a:xfrm>
          <a:prstGeom prst="diamond">
            <a:avLst/>
          </a:prstGeom>
          <a:solidFill>
            <a:schemeClr val="bg1"/>
          </a:solidFill>
          <a:ln w="6350">
            <a:solidFill>
              <a:srgbClr val="5375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anchor="ctr">
            <a:noAutofit/>
          </a:bodyPr>
          <a:p>
            <a:pPr algn="ctr" defTabSz="457200">
              <a:lnSpc>
                <a:spcPct val="100000"/>
              </a:lnSpc>
            </a:pPr>
            <a:endParaRPr b="0" lang="ru-RU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" name="PlaceHolder 1"/>
          <p:cNvSpPr>
            <a:spLocks noGrp="1"/>
          </p:cNvSpPr>
          <p:nvPr>
            <p:ph type="dt" idx="4"/>
          </p:nvPr>
        </p:nvSpPr>
        <p:spPr>
          <a:xfrm>
            <a:off x="2352240" y="6452640"/>
            <a:ext cx="1305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ftr" idx="5"/>
          </p:nvPr>
        </p:nvSpPr>
        <p:spPr>
          <a:xfrm>
            <a:off x="6856560" y="6462000"/>
            <a:ext cx="1752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sldNum" idx="6"/>
          </p:nvPr>
        </p:nvSpPr>
        <p:spPr>
          <a:xfrm>
            <a:off x="5785560" y="6566040"/>
            <a:ext cx="6066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b="0" lang="ru-RU" sz="2000" spc="-1" strike="noStrike">
                <a:ln>
                  <a:solidFill>
                    <a:srgbClr val="537599"/>
                  </a:solidFill>
                </a:ln>
                <a:solidFill>
                  <a:srgbClr val="ffffff"/>
                </a:solidFill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fld id="{2AD410A0-446E-4B4E-BE26-391816BD4450}" type="slidenum">
              <a:rPr b="0" lang="ru-RU" sz="2000" spc="-1" strike="noStrike">
                <a:ln>
                  <a:solidFill>
                    <a:srgbClr val="537599"/>
                  </a:solidFill>
                </a:ln>
                <a:solidFill>
                  <a:srgbClr val="ffffff"/>
                </a:solidFill>
                <a:latin typeface="Calibri"/>
              </a:rPr>
              <a:t>&lt;number&gt;</a:t>
            </a:fld>
            <a:endParaRPr b="0" lang="ru-RU" sz="2000" spc="-1" strike="noStrike">
              <a:solidFill>
                <a:srgbClr val="000000"/>
              </a:solidFill>
              <a:latin typeface="Times New Roman"/>
            </a:endParaRPr>
          </a:p>
        </p:txBody>
      </p:sp>
      <p:cxnSp>
        <p:nvCxnSpPr>
          <p:cNvPr id="60" name="Прямая соединительная линия 8"/>
          <p:cNvCxnSpPr/>
          <p:nvPr/>
        </p:nvCxnSpPr>
        <p:spPr>
          <a:xfrm>
            <a:off x="838080" y="792360"/>
            <a:ext cx="10515960" cy="360"/>
          </a:xfrm>
          <a:prstGeom prst="straightConnector1">
            <a:avLst/>
          </a:prstGeom>
          <a:ln w="22225">
            <a:solidFill>
              <a:srgbClr val="ffffff"/>
            </a:solidFill>
          </a:ln>
        </p:spPr>
      </p:cxnSp>
      <p:cxnSp>
        <p:nvCxnSpPr>
          <p:cNvPr id="61" name="Прямая соединительная линия 9"/>
          <p:cNvCxnSpPr/>
          <p:nvPr/>
        </p:nvCxnSpPr>
        <p:spPr>
          <a:xfrm>
            <a:off x="838080" y="887040"/>
            <a:ext cx="3934080" cy="360"/>
          </a:xfrm>
          <a:prstGeom prst="straightConnector1">
            <a:avLst/>
          </a:prstGeom>
          <a:ln w="22225">
            <a:solidFill>
              <a:srgbClr val="537599"/>
            </a:solidFill>
          </a:ln>
        </p:spPr>
      </p:cxnSp>
      <p:sp>
        <p:nvSpPr>
          <p:cNvPr id="62" name="PlaceHolder 4"/>
          <p:cNvSpPr>
            <a:spLocks noGrp="1"/>
          </p:cNvSpPr>
          <p:nvPr>
            <p:ph type="title"/>
          </p:nvPr>
        </p:nvSpPr>
        <p:spPr>
          <a:xfrm>
            <a:off x="839880" y="175320"/>
            <a:ext cx="3931920" cy="69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3200" spc="-1" strike="noStrike">
                <a:solidFill>
                  <a:schemeClr val="dk1"/>
                </a:solidFill>
                <a:latin typeface="Calibri Light"/>
              </a:rPr>
              <a:t>Образе</a:t>
            </a:r>
            <a:r>
              <a:rPr b="0" lang="ru-RU" sz="3200" spc="-1" strike="noStrike">
                <a:solidFill>
                  <a:schemeClr val="dk1"/>
                </a:solidFill>
                <a:latin typeface="Calibri Light"/>
              </a:rPr>
              <a:t>ц </a:t>
            </a:r>
            <a:r>
              <a:rPr b="0" lang="ru-RU" sz="3200" spc="-1" strike="noStrike">
                <a:solidFill>
                  <a:schemeClr val="dk1"/>
                </a:solidFill>
                <a:latin typeface="Calibri Light"/>
              </a:rPr>
              <a:t>заголов</a:t>
            </a:r>
            <a:r>
              <a:rPr b="0" lang="ru-RU" sz="3200" spc="-1" strike="noStrike">
                <a:solidFill>
                  <a:schemeClr val="dk1"/>
                </a:solidFill>
                <a:latin typeface="Calibri Light"/>
              </a:rPr>
              <a:t>ка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body"/>
          </p:nvPr>
        </p:nvSpPr>
        <p:spPr>
          <a:xfrm>
            <a:off x="4905360" y="175320"/>
            <a:ext cx="6449760" cy="568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3200" spc="-1" strike="noStrike">
                <a:solidFill>
                  <a:schemeClr val="dk1"/>
                </a:solidFill>
                <a:latin typeface="Calibri"/>
              </a:rPr>
              <a:t>Образец текста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pc="-1" strike="noStrike">
                <a:solidFill>
                  <a:schemeClr val="dk1"/>
                </a:solidFill>
                <a:latin typeface="Calibri"/>
              </a:rPr>
              <a:t>Второй уровень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pc="-1" strike="noStrike">
                <a:solidFill>
                  <a:schemeClr val="dk1"/>
                </a:solidFill>
                <a:latin typeface="Calibri"/>
              </a:rPr>
              <a:t>Третий уровень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</a:rPr>
              <a:t>Четвертый уровень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</a:rPr>
              <a:t>Пятый уровень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6"/>
          <p:cNvSpPr>
            <a:spLocks noGrp="1"/>
          </p:cNvSpPr>
          <p:nvPr>
            <p:ph type="body"/>
          </p:nvPr>
        </p:nvSpPr>
        <p:spPr>
          <a:xfrm>
            <a:off x="839880" y="905400"/>
            <a:ext cx="3931920" cy="496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</a:rPr>
              <a:t>Образец текста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Прямоугольник 21"/>
          <p:cNvSpPr/>
          <p:nvPr/>
        </p:nvSpPr>
        <p:spPr>
          <a:xfrm rot="5400000">
            <a:off x="-3276720" y="3268440"/>
            <a:ext cx="6906240" cy="369000"/>
          </a:xfrm>
          <a:prstGeom prst="rect">
            <a:avLst/>
          </a:prstGeom>
          <a:solidFill>
            <a:srgbClr val="537599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Box 19"/>
          <p:cNvSpPr/>
          <p:nvPr/>
        </p:nvSpPr>
        <p:spPr>
          <a:xfrm>
            <a:off x="-2880" y="8280"/>
            <a:ext cx="356760" cy="796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01010100010010010010101010101010000001010101011111101010101010111111111110010010010101000101001010101001010010101001010010000001000011</a:t>
            </a:r>
            <a:r>
              <a:rPr b="0" lang="en-US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100100100100001010000101111111111110101010100100101111110010001000101011111000000100101101010101010101000011110</a:t>
            </a: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00110000100101010010111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Прямоугольник 6"/>
          <p:cNvSpPr/>
          <p:nvPr/>
        </p:nvSpPr>
        <p:spPr>
          <a:xfrm>
            <a:off x="0" y="6556680"/>
            <a:ext cx="12191760" cy="369000"/>
          </a:xfrm>
          <a:prstGeom prst="rect">
            <a:avLst/>
          </a:prstGeom>
          <a:solidFill>
            <a:srgbClr val="537599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Box 7"/>
          <p:cNvSpPr/>
          <p:nvPr/>
        </p:nvSpPr>
        <p:spPr>
          <a:xfrm>
            <a:off x="-8640" y="6562440"/>
            <a:ext cx="12195360" cy="5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1010100010010010010101010101010000001010101011111101010101010111111111110010010010101000101001010101001010010101001010010000001000010010101010101010111111111010000100101010111101010101010101101010101010100110011010101010100000100101010010001000100101111111010111101011111010111111110101010101101010101001010101010110110101111110110101</a:t>
            </a:r>
            <a:r>
              <a:rPr b="0" lang="en-US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000010010100100100100001010000101111111111110101010100100101111110010001000101011111000000100101101010101010101000011110</a:t>
            </a: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00110000100101010010111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Box 11"/>
          <p:cNvSpPr/>
          <p:nvPr/>
        </p:nvSpPr>
        <p:spPr>
          <a:xfrm>
            <a:off x="10315080" y="6541920"/>
            <a:ext cx="996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Calibri"/>
              </a:rPr>
              <a:t>www.kaf22.ru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Box 12"/>
          <p:cNvSpPr/>
          <p:nvPr/>
        </p:nvSpPr>
        <p:spPr>
          <a:xfrm>
            <a:off x="9489600" y="6355440"/>
            <a:ext cx="18273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000" spc="-1" strike="noStrike">
                <a:solidFill>
                  <a:srgbClr val="537599"/>
                </a:solidFill>
                <a:latin typeface="Calibri"/>
              </a:rPr>
              <a:t>Кафедра №22 «Кибернетика»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Овал 13"/>
          <p:cNvSpPr/>
          <p:nvPr/>
        </p:nvSpPr>
        <p:spPr>
          <a:xfrm>
            <a:off x="16200" y="6006600"/>
            <a:ext cx="899640" cy="899640"/>
          </a:xfrm>
          <a:prstGeom prst="ellipse">
            <a:avLst/>
          </a:prstGeom>
          <a:solidFill>
            <a:srgbClr val="ffffff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2" name="Рисунок 14" descr=""/>
          <p:cNvPicPr/>
          <p:nvPr/>
        </p:nvPicPr>
        <p:blipFill>
          <a:blip r:embed="rId2"/>
          <a:stretch/>
        </p:blipFill>
        <p:spPr>
          <a:xfrm>
            <a:off x="28800" y="6021360"/>
            <a:ext cx="874440" cy="872640"/>
          </a:xfrm>
          <a:prstGeom prst="rect">
            <a:avLst/>
          </a:prstGeom>
          <a:ln w="0">
            <a:noFill/>
          </a:ln>
        </p:spPr>
      </p:pic>
      <p:sp>
        <p:nvSpPr>
          <p:cNvPr id="73" name="TextBox 15"/>
          <p:cNvSpPr/>
          <p:nvPr/>
        </p:nvSpPr>
        <p:spPr>
          <a:xfrm>
            <a:off x="873000" y="6576120"/>
            <a:ext cx="1048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Calibri"/>
              </a:rPr>
              <a:t>www.mephi.ru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Box 16"/>
          <p:cNvSpPr/>
          <p:nvPr/>
        </p:nvSpPr>
        <p:spPr>
          <a:xfrm>
            <a:off x="866880" y="6374520"/>
            <a:ext cx="9738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000" spc="-1" strike="noStrike">
                <a:solidFill>
                  <a:srgbClr val="537599"/>
                </a:solidFill>
                <a:latin typeface="Calibri"/>
              </a:rPr>
              <a:t>НИЯУ МИФИ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5" name="Прямая соединительная линия 17"/>
          <p:cNvCxnSpPr/>
          <p:nvPr/>
        </p:nvCxnSpPr>
        <p:spPr>
          <a:xfrm>
            <a:off x="838080" y="792360"/>
            <a:ext cx="10515960" cy="360"/>
          </a:xfrm>
          <a:prstGeom prst="straightConnector1">
            <a:avLst/>
          </a:prstGeom>
          <a:ln w="22225">
            <a:solidFill>
              <a:srgbClr val="537599"/>
            </a:solidFill>
          </a:ln>
        </p:spPr>
      </p:cxnSp>
      <p:sp>
        <p:nvSpPr>
          <p:cNvPr id="76" name="Овал 18"/>
          <p:cNvSpPr/>
          <p:nvPr/>
        </p:nvSpPr>
        <p:spPr>
          <a:xfrm>
            <a:off x="11271600" y="6006600"/>
            <a:ext cx="899640" cy="899640"/>
          </a:xfrm>
          <a:prstGeom prst="ellipse">
            <a:avLst/>
          </a:prstGeom>
          <a:solidFill>
            <a:srgbClr val="ffffff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7" name="Рисунок 10" descr=""/>
          <p:cNvPicPr/>
          <p:nvPr/>
        </p:nvPicPr>
        <p:blipFill>
          <a:blip r:embed="rId3"/>
          <a:stretch/>
        </p:blipFill>
        <p:spPr>
          <a:xfrm>
            <a:off x="11244960" y="6021360"/>
            <a:ext cx="926280" cy="791640"/>
          </a:xfrm>
          <a:prstGeom prst="rect">
            <a:avLst/>
          </a:prstGeom>
          <a:ln w="0">
            <a:noFill/>
          </a:ln>
        </p:spPr>
      </p:pic>
      <p:sp>
        <p:nvSpPr>
          <p:cNvPr id="78" name="Ромб 7"/>
          <p:cNvSpPr/>
          <p:nvPr/>
        </p:nvSpPr>
        <p:spPr>
          <a:xfrm>
            <a:off x="5746680" y="6556680"/>
            <a:ext cx="698400" cy="364680"/>
          </a:xfrm>
          <a:prstGeom prst="diamond">
            <a:avLst/>
          </a:prstGeom>
          <a:solidFill>
            <a:schemeClr val="bg1"/>
          </a:solidFill>
          <a:ln w="6350">
            <a:solidFill>
              <a:srgbClr val="5375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anchor="ctr">
            <a:noAutofit/>
          </a:bodyPr>
          <a:p>
            <a:pPr algn="ctr" defTabSz="457200">
              <a:lnSpc>
                <a:spcPct val="100000"/>
              </a:lnSpc>
            </a:pPr>
            <a:endParaRPr b="0" lang="ru-RU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" name="PlaceHolder 1"/>
          <p:cNvSpPr>
            <a:spLocks noGrp="1"/>
          </p:cNvSpPr>
          <p:nvPr>
            <p:ph type="dt" idx="7"/>
          </p:nvPr>
        </p:nvSpPr>
        <p:spPr>
          <a:xfrm>
            <a:off x="2352240" y="6452640"/>
            <a:ext cx="1305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ftr" idx="8"/>
          </p:nvPr>
        </p:nvSpPr>
        <p:spPr>
          <a:xfrm>
            <a:off x="6856560" y="6462000"/>
            <a:ext cx="1752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sldNum" idx="9"/>
          </p:nvPr>
        </p:nvSpPr>
        <p:spPr>
          <a:xfrm>
            <a:off x="5785560" y="6566040"/>
            <a:ext cx="6066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b="0" lang="ru-RU" sz="2000" spc="-1" strike="noStrike">
                <a:ln>
                  <a:solidFill>
                    <a:srgbClr val="537599"/>
                  </a:solidFill>
                </a:ln>
                <a:solidFill>
                  <a:srgbClr val="ffffff"/>
                </a:solidFill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fld id="{99409CF2-3EAE-4A4D-9A2F-2CDC28ED0926}" type="slidenum">
              <a:rPr b="0" lang="ru-RU" sz="2000" spc="-1" strike="noStrike">
                <a:ln>
                  <a:solidFill>
                    <a:srgbClr val="537599"/>
                  </a:solidFill>
                </a:ln>
                <a:solidFill>
                  <a:srgbClr val="ffffff"/>
                </a:solidFill>
                <a:latin typeface="Calibri"/>
              </a:rPr>
              <a:t>&lt;number&gt;</a:t>
            </a:fld>
            <a:endParaRPr b="0" lang="ru-RU" sz="2000" spc="-1" strike="noStrike">
              <a:solidFill>
                <a:srgbClr val="000000"/>
              </a:solidFill>
              <a:latin typeface="Times New Roman"/>
            </a:endParaRPr>
          </a:p>
        </p:txBody>
      </p:sp>
      <p:cxnSp>
        <p:nvCxnSpPr>
          <p:cNvPr id="82" name="Прямая соединительная линия 8"/>
          <p:cNvCxnSpPr/>
          <p:nvPr/>
        </p:nvCxnSpPr>
        <p:spPr>
          <a:xfrm>
            <a:off x="838080" y="792360"/>
            <a:ext cx="10515960" cy="360"/>
          </a:xfrm>
          <a:prstGeom prst="straightConnector1">
            <a:avLst/>
          </a:prstGeom>
          <a:ln w="22225">
            <a:solidFill>
              <a:srgbClr val="ffffff"/>
            </a:solidFill>
          </a:ln>
        </p:spPr>
      </p:cxnSp>
      <p:cxnSp>
        <p:nvCxnSpPr>
          <p:cNvPr id="83" name="Прямая соединительная линия 9"/>
          <p:cNvCxnSpPr/>
          <p:nvPr/>
        </p:nvCxnSpPr>
        <p:spPr>
          <a:xfrm>
            <a:off x="838080" y="887040"/>
            <a:ext cx="3531240" cy="360"/>
          </a:xfrm>
          <a:prstGeom prst="straightConnector1">
            <a:avLst/>
          </a:prstGeom>
          <a:ln w="22225">
            <a:solidFill>
              <a:srgbClr val="537599"/>
            </a:solidFill>
          </a:ln>
        </p:spPr>
      </p:cxnSp>
      <p:sp>
        <p:nvSpPr>
          <p:cNvPr id="84" name="PlaceHolder 4"/>
          <p:cNvSpPr>
            <a:spLocks noGrp="1"/>
          </p:cNvSpPr>
          <p:nvPr>
            <p:ph type="title"/>
          </p:nvPr>
        </p:nvSpPr>
        <p:spPr>
          <a:xfrm>
            <a:off x="839880" y="175320"/>
            <a:ext cx="3529080" cy="69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3200" spc="-1" strike="noStrike">
                <a:solidFill>
                  <a:schemeClr val="dk1"/>
                </a:solidFill>
                <a:latin typeface="Calibri Light"/>
              </a:rPr>
              <a:t>Образе</a:t>
            </a:r>
            <a:r>
              <a:rPr b="0" lang="ru-RU" sz="3200" spc="-1" strike="noStrike">
                <a:solidFill>
                  <a:schemeClr val="dk1"/>
                </a:solidFill>
                <a:latin typeface="Calibri Light"/>
              </a:rPr>
              <a:t>ц </a:t>
            </a:r>
            <a:r>
              <a:rPr b="0" lang="ru-RU" sz="3200" spc="-1" strike="noStrike">
                <a:solidFill>
                  <a:schemeClr val="dk1"/>
                </a:solidFill>
                <a:latin typeface="Calibri Light"/>
              </a:rPr>
              <a:t>заголов</a:t>
            </a:r>
            <a:r>
              <a:rPr b="0" lang="ru-RU" sz="3200" spc="-1" strike="noStrike">
                <a:solidFill>
                  <a:schemeClr val="dk1"/>
                </a:solidFill>
                <a:latin typeface="Calibri Light"/>
              </a:rPr>
              <a:t>ка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5" name="PlaceHolder 5"/>
          <p:cNvSpPr>
            <a:spLocks noGrp="1"/>
          </p:cNvSpPr>
          <p:nvPr>
            <p:ph type="body"/>
          </p:nvPr>
        </p:nvSpPr>
        <p:spPr>
          <a:xfrm>
            <a:off x="4450320" y="175320"/>
            <a:ext cx="3349800" cy="568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3200" spc="-1" strike="noStrike">
                <a:solidFill>
                  <a:schemeClr val="dk1"/>
                </a:solidFill>
                <a:latin typeface="Calibri"/>
              </a:rPr>
              <a:t>Образец текста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pc="-1" strike="noStrike">
                <a:solidFill>
                  <a:schemeClr val="dk1"/>
                </a:solidFill>
                <a:latin typeface="Calibri"/>
              </a:rPr>
              <a:t>Второй уровень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pc="-1" strike="noStrike">
                <a:solidFill>
                  <a:schemeClr val="dk1"/>
                </a:solidFill>
                <a:latin typeface="Calibri"/>
              </a:rPr>
              <a:t>Третий уровень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</a:rPr>
              <a:t>Четвертый уровень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</a:rPr>
              <a:t>Пятый уровень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6" name="PlaceHolder 6"/>
          <p:cNvSpPr>
            <a:spLocks noGrp="1"/>
          </p:cNvSpPr>
          <p:nvPr>
            <p:ph type="body"/>
          </p:nvPr>
        </p:nvSpPr>
        <p:spPr>
          <a:xfrm>
            <a:off x="839880" y="905400"/>
            <a:ext cx="3529080" cy="496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</a:rPr>
              <a:t>Образец текста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7" name="PlaceHolder 7"/>
          <p:cNvSpPr>
            <a:spLocks noGrp="1"/>
          </p:cNvSpPr>
          <p:nvPr>
            <p:ph type="body"/>
          </p:nvPr>
        </p:nvSpPr>
        <p:spPr>
          <a:xfrm>
            <a:off x="7881480" y="175320"/>
            <a:ext cx="3353400" cy="568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pc="-1" strike="noStrike">
                <a:solidFill>
                  <a:schemeClr val="dk1"/>
                </a:solidFill>
                <a:latin typeface="Calibri"/>
              </a:rPr>
              <a:t>Образец текста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pc="-1" strike="noStrike">
                <a:solidFill>
                  <a:schemeClr val="dk1"/>
                </a:solidFill>
                <a:latin typeface="Calibri"/>
              </a:rPr>
              <a:t>Второй уровень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</a:rPr>
              <a:t>Третий уровень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Четвертый уровень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Пятый уровень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cxnSp>
        <p:nvCxnSpPr>
          <p:cNvPr id="88" name="Прямая соединительная линия 13"/>
          <p:cNvCxnSpPr/>
          <p:nvPr/>
        </p:nvCxnSpPr>
        <p:spPr>
          <a:xfrm>
            <a:off x="4368960" y="174960"/>
            <a:ext cx="360" cy="720360"/>
          </a:xfrm>
          <a:prstGeom prst="straightConnector1">
            <a:avLst/>
          </a:prstGeom>
          <a:ln w="22225">
            <a:solidFill>
              <a:srgbClr val="537599"/>
            </a:solidFill>
          </a:ln>
        </p:spPr>
      </p:cxn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4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Прямоугольник 21"/>
          <p:cNvSpPr/>
          <p:nvPr/>
        </p:nvSpPr>
        <p:spPr>
          <a:xfrm rot="5400000">
            <a:off x="-3276720" y="3268440"/>
            <a:ext cx="6906240" cy="369000"/>
          </a:xfrm>
          <a:prstGeom prst="rect">
            <a:avLst/>
          </a:prstGeom>
          <a:solidFill>
            <a:srgbClr val="537599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Box 19"/>
          <p:cNvSpPr/>
          <p:nvPr/>
        </p:nvSpPr>
        <p:spPr>
          <a:xfrm>
            <a:off x="-2880" y="8280"/>
            <a:ext cx="356760" cy="796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01010100010010010010101010101010000001010101011111101010101010111111111110010010010101000101001010101001010010101001010010000001000011</a:t>
            </a:r>
            <a:r>
              <a:rPr b="0" lang="en-US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100100100100001010000101111111111110101010100100101111110010001000101011111000000100101101010101010101000011110</a:t>
            </a: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00110000100101010010111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Прямоугольник 6"/>
          <p:cNvSpPr/>
          <p:nvPr/>
        </p:nvSpPr>
        <p:spPr>
          <a:xfrm>
            <a:off x="0" y="6556680"/>
            <a:ext cx="12191760" cy="369000"/>
          </a:xfrm>
          <a:prstGeom prst="rect">
            <a:avLst/>
          </a:prstGeom>
          <a:solidFill>
            <a:srgbClr val="537599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Box 7"/>
          <p:cNvSpPr/>
          <p:nvPr/>
        </p:nvSpPr>
        <p:spPr>
          <a:xfrm>
            <a:off x="-8640" y="6562440"/>
            <a:ext cx="12195360" cy="5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1010100010010010010101010101010000001010101011111101010101010111111111110010010010101000101001010101001010010101001010010000001000010010101010101010111111111010000100101010111101010101010101101010101010100110011010101010100000100101010010001000100101111111010111101011111010111111110101010101101010101001010101010110110101111110110101</a:t>
            </a:r>
            <a:r>
              <a:rPr b="0" lang="en-US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000010010100100100100001010000101111111111110101010100100101111110010001000101011111000000100101101010101010101000011110</a:t>
            </a: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00110000100101010010111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Box 11"/>
          <p:cNvSpPr/>
          <p:nvPr/>
        </p:nvSpPr>
        <p:spPr>
          <a:xfrm>
            <a:off x="10315080" y="6541920"/>
            <a:ext cx="996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Calibri"/>
              </a:rPr>
              <a:t>www.kaf22.ru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Box 12"/>
          <p:cNvSpPr/>
          <p:nvPr/>
        </p:nvSpPr>
        <p:spPr>
          <a:xfrm>
            <a:off x="9489600" y="6355440"/>
            <a:ext cx="18273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000" spc="-1" strike="noStrike">
                <a:solidFill>
                  <a:srgbClr val="537599"/>
                </a:solidFill>
                <a:latin typeface="Calibri"/>
              </a:rPr>
              <a:t>Кафедра №22 «Кибернетика»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Овал 13"/>
          <p:cNvSpPr/>
          <p:nvPr/>
        </p:nvSpPr>
        <p:spPr>
          <a:xfrm>
            <a:off x="16200" y="6006600"/>
            <a:ext cx="899640" cy="899640"/>
          </a:xfrm>
          <a:prstGeom prst="ellipse">
            <a:avLst/>
          </a:prstGeom>
          <a:solidFill>
            <a:srgbClr val="ffffff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6" name="Рисунок 14" descr=""/>
          <p:cNvPicPr/>
          <p:nvPr/>
        </p:nvPicPr>
        <p:blipFill>
          <a:blip r:embed="rId2"/>
          <a:stretch/>
        </p:blipFill>
        <p:spPr>
          <a:xfrm>
            <a:off x="28800" y="6021360"/>
            <a:ext cx="874440" cy="872640"/>
          </a:xfrm>
          <a:prstGeom prst="rect">
            <a:avLst/>
          </a:prstGeom>
          <a:ln w="0">
            <a:noFill/>
          </a:ln>
        </p:spPr>
      </p:pic>
      <p:sp>
        <p:nvSpPr>
          <p:cNvPr id="97" name="TextBox 15"/>
          <p:cNvSpPr/>
          <p:nvPr/>
        </p:nvSpPr>
        <p:spPr>
          <a:xfrm>
            <a:off x="873000" y="6576120"/>
            <a:ext cx="1048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Calibri"/>
              </a:rPr>
              <a:t>www.mephi.ru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Box 16"/>
          <p:cNvSpPr/>
          <p:nvPr/>
        </p:nvSpPr>
        <p:spPr>
          <a:xfrm>
            <a:off x="866880" y="6374520"/>
            <a:ext cx="9738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000" spc="-1" strike="noStrike">
                <a:solidFill>
                  <a:srgbClr val="537599"/>
                </a:solidFill>
                <a:latin typeface="Calibri"/>
              </a:rPr>
              <a:t>НИЯУ МИФИ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9" name="Прямая соединительная линия 17"/>
          <p:cNvCxnSpPr/>
          <p:nvPr/>
        </p:nvCxnSpPr>
        <p:spPr>
          <a:xfrm>
            <a:off x="838080" y="792360"/>
            <a:ext cx="10515960" cy="360"/>
          </a:xfrm>
          <a:prstGeom prst="straightConnector1">
            <a:avLst/>
          </a:prstGeom>
          <a:ln w="22225">
            <a:solidFill>
              <a:srgbClr val="537599"/>
            </a:solidFill>
          </a:ln>
        </p:spPr>
      </p:cxnSp>
      <p:sp>
        <p:nvSpPr>
          <p:cNvPr id="100" name="Овал 18"/>
          <p:cNvSpPr/>
          <p:nvPr/>
        </p:nvSpPr>
        <p:spPr>
          <a:xfrm>
            <a:off x="11271600" y="6006600"/>
            <a:ext cx="899640" cy="899640"/>
          </a:xfrm>
          <a:prstGeom prst="ellipse">
            <a:avLst/>
          </a:prstGeom>
          <a:solidFill>
            <a:srgbClr val="ffffff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1" name="Рисунок 10" descr=""/>
          <p:cNvPicPr/>
          <p:nvPr/>
        </p:nvPicPr>
        <p:blipFill>
          <a:blip r:embed="rId3"/>
          <a:stretch/>
        </p:blipFill>
        <p:spPr>
          <a:xfrm>
            <a:off x="11244960" y="6021360"/>
            <a:ext cx="926280" cy="791640"/>
          </a:xfrm>
          <a:prstGeom prst="rect">
            <a:avLst/>
          </a:prstGeom>
          <a:ln w="0">
            <a:noFill/>
          </a:ln>
        </p:spPr>
      </p:pic>
      <p:sp>
        <p:nvSpPr>
          <p:cNvPr id="102" name="Ромб 7"/>
          <p:cNvSpPr/>
          <p:nvPr/>
        </p:nvSpPr>
        <p:spPr>
          <a:xfrm>
            <a:off x="5746680" y="6556680"/>
            <a:ext cx="698400" cy="364680"/>
          </a:xfrm>
          <a:prstGeom prst="diamond">
            <a:avLst/>
          </a:prstGeom>
          <a:solidFill>
            <a:schemeClr val="bg1"/>
          </a:solidFill>
          <a:ln w="6350">
            <a:solidFill>
              <a:srgbClr val="5375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anchor="ctr">
            <a:noAutofit/>
          </a:bodyPr>
          <a:p>
            <a:pPr algn="ctr" defTabSz="457200">
              <a:lnSpc>
                <a:spcPct val="100000"/>
              </a:lnSpc>
            </a:pPr>
            <a:endParaRPr b="0" lang="ru-RU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" name="PlaceHolder 1"/>
          <p:cNvSpPr>
            <a:spLocks noGrp="1"/>
          </p:cNvSpPr>
          <p:nvPr>
            <p:ph type="dt" idx="10"/>
          </p:nvPr>
        </p:nvSpPr>
        <p:spPr>
          <a:xfrm>
            <a:off x="2352240" y="6452640"/>
            <a:ext cx="1305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 type="ftr" idx="11"/>
          </p:nvPr>
        </p:nvSpPr>
        <p:spPr>
          <a:xfrm>
            <a:off x="6856560" y="6462000"/>
            <a:ext cx="1752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 type="sldNum" idx="12"/>
          </p:nvPr>
        </p:nvSpPr>
        <p:spPr>
          <a:xfrm>
            <a:off x="5785560" y="6566040"/>
            <a:ext cx="6066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b="0" lang="ru-RU" sz="2000" spc="-1" strike="noStrike">
                <a:ln>
                  <a:solidFill>
                    <a:srgbClr val="537599"/>
                  </a:solidFill>
                </a:ln>
                <a:solidFill>
                  <a:srgbClr val="ffffff"/>
                </a:solidFill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fld id="{BA803634-BA02-43BA-8F3D-C47F3E0EEBE0}" type="slidenum">
              <a:rPr b="0" lang="ru-RU" sz="2000" spc="-1" strike="noStrike">
                <a:ln>
                  <a:solidFill>
                    <a:srgbClr val="537599"/>
                  </a:solidFill>
                </a:ln>
                <a:solidFill>
                  <a:srgbClr val="ffffff"/>
                </a:solidFill>
                <a:latin typeface="Calibri"/>
              </a:rPr>
              <a:t>&lt;number&gt;</a:t>
            </a:fld>
            <a:endParaRPr b="0" lang="ru-RU" sz="2000" spc="-1" strike="noStrike">
              <a:solidFill>
                <a:srgbClr val="000000"/>
              </a:solidFill>
              <a:latin typeface="Times New Roman"/>
            </a:endParaRPr>
          </a:p>
        </p:txBody>
      </p:sp>
      <p:cxnSp>
        <p:nvCxnSpPr>
          <p:cNvPr id="106" name="Прямая соединительная линия 8"/>
          <p:cNvCxnSpPr/>
          <p:nvPr/>
        </p:nvCxnSpPr>
        <p:spPr>
          <a:xfrm>
            <a:off x="838080" y="792360"/>
            <a:ext cx="10515960" cy="360"/>
          </a:xfrm>
          <a:prstGeom prst="straightConnector1">
            <a:avLst/>
          </a:prstGeom>
          <a:ln w="22225">
            <a:solidFill>
              <a:srgbClr val="ffffff"/>
            </a:solidFill>
          </a:ln>
        </p:spPr>
      </p:cxnSp>
      <p:cxnSp>
        <p:nvCxnSpPr>
          <p:cNvPr id="107" name="Прямая соединительная линия 9"/>
          <p:cNvCxnSpPr/>
          <p:nvPr/>
        </p:nvCxnSpPr>
        <p:spPr>
          <a:xfrm>
            <a:off x="838080" y="874800"/>
            <a:ext cx="3934080" cy="360"/>
          </a:xfrm>
          <a:prstGeom prst="straightConnector1">
            <a:avLst/>
          </a:prstGeom>
          <a:ln w="22225">
            <a:solidFill>
              <a:srgbClr val="537599"/>
            </a:solidFill>
          </a:ln>
        </p:spPr>
      </p:cxnSp>
      <p:sp>
        <p:nvSpPr>
          <p:cNvPr id="108" name="PlaceHolder 4"/>
          <p:cNvSpPr>
            <a:spLocks noGrp="1"/>
          </p:cNvSpPr>
          <p:nvPr>
            <p:ph type="title"/>
          </p:nvPr>
        </p:nvSpPr>
        <p:spPr>
          <a:xfrm>
            <a:off x="839880" y="176400"/>
            <a:ext cx="3931920" cy="69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3200" spc="-1" strike="noStrike">
                <a:solidFill>
                  <a:schemeClr val="dk1"/>
                </a:solidFill>
                <a:latin typeface="Calibri Light"/>
              </a:rPr>
              <a:t>Образец заголовка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9" name="PlaceHolder 5"/>
          <p:cNvSpPr>
            <a:spLocks noGrp="1"/>
          </p:cNvSpPr>
          <p:nvPr>
            <p:ph type="body"/>
          </p:nvPr>
        </p:nvSpPr>
        <p:spPr>
          <a:xfrm>
            <a:off x="5183280" y="176400"/>
            <a:ext cx="6171840" cy="5684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200" spc="-1" strike="noStrike">
                <a:solidFill>
                  <a:schemeClr val="dk1"/>
                </a:solidFill>
                <a:latin typeface="Calibri"/>
              </a:rPr>
              <a:t>Вставка рисунка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0" name="PlaceHolder 6"/>
          <p:cNvSpPr>
            <a:spLocks noGrp="1"/>
          </p:cNvSpPr>
          <p:nvPr>
            <p:ph type="body"/>
          </p:nvPr>
        </p:nvSpPr>
        <p:spPr>
          <a:xfrm>
            <a:off x="839880" y="874800"/>
            <a:ext cx="3931920" cy="4993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</a:rPr>
              <a:t>Образец текста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4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Прямоугольник 21"/>
          <p:cNvSpPr/>
          <p:nvPr/>
        </p:nvSpPr>
        <p:spPr>
          <a:xfrm rot="5400000">
            <a:off x="-3276720" y="3268440"/>
            <a:ext cx="6906240" cy="369000"/>
          </a:xfrm>
          <a:prstGeom prst="rect">
            <a:avLst/>
          </a:prstGeom>
          <a:solidFill>
            <a:srgbClr val="537599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Box 19"/>
          <p:cNvSpPr/>
          <p:nvPr/>
        </p:nvSpPr>
        <p:spPr>
          <a:xfrm>
            <a:off x="-2880" y="8280"/>
            <a:ext cx="356760" cy="796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01010100010010010010101010101010000001010101011111101010101010111111111110010010010101000101001010101001010010101001010010000001000011</a:t>
            </a:r>
            <a:r>
              <a:rPr b="0" lang="en-US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100100100100001010000101111111111110101010100100101111110010001000101011111000000100101101010101010101000011110</a:t>
            </a: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00110000100101010010111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Прямоугольник 6"/>
          <p:cNvSpPr/>
          <p:nvPr/>
        </p:nvSpPr>
        <p:spPr>
          <a:xfrm>
            <a:off x="0" y="6556680"/>
            <a:ext cx="12191760" cy="369000"/>
          </a:xfrm>
          <a:prstGeom prst="rect">
            <a:avLst/>
          </a:prstGeom>
          <a:solidFill>
            <a:srgbClr val="537599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Box 7"/>
          <p:cNvSpPr/>
          <p:nvPr/>
        </p:nvSpPr>
        <p:spPr>
          <a:xfrm>
            <a:off x="-8640" y="6562440"/>
            <a:ext cx="12195360" cy="5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1010100010010010010101010101010000001010101011111101010101010111111111110010010010101000101001010101001010010101001010010000001000010010101010101010111111111010000100101010111101010101010101101010101010100110011010101010100000100101010010001000100101111111010111101011111010111111110101010101101010101001010101010110110101111110110101</a:t>
            </a:r>
            <a:r>
              <a:rPr b="0" lang="en-US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000010010100100100100001010000101111111111110101010100100101111110010001000101011111000000100101101010101010101000011110</a:t>
            </a: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00110000100101010010111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Box 11"/>
          <p:cNvSpPr/>
          <p:nvPr/>
        </p:nvSpPr>
        <p:spPr>
          <a:xfrm>
            <a:off x="10315080" y="6541920"/>
            <a:ext cx="996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Calibri"/>
              </a:rPr>
              <a:t>www.kaf22.ru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Box 12"/>
          <p:cNvSpPr/>
          <p:nvPr/>
        </p:nvSpPr>
        <p:spPr>
          <a:xfrm>
            <a:off x="9489600" y="6355440"/>
            <a:ext cx="18273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000" spc="-1" strike="noStrike">
                <a:solidFill>
                  <a:srgbClr val="537599"/>
                </a:solidFill>
                <a:latin typeface="Calibri"/>
              </a:rPr>
              <a:t>Кафедра №22 «Кибернетика»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Овал 13"/>
          <p:cNvSpPr/>
          <p:nvPr/>
        </p:nvSpPr>
        <p:spPr>
          <a:xfrm>
            <a:off x="16200" y="6006600"/>
            <a:ext cx="899640" cy="899640"/>
          </a:xfrm>
          <a:prstGeom prst="ellipse">
            <a:avLst/>
          </a:prstGeom>
          <a:solidFill>
            <a:srgbClr val="ffffff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8" name="Рисунок 14" descr=""/>
          <p:cNvPicPr/>
          <p:nvPr/>
        </p:nvPicPr>
        <p:blipFill>
          <a:blip r:embed="rId2"/>
          <a:stretch/>
        </p:blipFill>
        <p:spPr>
          <a:xfrm>
            <a:off x="28800" y="6021360"/>
            <a:ext cx="874440" cy="872640"/>
          </a:xfrm>
          <a:prstGeom prst="rect">
            <a:avLst/>
          </a:prstGeom>
          <a:ln w="0">
            <a:noFill/>
          </a:ln>
        </p:spPr>
      </p:pic>
      <p:sp>
        <p:nvSpPr>
          <p:cNvPr id="119" name="TextBox 15"/>
          <p:cNvSpPr/>
          <p:nvPr/>
        </p:nvSpPr>
        <p:spPr>
          <a:xfrm>
            <a:off x="873000" y="6576120"/>
            <a:ext cx="1048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Calibri"/>
              </a:rPr>
              <a:t>www.mephi.ru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Box 16"/>
          <p:cNvSpPr/>
          <p:nvPr/>
        </p:nvSpPr>
        <p:spPr>
          <a:xfrm>
            <a:off x="866880" y="6374520"/>
            <a:ext cx="9738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000" spc="-1" strike="noStrike">
                <a:solidFill>
                  <a:srgbClr val="537599"/>
                </a:solidFill>
                <a:latin typeface="Calibri"/>
              </a:rPr>
              <a:t>НИЯУ МИФИ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21" name="Прямая соединительная линия 17"/>
          <p:cNvCxnSpPr/>
          <p:nvPr/>
        </p:nvCxnSpPr>
        <p:spPr>
          <a:xfrm>
            <a:off x="838080" y="792360"/>
            <a:ext cx="10515960" cy="360"/>
          </a:xfrm>
          <a:prstGeom prst="straightConnector1">
            <a:avLst/>
          </a:prstGeom>
          <a:ln w="22225">
            <a:solidFill>
              <a:srgbClr val="537599"/>
            </a:solidFill>
          </a:ln>
        </p:spPr>
      </p:cxnSp>
      <p:sp>
        <p:nvSpPr>
          <p:cNvPr id="122" name="Овал 18"/>
          <p:cNvSpPr/>
          <p:nvPr/>
        </p:nvSpPr>
        <p:spPr>
          <a:xfrm>
            <a:off x="11271600" y="6006600"/>
            <a:ext cx="899640" cy="899640"/>
          </a:xfrm>
          <a:prstGeom prst="ellipse">
            <a:avLst/>
          </a:prstGeom>
          <a:solidFill>
            <a:srgbClr val="ffffff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3" name="Рисунок 10" descr=""/>
          <p:cNvPicPr/>
          <p:nvPr/>
        </p:nvPicPr>
        <p:blipFill>
          <a:blip r:embed="rId3"/>
          <a:stretch/>
        </p:blipFill>
        <p:spPr>
          <a:xfrm>
            <a:off x="11244960" y="6021360"/>
            <a:ext cx="926280" cy="791640"/>
          </a:xfrm>
          <a:prstGeom prst="rect">
            <a:avLst/>
          </a:prstGeom>
          <a:ln w="0">
            <a:noFill/>
          </a:ln>
        </p:spPr>
      </p:pic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838080" y="25200"/>
            <a:ext cx="10515240" cy="748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3600" spc="-1" strike="noStrike">
                <a:solidFill>
                  <a:schemeClr val="dk1"/>
                </a:solidFill>
                <a:latin typeface="Calibri Light"/>
              </a:rPr>
              <a:t>Образец заголовка</a:t>
            </a:r>
            <a:endParaRPr b="0" lang="en-US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 type="body"/>
          </p:nvPr>
        </p:nvSpPr>
        <p:spPr>
          <a:xfrm>
            <a:off x="838080" y="870840"/>
            <a:ext cx="10515240" cy="530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pc="-1" strike="noStrike">
                <a:solidFill>
                  <a:schemeClr val="dk1"/>
                </a:solidFill>
                <a:latin typeface="Calibri"/>
              </a:rPr>
              <a:t>Образец текста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pc="-1" strike="noStrike">
                <a:solidFill>
                  <a:schemeClr val="dk1"/>
                </a:solidFill>
                <a:latin typeface="Calibri"/>
              </a:rPr>
              <a:t>Второй уровень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</a:rPr>
              <a:t>Третий уровень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Четвертый уровень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Пятый уровень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 type="dt" idx="13"/>
          </p:nvPr>
        </p:nvSpPr>
        <p:spPr>
          <a:xfrm>
            <a:off x="2352240" y="6452640"/>
            <a:ext cx="1305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PlaceHolder 4"/>
          <p:cNvSpPr>
            <a:spLocks noGrp="1"/>
          </p:cNvSpPr>
          <p:nvPr>
            <p:ph type="ftr" idx="14"/>
          </p:nvPr>
        </p:nvSpPr>
        <p:spPr>
          <a:xfrm>
            <a:off x="6856560" y="6462000"/>
            <a:ext cx="1752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PlaceHolder 5"/>
          <p:cNvSpPr>
            <a:spLocks noGrp="1"/>
          </p:cNvSpPr>
          <p:nvPr>
            <p:ph type="sldNum" idx="15"/>
          </p:nvPr>
        </p:nvSpPr>
        <p:spPr>
          <a:xfrm>
            <a:off x="5785560" y="6566040"/>
            <a:ext cx="6066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b="0" lang="ru-RU" sz="2000" spc="-1" strike="noStrike">
                <a:ln>
                  <a:solidFill>
                    <a:srgbClr val="537599"/>
                  </a:solidFill>
                </a:ln>
                <a:solidFill>
                  <a:srgbClr val="ffffff"/>
                </a:solidFill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fld id="{760B5999-A649-4AA8-AE98-59EEC6FD61AE}" type="slidenum">
              <a:rPr b="0" lang="ru-RU" sz="2000" spc="-1" strike="noStrike">
                <a:ln>
                  <a:solidFill>
                    <a:srgbClr val="537599"/>
                  </a:solidFill>
                </a:ln>
                <a:solidFill>
                  <a:srgbClr val="ffffff"/>
                </a:solidFill>
                <a:latin typeface="Calibri"/>
              </a:rPr>
              <a:t>&lt;number&gt;</a:t>
            </a:fld>
            <a:endParaRPr b="0" lang="ru-RU" sz="2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4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Прямоугольник 21"/>
          <p:cNvSpPr/>
          <p:nvPr/>
        </p:nvSpPr>
        <p:spPr>
          <a:xfrm rot="5400000">
            <a:off x="-3276720" y="3268440"/>
            <a:ext cx="6906240" cy="369000"/>
          </a:xfrm>
          <a:prstGeom prst="rect">
            <a:avLst/>
          </a:prstGeom>
          <a:solidFill>
            <a:srgbClr val="537599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Box 19"/>
          <p:cNvSpPr/>
          <p:nvPr/>
        </p:nvSpPr>
        <p:spPr>
          <a:xfrm>
            <a:off x="-2880" y="8280"/>
            <a:ext cx="356760" cy="796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01010100010010010010101010101010000001010101011111101010101010111111111110010010010101000101001010101001010010101001010010000001000011</a:t>
            </a:r>
            <a:r>
              <a:rPr b="0" lang="en-US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100100100100001010000101111111111110101010100100101111110010001000101011111000000100101101010101010101000011110</a:t>
            </a: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00110000100101010010111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Прямоугольник 6"/>
          <p:cNvSpPr/>
          <p:nvPr/>
        </p:nvSpPr>
        <p:spPr>
          <a:xfrm>
            <a:off x="0" y="6556680"/>
            <a:ext cx="12191760" cy="369000"/>
          </a:xfrm>
          <a:prstGeom prst="rect">
            <a:avLst/>
          </a:prstGeom>
          <a:solidFill>
            <a:srgbClr val="537599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Box 7"/>
          <p:cNvSpPr/>
          <p:nvPr/>
        </p:nvSpPr>
        <p:spPr>
          <a:xfrm>
            <a:off x="-8640" y="6562440"/>
            <a:ext cx="12195360" cy="5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1010100010010010010101010101010000001010101011111101010101010111111111110010010010101000101001010101001010010101001010010000001000010010101010101010111111111010000100101010111101010101010101101010101010100110011010101010100000100101010010001000100101111111010111101011111010111111110101010101101010101001010101010110110101111110110101</a:t>
            </a:r>
            <a:r>
              <a:rPr b="0" lang="en-US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000010010100100100100001010000101111111111110101010100100101111110010001000101011111000000100101101010101010101000011110</a:t>
            </a: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00110000100101010010111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TextBox 11"/>
          <p:cNvSpPr/>
          <p:nvPr/>
        </p:nvSpPr>
        <p:spPr>
          <a:xfrm>
            <a:off x="10315080" y="6541920"/>
            <a:ext cx="996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Calibri"/>
              </a:rPr>
              <a:t>www.kaf22.ru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Box 12"/>
          <p:cNvSpPr/>
          <p:nvPr/>
        </p:nvSpPr>
        <p:spPr>
          <a:xfrm>
            <a:off x="9489600" y="6355440"/>
            <a:ext cx="18273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000" spc="-1" strike="noStrike">
                <a:solidFill>
                  <a:srgbClr val="537599"/>
                </a:solidFill>
                <a:latin typeface="Calibri"/>
              </a:rPr>
              <a:t>Кафедра №22 «Кибернетика»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Овал 13"/>
          <p:cNvSpPr/>
          <p:nvPr/>
        </p:nvSpPr>
        <p:spPr>
          <a:xfrm>
            <a:off x="16200" y="6006600"/>
            <a:ext cx="899640" cy="899640"/>
          </a:xfrm>
          <a:prstGeom prst="ellipse">
            <a:avLst/>
          </a:prstGeom>
          <a:solidFill>
            <a:srgbClr val="ffffff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6" name="Рисунок 14" descr=""/>
          <p:cNvPicPr/>
          <p:nvPr/>
        </p:nvPicPr>
        <p:blipFill>
          <a:blip r:embed="rId2"/>
          <a:stretch/>
        </p:blipFill>
        <p:spPr>
          <a:xfrm>
            <a:off x="28800" y="6021360"/>
            <a:ext cx="874440" cy="872640"/>
          </a:xfrm>
          <a:prstGeom prst="rect">
            <a:avLst/>
          </a:prstGeom>
          <a:ln w="0">
            <a:noFill/>
          </a:ln>
        </p:spPr>
      </p:pic>
      <p:sp>
        <p:nvSpPr>
          <p:cNvPr id="137" name="TextBox 15"/>
          <p:cNvSpPr/>
          <p:nvPr/>
        </p:nvSpPr>
        <p:spPr>
          <a:xfrm>
            <a:off x="873000" y="6576120"/>
            <a:ext cx="1048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Calibri"/>
              </a:rPr>
              <a:t>www.mephi.ru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Box 16"/>
          <p:cNvSpPr/>
          <p:nvPr/>
        </p:nvSpPr>
        <p:spPr>
          <a:xfrm>
            <a:off x="866880" y="6374520"/>
            <a:ext cx="9738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000" spc="-1" strike="noStrike">
                <a:solidFill>
                  <a:srgbClr val="537599"/>
                </a:solidFill>
                <a:latin typeface="Calibri"/>
              </a:rPr>
              <a:t>НИЯУ МИФИ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39" name="Прямая соединительная линия 17"/>
          <p:cNvCxnSpPr/>
          <p:nvPr/>
        </p:nvCxnSpPr>
        <p:spPr>
          <a:xfrm>
            <a:off x="838080" y="792360"/>
            <a:ext cx="10515960" cy="360"/>
          </a:xfrm>
          <a:prstGeom prst="straightConnector1">
            <a:avLst/>
          </a:prstGeom>
          <a:ln w="22225">
            <a:solidFill>
              <a:srgbClr val="537599"/>
            </a:solidFill>
          </a:ln>
        </p:spPr>
      </p:cxnSp>
      <p:sp>
        <p:nvSpPr>
          <p:cNvPr id="140" name="Овал 18"/>
          <p:cNvSpPr/>
          <p:nvPr/>
        </p:nvSpPr>
        <p:spPr>
          <a:xfrm>
            <a:off x="11271600" y="6006600"/>
            <a:ext cx="899640" cy="899640"/>
          </a:xfrm>
          <a:prstGeom prst="ellipse">
            <a:avLst/>
          </a:prstGeom>
          <a:solidFill>
            <a:srgbClr val="ffffff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1" name="Рисунок 10" descr=""/>
          <p:cNvPicPr/>
          <p:nvPr/>
        </p:nvPicPr>
        <p:blipFill>
          <a:blip r:embed="rId3"/>
          <a:stretch/>
        </p:blipFill>
        <p:spPr>
          <a:xfrm>
            <a:off x="11244960" y="6021360"/>
            <a:ext cx="926280" cy="791640"/>
          </a:xfrm>
          <a:prstGeom prst="rect">
            <a:avLst/>
          </a:prstGeom>
          <a:ln w="0">
            <a:noFill/>
          </a:ln>
        </p:spPr>
      </p:pic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3600" spc="-1" strike="noStrike">
                <a:solidFill>
                  <a:schemeClr val="dk1"/>
                </a:solidFill>
                <a:latin typeface="Calibri Light"/>
              </a:rPr>
              <a:t>Образец заголовка</a:t>
            </a:r>
            <a:endParaRPr b="0" lang="en-US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pc="-1" strike="noStrike">
                <a:solidFill>
                  <a:schemeClr val="dk1"/>
                </a:solidFill>
                <a:latin typeface="Calibri"/>
              </a:rPr>
              <a:t>Образец текста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pc="-1" strike="noStrike">
                <a:solidFill>
                  <a:schemeClr val="dk1"/>
                </a:solidFill>
                <a:latin typeface="Calibri"/>
              </a:rPr>
              <a:t>Второй уровень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</a:rPr>
              <a:t>Третий уровень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Четвертый уровень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Пятый уровень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dt" idx="16"/>
          </p:nvPr>
        </p:nvSpPr>
        <p:spPr>
          <a:xfrm>
            <a:off x="2352240" y="6452640"/>
            <a:ext cx="1305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 type="ftr" idx="17"/>
          </p:nvPr>
        </p:nvSpPr>
        <p:spPr>
          <a:xfrm>
            <a:off x="6856560" y="6462000"/>
            <a:ext cx="1752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PlaceHolder 5"/>
          <p:cNvSpPr>
            <a:spLocks noGrp="1"/>
          </p:cNvSpPr>
          <p:nvPr>
            <p:ph type="sldNum" idx="18"/>
          </p:nvPr>
        </p:nvSpPr>
        <p:spPr>
          <a:xfrm>
            <a:off x="5785560" y="6566040"/>
            <a:ext cx="6066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b="0" lang="ru-RU" sz="2000" spc="-1" strike="noStrike">
                <a:ln>
                  <a:solidFill>
                    <a:srgbClr val="537599"/>
                  </a:solidFill>
                </a:ln>
                <a:solidFill>
                  <a:srgbClr val="ffffff"/>
                </a:solidFill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fld id="{95E8CD50-9F3B-406A-9719-D616C98F1DE3}" type="slidenum">
              <a:rPr b="0" lang="ru-RU" sz="2000" spc="-1" strike="noStrike">
                <a:ln>
                  <a:solidFill>
                    <a:srgbClr val="537599"/>
                  </a:solidFill>
                </a:ln>
                <a:solidFill>
                  <a:srgbClr val="ffffff"/>
                </a:solidFill>
                <a:latin typeface="Calibri"/>
              </a:rPr>
              <a:t>&lt;number&gt;</a:t>
            </a:fld>
            <a:endParaRPr b="0" lang="ru-RU" sz="2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4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Прямоугольник 21"/>
          <p:cNvSpPr/>
          <p:nvPr/>
        </p:nvSpPr>
        <p:spPr>
          <a:xfrm rot="5400000">
            <a:off x="-3276720" y="3268440"/>
            <a:ext cx="6906240" cy="369000"/>
          </a:xfrm>
          <a:prstGeom prst="rect">
            <a:avLst/>
          </a:prstGeom>
          <a:solidFill>
            <a:srgbClr val="537599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TextBox 19"/>
          <p:cNvSpPr/>
          <p:nvPr/>
        </p:nvSpPr>
        <p:spPr>
          <a:xfrm>
            <a:off x="-2880" y="8280"/>
            <a:ext cx="356760" cy="796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01010100010010010010101010101010000001010101011111101010101010111111111110010010010101000101001010101001010010101001010010000001000011</a:t>
            </a:r>
            <a:r>
              <a:rPr b="0" lang="en-US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100100100100001010000101111111111110101010100100101111110010001000101011111000000100101101010101010101000011110</a:t>
            </a: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00110000100101010010111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Прямоугольник 6"/>
          <p:cNvSpPr/>
          <p:nvPr/>
        </p:nvSpPr>
        <p:spPr>
          <a:xfrm>
            <a:off x="0" y="6556680"/>
            <a:ext cx="12191760" cy="369000"/>
          </a:xfrm>
          <a:prstGeom prst="rect">
            <a:avLst/>
          </a:prstGeom>
          <a:solidFill>
            <a:srgbClr val="537599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Box 7"/>
          <p:cNvSpPr/>
          <p:nvPr/>
        </p:nvSpPr>
        <p:spPr>
          <a:xfrm>
            <a:off x="-8640" y="6562440"/>
            <a:ext cx="12195360" cy="5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1010100010010010010101010101010000001010101011111101010101010111111111110010010010101000101001010101001010010101001010010000001000010010101010101010111111111010000100101010111101010101010101101010101010100110011010101010100000100101010010001000100101111111010111101011111010111111110101010101101010101001010101010110110101111110110101</a:t>
            </a:r>
            <a:r>
              <a:rPr b="0" lang="en-US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000010010100100100100001010000101111111111110101010100100101111110010001000101011111000000100101101010101010101000011110</a:t>
            </a: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00110000100101010010111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Box 11"/>
          <p:cNvSpPr/>
          <p:nvPr/>
        </p:nvSpPr>
        <p:spPr>
          <a:xfrm>
            <a:off x="10315080" y="6541920"/>
            <a:ext cx="996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Calibri"/>
              </a:rPr>
              <a:t>www.kaf22.ru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Box 12"/>
          <p:cNvSpPr/>
          <p:nvPr/>
        </p:nvSpPr>
        <p:spPr>
          <a:xfrm>
            <a:off x="9489600" y="6355440"/>
            <a:ext cx="18273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000" spc="-1" strike="noStrike">
                <a:solidFill>
                  <a:srgbClr val="537599"/>
                </a:solidFill>
                <a:latin typeface="Calibri"/>
              </a:rPr>
              <a:t>Кафедра №22 «Кибернетика»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Овал 13"/>
          <p:cNvSpPr/>
          <p:nvPr/>
        </p:nvSpPr>
        <p:spPr>
          <a:xfrm>
            <a:off x="16200" y="6006600"/>
            <a:ext cx="899640" cy="899640"/>
          </a:xfrm>
          <a:prstGeom prst="ellipse">
            <a:avLst/>
          </a:prstGeom>
          <a:solidFill>
            <a:srgbClr val="ffffff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4" name="Рисунок 14" descr=""/>
          <p:cNvPicPr/>
          <p:nvPr/>
        </p:nvPicPr>
        <p:blipFill>
          <a:blip r:embed="rId2"/>
          <a:stretch/>
        </p:blipFill>
        <p:spPr>
          <a:xfrm>
            <a:off x="28800" y="6021360"/>
            <a:ext cx="874440" cy="872640"/>
          </a:xfrm>
          <a:prstGeom prst="rect">
            <a:avLst/>
          </a:prstGeom>
          <a:ln w="0">
            <a:noFill/>
          </a:ln>
        </p:spPr>
      </p:pic>
      <p:sp>
        <p:nvSpPr>
          <p:cNvPr id="155" name="TextBox 15"/>
          <p:cNvSpPr/>
          <p:nvPr/>
        </p:nvSpPr>
        <p:spPr>
          <a:xfrm>
            <a:off x="873000" y="6576120"/>
            <a:ext cx="1048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Calibri"/>
              </a:rPr>
              <a:t>www.mephi.ru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Box 16"/>
          <p:cNvSpPr/>
          <p:nvPr/>
        </p:nvSpPr>
        <p:spPr>
          <a:xfrm>
            <a:off x="866880" y="6374520"/>
            <a:ext cx="9738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000" spc="-1" strike="noStrike">
                <a:solidFill>
                  <a:srgbClr val="537599"/>
                </a:solidFill>
                <a:latin typeface="Calibri"/>
              </a:rPr>
              <a:t>НИЯУ МИФИ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57" name="Прямая соединительная линия 17"/>
          <p:cNvCxnSpPr/>
          <p:nvPr/>
        </p:nvCxnSpPr>
        <p:spPr>
          <a:xfrm>
            <a:off x="838080" y="792360"/>
            <a:ext cx="10515960" cy="360"/>
          </a:xfrm>
          <a:prstGeom prst="straightConnector1">
            <a:avLst/>
          </a:prstGeom>
          <a:ln w="22225">
            <a:solidFill>
              <a:srgbClr val="537599"/>
            </a:solidFill>
          </a:ln>
        </p:spPr>
      </p:cxnSp>
      <p:sp>
        <p:nvSpPr>
          <p:cNvPr id="158" name="Овал 18"/>
          <p:cNvSpPr/>
          <p:nvPr/>
        </p:nvSpPr>
        <p:spPr>
          <a:xfrm>
            <a:off x="11271600" y="6006600"/>
            <a:ext cx="899640" cy="899640"/>
          </a:xfrm>
          <a:prstGeom prst="ellipse">
            <a:avLst/>
          </a:prstGeom>
          <a:solidFill>
            <a:srgbClr val="ffffff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9" name="Рисунок 10" descr=""/>
          <p:cNvPicPr/>
          <p:nvPr/>
        </p:nvPicPr>
        <p:blipFill>
          <a:blip r:embed="rId3"/>
          <a:stretch/>
        </p:blipFill>
        <p:spPr>
          <a:xfrm>
            <a:off x="11244960" y="6021360"/>
            <a:ext cx="926280" cy="791640"/>
          </a:xfrm>
          <a:prstGeom prst="rect">
            <a:avLst/>
          </a:prstGeom>
          <a:ln w="0">
            <a:noFill/>
          </a:ln>
        </p:spPr>
      </p:pic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838080" y="25200"/>
            <a:ext cx="10515240" cy="748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3600" spc="-1" strike="noStrike">
                <a:solidFill>
                  <a:schemeClr val="dk1"/>
                </a:solidFill>
                <a:latin typeface="Calibri Light"/>
              </a:rPr>
              <a:t>Образец заголовка</a:t>
            </a:r>
            <a:endParaRPr b="0" lang="en-US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1" name="Ромб 7"/>
          <p:cNvSpPr/>
          <p:nvPr/>
        </p:nvSpPr>
        <p:spPr>
          <a:xfrm>
            <a:off x="5789880" y="6599880"/>
            <a:ext cx="698400" cy="280440"/>
          </a:xfrm>
          <a:prstGeom prst="diamond">
            <a:avLst/>
          </a:prstGeom>
          <a:solidFill>
            <a:schemeClr val="bg1"/>
          </a:solidFill>
          <a:ln w="6350">
            <a:solidFill>
              <a:srgbClr val="5375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anchor="ctr">
            <a:noAutofit/>
          </a:bodyPr>
          <a:p>
            <a:pPr algn="ctr" defTabSz="457200">
              <a:lnSpc>
                <a:spcPct val="100000"/>
              </a:lnSpc>
            </a:pPr>
            <a:endParaRPr b="0" lang="ru-RU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sldNum" idx="19"/>
          </p:nvPr>
        </p:nvSpPr>
        <p:spPr>
          <a:xfrm>
            <a:off x="5846040" y="6591960"/>
            <a:ext cx="569520" cy="28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b="0" lang="ru-RU" sz="1200" spc="-1" strike="noStrike">
                <a:ln>
                  <a:solidFill>
                    <a:srgbClr val="537599"/>
                  </a:solidFill>
                </a:ln>
                <a:solidFill>
                  <a:srgbClr val="ffffff"/>
                </a:solidFill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fld id="{692CBB62-2F7E-4667-8C01-14EC73C94DC9}" type="slidenum">
              <a:rPr b="0" lang="ru-RU" sz="1200" spc="-1" strike="noStrike">
                <a:ln>
                  <a:solidFill>
                    <a:srgbClr val="537599"/>
                  </a:solidFill>
                </a:ln>
                <a:solidFill>
                  <a:srgbClr val="ffffff"/>
                </a:solidFill>
                <a:latin typeface="Calibri"/>
              </a:rPr>
              <a:t>&lt;number&gt;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body"/>
          </p:nvPr>
        </p:nvSpPr>
        <p:spPr>
          <a:xfrm>
            <a:off x="838080" y="903600"/>
            <a:ext cx="5181120" cy="5091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 type="body"/>
          </p:nvPr>
        </p:nvSpPr>
        <p:spPr>
          <a:xfrm>
            <a:off x="6172200" y="903600"/>
            <a:ext cx="5181120" cy="5091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4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Прямоугольник 21"/>
          <p:cNvSpPr/>
          <p:nvPr/>
        </p:nvSpPr>
        <p:spPr>
          <a:xfrm rot="5400000">
            <a:off x="-3276720" y="3268440"/>
            <a:ext cx="6906240" cy="369000"/>
          </a:xfrm>
          <a:prstGeom prst="rect">
            <a:avLst/>
          </a:prstGeom>
          <a:solidFill>
            <a:srgbClr val="537599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Box 19"/>
          <p:cNvSpPr/>
          <p:nvPr/>
        </p:nvSpPr>
        <p:spPr>
          <a:xfrm>
            <a:off x="-2880" y="8280"/>
            <a:ext cx="356760" cy="796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01010100010010010010101010101010000001010101011111101010101010111111111110010010010101000101001010101001010010101001010010000001000011</a:t>
            </a:r>
            <a:r>
              <a:rPr b="0" lang="en-US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100100100100001010000101111111111110101010100100101111110010001000101011111000000100101101010101010101000011110</a:t>
            </a: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00110000100101010010111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Прямоугольник 6"/>
          <p:cNvSpPr/>
          <p:nvPr/>
        </p:nvSpPr>
        <p:spPr>
          <a:xfrm>
            <a:off x="0" y="6556680"/>
            <a:ext cx="12191760" cy="369000"/>
          </a:xfrm>
          <a:prstGeom prst="rect">
            <a:avLst/>
          </a:prstGeom>
          <a:solidFill>
            <a:srgbClr val="537599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Box 7"/>
          <p:cNvSpPr/>
          <p:nvPr/>
        </p:nvSpPr>
        <p:spPr>
          <a:xfrm>
            <a:off x="-8640" y="6562440"/>
            <a:ext cx="12195360" cy="5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1010100010010010010101010101010000001010101011111101010101010111111111110010010010101000101001010101001010010101001010010000001000010010101010101010111111111010000100101010111101010101010101101010101010100110011010101010100000100101010010001000100101111111010111101011111010111111110101010101101010101001010101010110110101111110110101</a:t>
            </a:r>
            <a:r>
              <a:rPr b="0" lang="en-US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000010010100100100100001010000101111111111110101010100100101111110010001000101011111000000100101101010101010101000011110</a:t>
            </a: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00110000100101010010111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Box 11"/>
          <p:cNvSpPr/>
          <p:nvPr/>
        </p:nvSpPr>
        <p:spPr>
          <a:xfrm>
            <a:off x="10315080" y="6541920"/>
            <a:ext cx="996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Calibri"/>
              </a:rPr>
              <a:t>www.kaf22.ru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Box 12"/>
          <p:cNvSpPr/>
          <p:nvPr/>
        </p:nvSpPr>
        <p:spPr>
          <a:xfrm>
            <a:off x="9489600" y="6355440"/>
            <a:ext cx="18273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000" spc="-1" strike="noStrike">
                <a:solidFill>
                  <a:srgbClr val="537599"/>
                </a:solidFill>
                <a:latin typeface="Calibri"/>
              </a:rPr>
              <a:t>Кафедра №22 «Кибернетика»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Овал 13"/>
          <p:cNvSpPr/>
          <p:nvPr/>
        </p:nvSpPr>
        <p:spPr>
          <a:xfrm>
            <a:off x="16200" y="6006600"/>
            <a:ext cx="899640" cy="899640"/>
          </a:xfrm>
          <a:prstGeom prst="ellipse">
            <a:avLst/>
          </a:prstGeom>
          <a:solidFill>
            <a:srgbClr val="ffffff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2" name="Рисунок 14" descr=""/>
          <p:cNvPicPr/>
          <p:nvPr/>
        </p:nvPicPr>
        <p:blipFill>
          <a:blip r:embed="rId2"/>
          <a:stretch/>
        </p:blipFill>
        <p:spPr>
          <a:xfrm>
            <a:off x="28800" y="6021360"/>
            <a:ext cx="874440" cy="872640"/>
          </a:xfrm>
          <a:prstGeom prst="rect">
            <a:avLst/>
          </a:prstGeom>
          <a:ln w="0">
            <a:noFill/>
          </a:ln>
        </p:spPr>
      </p:pic>
      <p:sp>
        <p:nvSpPr>
          <p:cNvPr id="173" name="TextBox 15"/>
          <p:cNvSpPr/>
          <p:nvPr/>
        </p:nvSpPr>
        <p:spPr>
          <a:xfrm>
            <a:off x="873000" y="6576120"/>
            <a:ext cx="1048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Calibri"/>
              </a:rPr>
              <a:t>www.mephi.ru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Box 16"/>
          <p:cNvSpPr/>
          <p:nvPr/>
        </p:nvSpPr>
        <p:spPr>
          <a:xfrm>
            <a:off x="866880" y="6374520"/>
            <a:ext cx="9738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000" spc="-1" strike="noStrike">
                <a:solidFill>
                  <a:srgbClr val="537599"/>
                </a:solidFill>
                <a:latin typeface="Calibri"/>
              </a:rPr>
              <a:t>НИЯУ МИФИ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75" name="Прямая соединительная линия 17"/>
          <p:cNvCxnSpPr/>
          <p:nvPr/>
        </p:nvCxnSpPr>
        <p:spPr>
          <a:xfrm>
            <a:off x="838080" y="792360"/>
            <a:ext cx="10515960" cy="360"/>
          </a:xfrm>
          <a:prstGeom prst="straightConnector1">
            <a:avLst/>
          </a:prstGeom>
          <a:ln w="22225">
            <a:solidFill>
              <a:srgbClr val="537599"/>
            </a:solidFill>
          </a:ln>
        </p:spPr>
      </p:cxnSp>
      <p:sp>
        <p:nvSpPr>
          <p:cNvPr id="176" name="Овал 18"/>
          <p:cNvSpPr/>
          <p:nvPr/>
        </p:nvSpPr>
        <p:spPr>
          <a:xfrm>
            <a:off x="11271600" y="6006600"/>
            <a:ext cx="899640" cy="899640"/>
          </a:xfrm>
          <a:prstGeom prst="ellipse">
            <a:avLst/>
          </a:prstGeom>
          <a:solidFill>
            <a:srgbClr val="ffffff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7" name="Рисунок 10" descr=""/>
          <p:cNvPicPr/>
          <p:nvPr/>
        </p:nvPicPr>
        <p:blipFill>
          <a:blip r:embed="rId3"/>
          <a:stretch/>
        </p:blipFill>
        <p:spPr>
          <a:xfrm>
            <a:off x="11244960" y="6021360"/>
            <a:ext cx="926280" cy="791640"/>
          </a:xfrm>
          <a:prstGeom prst="rect">
            <a:avLst/>
          </a:prstGeom>
          <a:ln w="0">
            <a:noFill/>
          </a:ln>
        </p:spPr>
      </p:pic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1499400" y="3435840"/>
            <a:ext cx="9143640" cy="1055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ru-RU" sz="2400" spc="-1" strike="noStrike">
                <a:solidFill>
                  <a:srgbClr val="92d050"/>
                </a:solidFill>
                <a:latin typeface="Arial"/>
              </a:rPr>
              <a:t>Название </a:t>
            </a:r>
            <a:br>
              <a:rPr sz="2400"/>
            </a:br>
            <a:r>
              <a:rPr b="0" lang="ru-RU" sz="2400" spc="-1" strike="noStrike">
                <a:solidFill>
                  <a:srgbClr val="92d050"/>
                </a:solidFill>
                <a:latin typeface="Arial"/>
              </a:rPr>
              <a:t>выпускной квалификационной работы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9" name="Заголовок 1"/>
          <p:cNvSpPr/>
          <p:nvPr/>
        </p:nvSpPr>
        <p:spPr>
          <a:xfrm>
            <a:off x="239400" y="1132560"/>
            <a:ext cx="11952360" cy="147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 fontScale="96604" lnSpcReduction="10000"/>
          </a:bodyPr>
          <a:p>
            <a:pPr algn="ctr" defTabSz="914400">
              <a:lnSpc>
                <a:spcPct val="100000"/>
              </a:lnSpc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ru-RU" sz="1400" spc="-1" strike="noStrike" cap="all">
                <a:solidFill>
                  <a:schemeClr val="dk1"/>
                </a:solidFill>
                <a:latin typeface="Arial"/>
              </a:rPr>
              <a:t>Институт интеллектуальных кибернетических систем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ru-RU" sz="1300" spc="-1" strike="noStrike" cap="all">
                <a:solidFill>
                  <a:schemeClr val="dk1"/>
                </a:solidFill>
                <a:latin typeface="Arial"/>
              </a:rPr>
              <a:t>Кафедра кибернетики (№ 22)</a:t>
            </a:r>
            <a:endParaRPr b="0" lang="ru-RU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1" lang="en-US" sz="1200" spc="-1" strike="noStrike" cap="all">
                <a:solidFill>
                  <a:schemeClr val="dk1"/>
                </a:solidFill>
                <a:latin typeface="Arial"/>
              </a:rPr>
              <a:t>	</a:t>
            </a:r>
            <a:r>
              <a:rPr b="1" lang="en-US" sz="1200" spc="-1" strike="noStrike" cap="all">
                <a:solidFill>
                  <a:schemeClr val="dk1"/>
                </a:solidFill>
                <a:latin typeface="Arial"/>
              </a:rPr>
              <a:t>	</a:t>
            </a:r>
            <a:r>
              <a:rPr b="1" lang="en-US" sz="1200" spc="-1" strike="noStrike" cap="all">
                <a:solidFill>
                  <a:schemeClr val="dk1"/>
                </a:solidFill>
                <a:latin typeface="Arial"/>
              </a:rPr>
              <a:t>	</a:t>
            </a:r>
            <a:r>
              <a:rPr b="1" lang="en-US" sz="1200" spc="-1" strike="noStrike" cap="all">
                <a:solidFill>
                  <a:schemeClr val="dk1"/>
                </a:solidFill>
                <a:latin typeface="Arial"/>
              </a:rPr>
              <a:t>	</a:t>
            </a:r>
            <a:r>
              <a:rPr b="1" lang="ru-RU" sz="1200" spc="-1" strike="noStrike" cap="all">
                <a:solidFill>
                  <a:schemeClr val="dk1"/>
                </a:solidFill>
                <a:latin typeface="Arial"/>
              </a:rPr>
              <a:t>Направление подготовки</a:t>
            </a:r>
            <a:endParaRPr b="0" lang="ru-RU" sz="1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80" name="Таблица 12"/>
          <p:cNvGraphicFramePr/>
          <p:nvPr/>
        </p:nvGraphicFramePr>
        <p:xfrm>
          <a:off x="6341400" y="4582080"/>
          <a:ext cx="5796360" cy="1163880"/>
        </p:xfrm>
        <a:graphic>
          <a:graphicData uri="http://schemas.openxmlformats.org/drawingml/2006/table">
            <a:tbl>
              <a:tblPr/>
              <a:tblGrid>
                <a:gridCol w="3063600"/>
                <a:gridCol w="2732400"/>
              </a:tblGrid>
              <a:tr h="370800">
                <a:tc>
                  <a:txBody>
                    <a:bodyPr lIns="121680" rIns="121680"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b="1" lang="ru-RU" sz="16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Студент:</a:t>
                      </a:r>
                      <a:endParaRPr b="0" lang="ru-RU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21680" marR="1216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121680" rIns="121680" anchor="t">
                      <a:noAutofit/>
                    </a:bodyPr>
                    <a:p>
                      <a:endParaRPr b="0" lang="ru-RU" sz="1600" spc="-1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anchor="t" marL="121680" marR="1216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22280">
                <a:tc>
                  <a:txBody>
                    <a:bodyPr lIns="121680" rIns="121680"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b="1" lang="ru-RU" sz="16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Группа:</a:t>
                      </a:r>
                      <a:endParaRPr b="0" lang="ru-RU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21680" marR="1216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121680" rIns="121680" anchor="t">
                      <a:noAutofit/>
                    </a:bodyPr>
                    <a:p>
                      <a:endParaRPr b="0" lang="ru-RU" sz="1600" spc="-1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anchor="t" marL="121680" marR="1216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70800">
                <a:tc>
                  <a:txBody>
                    <a:bodyPr lIns="121680" rIns="121680"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b="1" lang="ru-RU" sz="16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Научный руководитель:</a:t>
                      </a:r>
                      <a:endParaRPr b="0" lang="ru-RU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21680" marR="1216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121680" rIns="121680" anchor="t">
                      <a:noAutofit/>
                    </a:bodyPr>
                    <a:p>
                      <a:endParaRPr b="0" lang="ru-RU" sz="1600" spc="-1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anchor="t" marL="121680" marR="1216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81" name="TextBox 13"/>
          <p:cNvSpPr/>
          <p:nvPr/>
        </p:nvSpPr>
        <p:spPr>
          <a:xfrm>
            <a:off x="3689280" y="2883240"/>
            <a:ext cx="45032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600" spc="-1" strike="noStrike">
                <a:solidFill>
                  <a:schemeClr val="dk1"/>
                </a:solidFill>
                <a:latin typeface="Arial Black"/>
              </a:rPr>
              <a:t>Научно-исследовательская работа на тему: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Box 14"/>
          <p:cNvSpPr/>
          <p:nvPr/>
        </p:nvSpPr>
        <p:spPr>
          <a:xfrm>
            <a:off x="5195880" y="6232680"/>
            <a:ext cx="14900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</a:rPr>
              <a:t>Москва, 20</a:t>
            </a: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21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Прямоугольник 1"/>
          <p:cNvSpPr/>
          <p:nvPr/>
        </p:nvSpPr>
        <p:spPr>
          <a:xfrm>
            <a:off x="595440" y="-2520"/>
            <a:ext cx="11534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ru-RU" sz="1600" spc="-1" strike="noStrike">
                <a:solidFill>
                  <a:schemeClr val="dk1"/>
                </a:solidFill>
                <a:latin typeface="Arial"/>
              </a:rPr>
              <a:t>МИНИСТЕРСТВО НАУКИ И ВЫСШЕГО ОБРАЗОВАНИЯ РОССИЙСКОЙ  ФЕДЕРАЦИИ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ru-RU" sz="1600" spc="-1" strike="noStrike">
                <a:solidFill>
                  <a:schemeClr val="dk1"/>
                </a:solidFill>
                <a:latin typeface="Arial"/>
              </a:rPr>
              <a:t>Федеральное государственное автономное образовательное учреждение высшего образования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ru-RU" sz="1600" spc="-1" strike="noStrike">
                <a:solidFill>
                  <a:schemeClr val="dk1"/>
                </a:solidFill>
                <a:latin typeface="Arial"/>
              </a:rPr>
              <a:t> </a:t>
            </a:r>
            <a:r>
              <a:rPr b="1" lang="ru-RU" sz="1600" spc="-1" strike="noStrike">
                <a:solidFill>
                  <a:schemeClr val="dk1"/>
                </a:solidFill>
                <a:latin typeface="Arial"/>
              </a:rPr>
              <a:t>«Национальный исследовательский ядерный университет «МИФИ»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Заголовок 6"/>
          <p:cNvSpPr/>
          <p:nvPr/>
        </p:nvSpPr>
        <p:spPr>
          <a:xfrm>
            <a:off x="9344880" y="4570920"/>
            <a:ext cx="2365920" cy="35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defTabSz="914400">
              <a:lnSpc>
                <a:spcPct val="90000"/>
              </a:lnSpc>
            </a:pPr>
            <a:r>
              <a:rPr b="0" lang="ru-RU" sz="1600" spc="-1" strike="noStrike">
                <a:solidFill>
                  <a:srgbClr val="92d050"/>
                </a:solidFill>
                <a:latin typeface="Arial"/>
              </a:rPr>
              <a:t>Петров П.П.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Заголовок 6"/>
          <p:cNvSpPr/>
          <p:nvPr/>
        </p:nvSpPr>
        <p:spPr>
          <a:xfrm>
            <a:off x="9344880" y="4925520"/>
            <a:ext cx="2365920" cy="35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defTabSz="914400">
              <a:lnSpc>
                <a:spcPct val="90000"/>
              </a:lnSpc>
            </a:pPr>
            <a:r>
              <a:rPr b="0" lang="ru-RU" sz="1600" spc="-1" strike="noStrike">
                <a:solidFill>
                  <a:srgbClr val="92d050"/>
                </a:solidFill>
                <a:latin typeface="Arial"/>
              </a:rPr>
              <a:t>Петров П.П.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Заголовок 6"/>
          <p:cNvSpPr/>
          <p:nvPr/>
        </p:nvSpPr>
        <p:spPr>
          <a:xfrm>
            <a:off x="9344880" y="5298120"/>
            <a:ext cx="2365920" cy="66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defTabSz="914400">
              <a:lnSpc>
                <a:spcPct val="90000"/>
              </a:lnSpc>
            </a:pPr>
            <a:r>
              <a:rPr b="0" lang="ru-RU" sz="1600" spc="-1" strike="noStrike">
                <a:solidFill>
                  <a:srgbClr val="92d050"/>
                </a:solidFill>
                <a:latin typeface="Arial"/>
              </a:rPr>
              <a:t>к.т.н. доцент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90000"/>
              </a:lnSpc>
            </a:pPr>
            <a:r>
              <a:rPr b="0" lang="ru-RU" sz="1600" spc="-1" strike="noStrike">
                <a:solidFill>
                  <a:srgbClr val="92d050"/>
                </a:solidFill>
                <a:latin typeface="Arial"/>
              </a:rPr>
              <a:t>Петров П.П.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Заголовок 6"/>
          <p:cNvSpPr/>
          <p:nvPr/>
        </p:nvSpPr>
        <p:spPr>
          <a:xfrm>
            <a:off x="6329520" y="2262600"/>
            <a:ext cx="4257000" cy="35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defTabSz="914400">
              <a:lnSpc>
                <a:spcPct val="90000"/>
              </a:lnSpc>
            </a:pPr>
            <a:r>
              <a:rPr b="1" lang="ru-RU" sz="1100" spc="-1" strike="noStrike">
                <a:solidFill>
                  <a:srgbClr val="92d050"/>
                </a:solidFill>
                <a:latin typeface="Arial"/>
              </a:rPr>
              <a:t>09.03.04 ПРОГРАММНАЯ ИНЖЕНЕРИЯ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4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Прямоугольник 21"/>
          <p:cNvSpPr/>
          <p:nvPr/>
        </p:nvSpPr>
        <p:spPr>
          <a:xfrm rot="5400000">
            <a:off x="-3276720" y="3268440"/>
            <a:ext cx="6906240" cy="369000"/>
          </a:xfrm>
          <a:prstGeom prst="rect">
            <a:avLst/>
          </a:prstGeom>
          <a:solidFill>
            <a:srgbClr val="537599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9"/>
          <p:cNvSpPr/>
          <p:nvPr/>
        </p:nvSpPr>
        <p:spPr>
          <a:xfrm>
            <a:off x="-2880" y="8280"/>
            <a:ext cx="356760" cy="796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01010100010010010010101010101010000001010101011111101010101010111111111110010010010101000101001010101001010010101001010010000001000011</a:t>
            </a:r>
            <a:r>
              <a:rPr b="0" lang="en-US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100100100100001010000101111111111110101010100100101111110010001000101011111000000100101101010101010101000011110</a:t>
            </a: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00110000100101010010111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Прямоугольник 6"/>
          <p:cNvSpPr/>
          <p:nvPr/>
        </p:nvSpPr>
        <p:spPr>
          <a:xfrm>
            <a:off x="0" y="6556680"/>
            <a:ext cx="12191760" cy="369000"/>
          </a:xfrm>
          <a:prstGeom prst="rect">
            <a:avLst/>
          </a:prstGeom>
          <a:solidFill>
            <a:srgbClr val="537599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TextBox 7"/>
          <p:cNvSpPr/>
          <p:nvPr/>
        </p:nvSpPr>
        <p:spPr>
          <a:xfrm>
            <a:off x="-8640" y="6562440"/>
            <a:ext cx="12195360" cy="5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1010100010010010010101010101010000001010101011111101010101010111111111110010010010101000101001010101001010010101001010010000001000010010101010101010111111111010000100101010111101010101010101101010101010100110011010101010100000100101010010001000100101111111010111101011111010111111110101010101101010101001010101010110110101111110110101</a:t>
            </a:r>
            <a:r>
              <a:rPr b="0" lang="en-US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000010010100100100100001010000101111111111110101010100100101111110010001000101011111000000100101101010101010101000011110</a:t>
            </a: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00110000100101010010111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TextBox 11"/>
          <p:cNvSpPr/>
          <p:nvPr/>
        </p:nvSpPr>
        <p:spPr>
          <a:xfrm>
            <a:off x="10315080" y="6541920"/>
            <a:ext cx="996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Calibri"/>
              </a:rPr>
              <a:t>www.kaf22.ru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Box 12"/>
          <p:cNvSpPr/>
          <p:nvPr/>
        </p:nvSpPr>
        <p:spPr>
          <a:xfrm>
            <a:off x="9489600" y="6355440"/>
            <a:ext cx="18273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000" spc="-1" strike="noStrike">
                <a:solidFill>
                  <a:srgbClr val="537599"/>
                </a:solidFill>
                <a:latin typeface="Calibri"/>
              </a:rPr>
              <a:t>Кафедра №22 «Кибернетика»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Овал 13"/>
          <p:cNvSpPr/>
          <p:nvPr/>
        </p:nvSpPr>
        <p:spPr>
          <a:xfrm>
            <a:off x="16200" y="6006600"/>
            <a:ext cx="899640" cy="899640"/>
          </a:xfrm>
          <a:prstGeom prst="ellipse">
            <a:avLst/>
          </a:prstGeom>
          <a:solidFill>
            <a:srgbClr val="ffffff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5" name="Рисунок 14" descr=""/>
          <p:cNvPicPr/>
          <p:nvPr/>
        </p:nvPicPr>
        <p:blipFill>
          <a:blip r:embed="rId2"/>
          <a:stretch/>
        </p:blipFill>
        <p:spPr>
          <a:xfrm>
            <a:off x="28800" y="6021360"/>
            <a:ext cx="874440" cy="872640"/>
          </a:xfrm>
          <a:prstGeom prst="rect">
            <a:avLst/>
          </a:prstGeom>
          <a:ln w="0">
            <a:noFill/>
          </a:ln>
        </p:spPr>
      </p:pic>
      <p:sp>
        <p:nvSpPr>
          <p:cNvPr id="196" name="TextBox 15"/>
          <p:cNvSpPr/>
          <p:nvPr/>
        </p:nvSpPr>
        <p:spPr>
          <a:xfrm>
            <a:off x="873000" y="6576120"/>
            <a:ext cx="1048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Calibri"/>
              </a:rPr>
              <a:t>www.mephi.ru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TextBox 16"/>
          <p:cNvSpPr/>
          <p:nvPr/>
        </p:nvSpPr>
        <p:spPr>
          <a:xfrm>
            <a:off x="866880" y="6374520"/>
            <a:ext cx="9738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000" spc="-1" strike="noStrike">
                <a:solidFill>
                  <a:srgbClr val="537599"/>
                </a:solidFill>
                <a:latin typeface="Calibri"/>
              </a:rPr>
              <a:t>НИЯУ МИФИ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98" name="Прямая соединительная линия 17"/>
          <p:cNvCxnSpPr/>
          <p:nvPr/>
        </p:nvCxnSpPr>
        <p:spPr>
          <a:xfrm>
            <a:off x="838080" y="792360"/>
            <a:ext cx="10515960" cy="360"/>
          </a:xfrm>
          <a:prstGeom prst="straightConnector1">
            <a:avLst/>
          </a:prstGeom>
          <a:ln w="22225">
            <a:solidFill>
              <a:srgbClr val="537599"/>
            </a:solidFill>
          </a:ln>
        </p:spPr>
      </p:cxnSp>
      <p:sp>
        <p:nvSpPr>
          <p:cNvPr id="199" name="Овал 18"/>
          <p:cNvSpPr/>
          <p:nvPr/>
        </p:nvSpPr>
        <p:spPr>
          <a:xfrm>
            <a:off x="11271600" y="6006600"/>
            <a:ext cx="899640" cy="899640"/>
          </a:xfrm>
          <a:prstGeom prst="ellipse">
            <a:avLst/>
          </a:prstGeom>
          <a:solidFill>
            <a:srgbClr val="ffffff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0" name="Рисунок 10" descr=""/>
          <p:cNvPicPr/>
          <p:nvPr/>
        </p:nvPicPr>
        <p:blipFill>
          <a:blip r:embed="rId3"/>
          <a:stretch/>
        </p:blipFill>
        <p:spPr>
          <a:xfrm>
            <a:off x="11244960" y="6021360"/>
            <a:ext cx="926280" cy="791640"/>
          </a:xfrm>
          <a:prstGeom prst="rect">
            <a:avLst/>
          </a:prstGeom>
          <a:ln w="0">
            <a:noFill/>
          </a:ln>
        </p:spPr>
      </p:pic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1499400" y="3435840"/>
            <a:ext cx="9143640" cy="1055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ru-RU" sz="2400" spc="-1" strike="noStrike">
                <a:solidFill>
                  <a:srgbClr val="92d050"/>
                </a:solidFill>
                <a:latin typeface="Arial"/>
              </a:rPr>
              <a:t>Название </a:t>
            </a:r>
            <a:br>
              <a:rPr sz="2400"/>
            </a:br>
            <a:r>
              <a:rPr b="0" lang="ru-RU" sz="2400" spc="-1" strike="noStrike">
                <a:solidFill>
                  <a:srgbClr val="92d050"/>
                </a:solidFill>
                <a:latin typeface="Arial"/>
              </a:rPr>
              <a:t>выпускной квалификационной работы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02" name="Заголовок 1"/>
          <p:cNvSpPr/>
          <p:nvPr/>
        </p:nvSpPr>
        <p:spPr>
          <a:xfrm>
            <a:off x="239400" y="1132560"/>
            <a:ext cx="11952360" cy="147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 fontScale="96604" lnSpcReduction="10000"/>
          </a:bodyPr>
          <a:p>
            <a:pPr algn="ctr" defTabSz="914400">
              <a:lnSpc>
                <a:spcPct val="100000"/>
              </a:lnSpc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ru-RU" sz="1400" spc="-1" strike="noStrike" cap="all">
                <a:solidFill>
                  <a:schemeClr val="dk1"/>
                </a:solidFill>
                <a:latin typeface="Arial"/>
              </a:rPr>
              <a:t>Институт интеллектуальных кибернетических систем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ru-RU" sz="1300" spc="-1" strike="noStrike" cap="all">
                <a:solidFill>
                  <a:schemeClr val="dk1"/>
                </a:solidFill>
                <a:latin typeface="Arial"/>
              </a:rPr>
              <a:t>Кафедра кибернетики (№ 22)</a:t>
            </a:r>
            <a:endParaRPr b="0" lang="ru-RU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1" lang="en-US" sz="1200" spc="-1" strike="noStrike" cap="all">
                <a:solidFill>
                  <a:schemeClr val="dk1"/>
                </a:solidFill>
                <a:latin typeface="Arial"/>
              </a:rPr>
              <a:t>	</a:t>
            </a:r>
            <a:r>
              <a:rPr b="1" lang="en-US" sz="1200" spc="-1" strike="noStrike" cap="all">
                <a:solidFill>
                  <a:schemeClr val="dk1"/>
                </a:solidFill>
                <a:latin typeface="Arial"/>
              </a:rPr>
              <a:t>	</a:t>
            </a:r>
            <a:r>
              <a:rPr b="1" lang="en-US" sz="1200" spc="-1" strike="noStrike" cap="all">
                <a:solidFill>
                  <a:schemeClr val="dk1"/>
                </a:solidFill>
                <a:latin typeface="Arial"/>
              </a:rPr>
              <a:t>	</a:t>
            </a:r>
            <a:r>
              <a:rPr b="1" lang="en-US" sz="1200" spc="-1" strike="noStrike" cap="all">
                <a:solidFill>
                  <a:schemeClr val="dk1"/>
                </a:solidFill>
                <a:latin typeface="Arial"/>
              </a:rPr>
              <a:t>	</a:t>
            </a:r>
            <a:r>
              <a:rPr b="1" lang="ru-RU" sz="1200" spc="-1" strike="noStrike" cap="all">
                <a:solidFill>
                  <a:schemeClr val="dk1"/>
                </a:solidFill>
                <a:latin typeface="Arial"/>
              </a:rPr>
              <a:t>Направление подготовки</a:t>
            </a:r>
            <a:endParaRPr b="0" lang="ru-RU" sz="1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03" name="Таблица 12"/>
          <p:cNvGraphicFramePr/>
          <p:nvPr/>
        </p:nvGraphicFramePr>
        <p:xfrm>
          <a:off x="6341400" y="4582080"/>
          <a:ext cx="5796360" cy="1163880"/>
        </p:xfrm>
        <a:graphic>
          <a:graphicData uri="http://schemas.openxmlformats.org/drawingml/2006/table">
            <a:tbl>
              <a:tblPr/>
              <a:tblGrid>
                <a:gridCol w="3063600"/>
                <a:gridCol w="2732400"/>
              </a:tblGrid>
              <a:tr h="370800">
                <a:tc>
                  <a:txBody>
                    <a:bodyPr lIns="121680" rIns="121680"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b="1" lang="ru-RU" sz="16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Студент:</a:t>
                      </a:r>
                      <a:endParaRPr b="0" lang="ru-RU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21680" marR="1216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121680" rIns="121680" anchor="t">
                      <a:noAutofit/>
                    </a:bodyPr>
                    <a:p>
                      <a:endParaRPr b="0" lang="ru-RU" sz="1600" spc="-1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anchor="t" marL="121680" marR="1216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22280">
                <a:tc>
                  <a:txBody>
                    <a:bodyPr lIns="121680" rIns="121680"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b="1" lang="ru-RU" sz="16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Группа:</a:t>
                      </a:r>
                      <a:endParaRPr b="0" lang="ru-RU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21680" marR="1216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121680" rIns="121680" anchor="t">
                      <a:noAutofit/>
                    </a:bodyPr>
                    <a:p>
                      <a:endParaRPr b="0" lang="ru-RU" sz="1600" spc="-1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anchor="t" marL="121680" marR="1216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70800">
                <a:tc>
                  <a:txBody>
                    <a:bodyPr lIns="121680" rIns="121680"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b="1" lang="ru-RU" sz="16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Научный руководитель:</a:t>
                      </a:r>
                      <a:endParaRPr b="0" lang="ru-RU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21680" marR="1216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121680" rIns="121680" anchor="t">
                      <a:noAutofit/>
                    </a:bodyPr>
                    <a:p>
                      <a:endParaRPr b="0" lang="ru-RU" sz="1600" spc="-1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anchor="t" marL="121680" marR="1216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04" name="TextBox 13"/>
          <p:cNvSpPr/>
          <p:nvPr/>
        </p:nvSpPr>
        <p:spPr>
          <a:xfrm>
            <a:off x="3504600" y="2883240"/>
            <a:ext cx="487188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600" spc="-1" strike="noStrike">
                <a:solidFill>
                  <a:schemeClr val="dk1"/>
                </a:solidFill>
                <a:latin typeface="Arial Black"/>
              </a:rPr>
              <a:t>Выпускная квалификационная работа на тему: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TextBox 14"/>
          <p:cNvSpPr/>
          <p:nvPr/>
        </p:nvSpPr>
        <p:spPr>
          <a:xfrm>
            <a:off x="5195880" y="6232680"/>
            <a:ext cx="14900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</a:rPr>
              <a:t>Москва, 20</a:t>
            </a: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21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Прямоугольник 1"/>
          <p:cNvSpPr/>
          <p:nvPr/>
        </p:nvSpPr>
        <p:spPr>
          <a:xfrm>
            <a:off x="595440" y="-2520"/>
            <a:ext cx="11534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ru-RU" sz="1600" spc="-1" strike="noStrike">
                <a:solidFill>
                  <a:schemeClr val="dk1"/>
                </a:solidFill>
                <a:latin typeface="Arial"/>
              </a:rPr>
              <a:t>МИНИСТЕРСТВО НАУКИ И ВЫСШЕГО ОБРАЗОВАНИЯ РОССИЙСКОЙ  ФЕДЕРАЦИИ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ru-RU" sz="1600" spc="-1" strike="noStrike">
                <a:solidFill>
                  <a:schemeClr val="dk1"/>
                </a:solidFill>
                <a:latin typeface="Arial"/>
              </a:rPr>
              <a:t>Федеральное государственное автономное образовательное учреждение высшего образования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ru-RU" sz="1600" spc="-1" strike="noStrike">
                <a:solidFill>
                  <a:schemeClr val="dk1"/>
                </a:solidFill>
                <a:latin typeface="Arial"/>
              </a:rPr>
              <a:t> </a:t>
            </a:r>
            <a:r>
              <a:rPr b="1" lang="ru-RU" sz="1600" spc="-1" strike="noStrike">
                <a:solidFill>
                  <a:schemeClr val="dk1"/>
                </a:solidFill>
                <a:latin typeface="Arial"/>
              </a:rPr>
              <a:t>«Национальный исследовательский ядерный университет «МИФИ»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Заголовок 6"/>
          <p:cNvSpPr/>
          <p:nvPr/>
        </p:nvSpPr>
        <p:spPr>
          <a:xfrm>
            <a:off x="9344880" y="4570920"/>
            <a:ext cx="2365920" cy="35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defTabSz="914400">
              <a:lnSpc>
                <a:spcPct val="90000"/>
              </a:lnSpc>
            </a:pPr>
            <a:r>
              <a:rPr b="0" lang="ru-RU" sz="1600" spc="-1" strike="noStrike">
                <a:solidFill>
                  <a:srgbClr val="92d050"/>
                </a:solidFill>
                <a:latin typeface="Arial"/>
              </a:rPr>
              <a:t>Петров П.П.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Заголовок 6"/>
          <p:cNvSpPr/>
          <p:nvPr/>
        </p:nvSpPr>
        <p:spPr>
          <a:xfrm>
            <a:off x="9344880" y="4925520"/>
            <a:ext cx="2365920" cy="35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defTabSz="914400">
              <a:lnSpc>
                <a:spcPct val="90000"/>
              </a:lnSpc>
            </a:pPr>
            <a:r>
              <a:rPr b="0" lang="ru-RU" sz="1600" spc="-1" strike="noStrike">
                <a:solidFill>
                  <a:srgbClr val="92d050"/>
                </a:solidFill>
                <a:latin typeface="Arial"/>
              </a:rPr>
              <a:t>Петров П.П.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Заголовок 6"/>
          <p:cNvSpPr/>
          <p:nvPr/>
        </p:nvSpPr>
        <p:spPr>
          <a:xfrm>
            <a:off x="9344880" y="5298120"/>
            <a:ext cx="2365920" cy="66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defTabSz="914400">
              <a:lnSpc>
                <a:spcPct val="90000"/>
              </a:lnSpc>
            </a:pPr>
            <a:r>
              <a:rPr b="0" lang="ru-RU" sz="1600" spc="-1" strike="noStrike">
                <a:solidFill>
                  <a:srgbClr val="92d050"/>
                </a:solidFill>
                <a:latin typeface="Arial"/>
              </a:rPr>
              <a:t>к.т.н. доцент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90000"/>
              </a:lnSpc>
            </a:pPr>
            <a:r>
              <a:rPr b="0" lang="ru-RU" sz="1600" spc="-1" strike="noStrike">
                <a:solidFill>
                  <a:srgbClr val="92d050"/>
                </a:solidFill>
                <a:latin typeface="Arial"/>
              </a:rPr>
              <a:t>Петров П.П.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Заголовок 6"/>
          <p:cNvSpPr/>
          <p:nvPr/>
        </p:nvSpPr>
        <p:spPr>
          <a:xfrm>
            <a:off x="6329520" y="2262600"/>
            <a:ext cx="4257000" cy="35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defTabSz="914400">
              <a:lnSpc>
                <a:spcPct val="90000"/>
              </a:lnSpc>
            </a:pPr>
            <a:r>
              <a:rPr b="1" lang="ru-RU" sz="1100" spc="-1" strike="noStrike">
                <a:solidFill>
                  <a:srgbClr val="92d050"/>
                </a:solidFill>
                <a:latin typeface="Arial"/>
              </a:rPr>
              <a:t>09.03.04 ПРОГРАММНАЯ ИНЖЕНЕРИЯ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4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Прямоугольник 21"/>
          <p:cNvSpPr/>
          <p:nvPr/>
        </p:nvSpPr>
        <p:spPr>
          <a:xfrm rot="5400000">
            <a:off x="-3276720" y="3268440"/>
            <a:ext cx="6906240" cy="369000"/>
          </a:xfrm>
          <a:prstGeom prst="rect">
            <a:avLst/>
          </a:prstGeom>
          <a:solidFill>
            <a:srgbClr val="537599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Box 19"/>
          <p:cNvSpPr/>
          <p:nvPr/>
        </p:nvSpPr>
        <p:spPr>
          <a:xfrm>
            <a:off x="-2880" y="8280"/>
            <a:ext cx="356760" cy="796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01010100010010010010101010101010000001010101011111101010101010111111111110010010010101000101001010101001010010101001010010000001000011</a:t>
            </a:r>
            <a:r>
              <a:rPr b="0" lang="en-US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100100100100001010000101111111111110101010100100101111110010001000101011111000000100101101010101010101000011110</a:t>
            </a: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00110000100101010010111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Прямоугольник 6"/>
          <p:cNvSpPr/>
          <p:nvPr/>
        </p:nvSpPr>
        <p:spPr>
          <a:xfrm>
            <a:off x="0" y="6556680"/>
            <a:ext cx="12191760" cy="369000"/>
          </a:xfrm>
          <a:prstGeom prst="rect">
            <a:avLst/>
          </a:prstGeom>
          <a:solidFill>
            <a:srgbClr val="537599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Box 7"/>
          <p:cNvSpPr/>
          <p:nvPr/>
        </p:nvSpPr>
        <p:spPr>
          <a:xfrm>
            <a:off x="-8640" y="6562440"/>
            <a:ext cx="12195360" cy="5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1010100010010010010101010101010000001010101011111101010101010111111111110010010010101000101001010101001010010101001010010000001000010010101010101010111111111010000100101010111101010101010101101010101010100110011010101010100000100101010010001000100101111111010111101011111010111111110101010101101010101001010101010110110101111110110101</a:t>
            </a:r>
            <a:r>
              <a:rPr b="0" lang="en-US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000010010100100100100001010000101111111111110101010100100101111110010001000101011111000000100101101010101010101000011110</a:t>
            </a: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00110000100101010010111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11"/>
          <p:cNvSpPr/>
          <p:nvPr/>
        </p:nvSpPr>
        <p:spPr>
          <a:xfrm>
            <a:off x="10315080" y="6541920"/>
            <a:ext cx="996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Calibri"/>
              </a:rPr>
              <a:t>www.kaf22.ru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TextBox 12"/>
          <p:cNvSpPr/>
          <p:nvPr/>
        </p:nvSpPr>
        <p:spPr>
          <a:xfrm>
            <a:off x="9489600" y="6355440"/>
            <a:ext cx="18273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000" spc="-1" strike="noStrike">
                <a:solidFill>
                  <a:srgbClr val="537599"/>
                </a:solidFill>
                <a:latin typeface="Calibri"/>
              </a:rPr>
              <a:t>Кафедра №22 «Кибернетика»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Овал 13"/>
          <p:cNvSpPr/>
          <p:nvPr/>
        </p:nvSpPr>
        <p:spPr>
          <a:xfrm>
            <a:off x="16200" y="6006600"/>
            <a:ext cx="899640" cy="899640"/>
          </a:xfrm>
          <a:prstGeom prst="ellipse">
            <a:avLst/>
          </a:prstGeom>
          <a:solidFill>
            <a:srgbClr val="ffffff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8" name="Рисунок 14" descr=""/>
          <p:cNvPicPr/>
          <p:nvPr/>
        </p:nvPicPr>
        <p:blipFill>
          <a:blip r:embed="rId2"/>
          <a:stretch/>
        </p:blipFill>
        <p:spPr>
          <a:xfrm>
            <a:off x="28800" y="6021360"/>
            <a:ext cx="874440" cy="872640"/>
          </a:xfrm>
          <a:prstGeom prst="rect">
            <a:avLst/>
          </a:prstGeom>
          <a:ln w="0">
            <a:noFill/>
          </a:ln>
        </p:spPr>
      </p:pic>
      <p:sp>
        <p:nvSpPr>
          <p:cNvPr id="219" name="TextBox 15"/>
          <p:cNvSpPr/>
          <p:nvPr/>
        </p:nvSpPr>
        <p:spPr>
          <a:xfrm>
            <a:off x="873000" y="6576120"/>
            <a:ext cx="1048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Calibri"/>
              </a:rPr>
              <a:t>www.mephi.ru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TextBox 16"/>
          <p:cNvSpPr/>
          <p:nvPr/>
        </p:nvSpPr>
        <p:spPr>
          <a:xfrm>
            <a:off x="866880" y="6374520"/>
            <a:ext cx="9738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000" spc="-1" strike="noStrike">
                <a:solidFill>
                  <a:srgbClr val="537599"/>
                </a:solidFill>
                <a:latin typeface="Calibri"/>
              </a:rPr>
              <a:t>НИЯУ МИФИ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21" name="Прямая соединительная линия 17"/>
          <p:cNvCxnSpPr/>
          <p:nvPr/>
        </p:nvCxnSpPr>
        <p:spPr>
          <a:xfrm>
            <a:off x="838080" y="792360"/>
            <a:ext cx="10515960" cy="360"/>
          </a:xfrm>
          <a:prstGeom prst="straightConnector1">
            <a:avLst/>
          </a:prstGeom>
          <a:ln w="22225">
            <a:solidFill>
              <a:srgbClr val="537599"/>
            </a:solidFill>
          </a:ln>
        </p:spPr>
      </p:cxnSp>
      <p:sp>
        <p:nvSpPr>
          <p:cNvPr id="222" name="Овал 18"/>
          <p:cNvSpPr/>
          <p:nvPr/>
        </p:nvSpPr>
        <p:spPr>
          <a:xfrm>
            <a:off x="11271600" y="6006600"/>
            <a:ext cx="899640" cy="899640"/>
          </a:xfrm>
          <a:prstGeom prst="ellipse">
            <a:avLst/>
          </a:prstGeom>
          <a:solidFill>
            <a:srgbClr val="ffffff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3" name="Рисунок 10" descr=""/>
          <p:cNvPicPr/>
          <p:nvPr/>
        </p:nvPicPr>
        <p:blipFill>
          <a:blip r:embed="rId3"/>
          <a:stretch/>
        </p:blipFill>
        <p:spPr>
          <a:xfrm>
            <a:off x="11244960" y="6021360"/>
            <a:ext cx="926280" cy="791640"/>
          </a:xfrm>
          <a:prstGeom prst="rect">
            <a:avLst/>
          </a:prstGeom>
          <a:ln w="0">
            <a:noFill/>
          </a:ln>
        </p:spPr>
      </p:pic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ru-RU" sz="6000" spc="-1" strike="noStrike">
                <a:solidFill>
                  <a:schemeClr val="dk1"/>
                </a:solidFill>
                <a:latin typeface="Calibri Light"/>
              </a:rPr>
              <a:t>Образец заголовка</a:t>
            </a:r>
            <a:endParaRPr b="0" lang="en-US" sz="6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 type="dt" idx="20"/>
          </p:nvPr>
        </p:nvSpPr>
        <p:spPr>
          <a:xfrm>
            <a:off x="2352240" y="6452640"/>
            <a:ext cx="1305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 type="ftr" idx="21"/>
          </p:nvPr>
        </p:nvSpPr>
        <p:spPr>
          <a:xfrm>
            <a:off x="6856560" y="6462000"/>
            <a:ext cx="1752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PlaceHolder 4"/>
          <p:cNvSpPr>
            <a:spLocks noGrp="1"/>
          </p:cNvSpPr>
          <p:nvPr>
            <p:ph type="sldNum" idx="22"/>
          </p:nvPr>
        </p:nvSpPr>
        <p:spPr>
          <a:xfrm>
            <a:off x="5785560" y="6566040"/>
            <a:ext cx="6066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b="0" lang="ru-RU" sz="2000" spc="-1" strike="noStrike">
                <a:ln>
                  <a:solidFill>
                    <a:srgbClr val="537599"/>
                  </a:solidFill>
                </a:ln>
                <a:solidFill>
                  <a:srgbClr val="ffffff"/>
                </a:solidFill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fld id="{A3FCCCAE-FA05-4B0A-8B42-6439594A5F8B}" type="slidenum">
              <a:rPr b="0" lang="ru-RU" sz="2000" spc="-1" strike="noStrike">
                <a:ln>
                  <a:solidFill>
                    <a:srgbClr val="537599"/>
                  </a:solidFill>
                </a:ln>
                <a:solidFill>
                  <a:srgbClr val="ffffff"/>
                </a:solidFill>
                <a:latin typeface="Calibri"/>
              </a:rPr>
              <a:t>&lt;number&gt;</a:t>
            </a:fld>
            <a:endParaRPr b="0" lang="ru-RU" sz="2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4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Прямоугольник 21"/>
          <p:cNvSpPr/>
          <p:nvPr/>
        </p:nvSpPr>
        <p:spPr>
          <a:xfrm rot="5400000">
            <a:off x="-3276720" y="3268440"/>
            <a:ext cx="6906240" cy="369000"/>
          </a:xfrm>
          <a:prstGeom prst="rect">
            <a:avLst/>
          </a:prstGeom>
          <a:solidFill>
            <a:srgbClr val="537599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Box 19"/>
          <p:cNvSpPr/>
          <p:nvPr/>
        </p:nvSpPr>
        <p:spPr>
          <a:xfrm>
            <a:off x="-2880" y="8280"/>
            <a:ext cx="356760" cy="796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01010100010010010010101010101010000001010101011111101010101010111111111110010010010101000101001010101001010010101001010010000001000011</a:t>
            </a:r>
            <a:r>
              <a:rPr b="0" lang="en-US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100100100100001010000101111111111110101010100100101111110010001000101011111000000100101101010101010101000011110</a:t>
            </a: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00110000100101010010111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Прямоугольник 6"/>
          <p:cNvSpPr/>
          <p:nvPr/>
        </p:nvSpPr>
        <p:spPr>
          <a:xfrm>
            <a:off x="0" y="6556680"/>
            <a:ext cx="12191760" cy="369000"/>
          </a:xfrm>
          <a:prstGeom prst="rect">
            <a:avLst/>
          </a:prstGeom>
          <a:solidFill>
            <a:srgbClr val="537599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TextBox 7"/>
          <p:cNvSpPr/>
          <p:nvPr/>
        </p:nvSpPr>
        <p:spPr>
          <a:xfrm>
            <a:off x="-8640" y="6562440"/>
            <a:ext cx="12195360" cy="5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1010100010010010010101010101010000001010101011111101010101010111111111110010010010101000101001010101001010010101001010010000001000010010101010101010111111111010000100101010111101010101010101101010101010100110011010101010100000100101010010001000100101111111010111101011111010111111110101010101101010101001010101010110110101111110110101</a:t>
            </a:r>
            <a:r>
              <a:rPr b="0" lang="en-US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000010010100100100100001010000101111111111110101010100100101111110010001000101011111000000100101101010101010101000011110</a:t>
            </a: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00110000100101010010111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TextBox 11"/>
          <p:cNvSpPr/>
          <p:nvPr/>
        </p:nvSpPr>
        <p:spPr>
          <a:xfrm>
            <a:off x="10315080" y="6541920"/>
            <a:ext cx="996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Calibri"/>
              </a:rPr>
              <a:t>www.kaf22.ru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Box 12"/>
          <p:cNvSpPr/>
          <p:nvPr/>
        </p:nvSpPr>
        <p:spPr>
          <a:xfrm>
            <a:off x="9489600" y="6355440"/>
            <a:ext cx="18273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000" spc="-1" strike="noStrike">
                <a:solidFill>
                  <a:srgbClr val="537599"/>
                </a:solidFill>
                <a:latin typeface="Calibri"/>
              </a:rPr>
              <a:t>Кафедра №22 «Кибернетика»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Овал 13"/>
          <p:cNvSpPr/>
          <p:nvPr/>
        </p:nvSpPr>
        <p:spPr>
          <a:xfrm>
            <a:off x="16200" y="6006600"/>
            <a:ext cx="899640" cy="899640"/>
          </a:xfrm>
          <a:prstGeom prst="ellipse">
            <a:avLst/>
          </a:prstGeom>
          <a:solidFill>
            <a:srgbClr val="ffffff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7" name="Рисунок 14" descr=""/>
          <p:cNvPicPr/>
          <p:nvPr/>
        </p:nvPicPr>
        <p:blipFill>
          <a:blip r:embed="rId2"/>
          <a:stretch/>
        </p:blipFill>
        <p:spPr>
          <a:xfrm>
            <a:off x="28800" y="6021360"/>
            <a:ext cx="874440" cy="872640"/>
          </a:xfrm>
          <a:prstGeom prst="rect">
            <a:avLst/>
          </a:prstGeom>
          <a:ln w="0">
            <a:noFill/>
          </a:ln>
        </p:spPr>
      </p:pic>
      <p:sp>
        <p:nvSpPr>
          <p:cNvPr id="238" name="TextBox 15"/>
          <p:cNvSpPr/>
          <p:nvPr/>
        </p:nvSpPr>
        <p:spPr>
          <a:xfrm>
            <a:off x="873000" y="6576120"/>
            <a:ext cx="1048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Calibri"/>
              </a:rPr>
              <a:t>www.mephi.ru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TextBox 16"/>
          <p:cNvSpPr/>
          <p:nvPr/>
        </p:nvSpPr>
        <p:spPr>
          <a:xfrm>
            <a:off x="866880" y="6374520"/>
            <a:ext cx="9738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000" spc="-1" strike="noStrike">
                <a:solidFill>
                  <a:srgbClr val="537599"/>
                </a:solidFill>
                <a:latin typeface="Calibri"/>
              </a:rPr>
              <a:t>НИЯУ МИФИ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40" name="Прямая соединительная линия 17"/>
          <p:cNvCxnSpPr/>
          <p:nvPr/>
        </p:nvCxnSpPr>
        <p:spPr>
          <a:xfrm>
            <a:off x="838080" y="792360"/>
            <a:ext cx="10515960" cy="360"/>
          </a:xfrm>
          <a:prstGeom prst="straightConnector1">
            <a:avLst/>
          </a:prstGeom>
          <a:ln w="22225">
            <a:solidFill>
              <a:srgbClr val="537599"/>
            </a:solidFill>
          </a:ln>
        </p:spPr>
      </p:cxnSp>
      <p:sp>
        <p:nvSpPr>
          <p:cNvPr id="241" name="Овал 18"/>
          <p:cNvSpPr/>
          <p:nvPr/>
        </p:nvSpPr>
        <p:spPr>
          <a:xfrm>
            <a:off x="11271600" y="6006600"/>
            <a:ext cx="899640" cy="899640"/>
          </a:xfrm>
          <a:prstGeom prst="ellipse">
            <a:avLst/>
          </a:prstGeom>
          <a:solidFill>
            <a:srgbClr val="ffffff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2" name="Рисунок 10" descr=""/>
          <p:cNvPicPr/>
          <p:nvPr/>
        </p:nvPicPr>
        <p:blipFill>
          <a:blip r:embed="rId3"/>
          <a:stretch/>
        </p:blipFill>
        <p:spPr>
          <a:xfrm>
            <a:off x="11244960" y="6021360"/>
            <a:ext cx="926280" cy="791640"/>
          </a:xfrm>
          <a:prstGeom prst="rect">
            <a:avLst/>
          </a:prstGeom>
          <a:ln w="0">
            <a:noFill/>
          </a:ln>
        </p:spPr>
      </p:pic>
      <p:sp>
        <p:nvSpPr>
          <p:cNvPr id="243" name="Ромб 6"/>
          <p:cNvSpPr/>
          <p:nvPr/>
        </p:nvSpPr>
        <p:spPr>
          <a:xfrm>
            <a:off x="5746680" y="6556680"/>
            <a:ext cx="698400" cy="364680"/>
          </a:xfrm>
          <a:prstGeom prst="diamond">
            <a:avLst/>
          </a:prstGeom>
          <a:solidFill>
            <a:schemeClr val="bg1"/>
          </a:solidFill>
          <a:ln w="6350">
            <a:solidFill>
              <a:srgbClr val="5375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anchor="ctr">
            <a:noAutofit/>
          </a:bodyPr>
          <a:p>
            <a:pPr algn="ctr" defTabSz="457200">
              <a:lnSpc>
                <a:spcPct val="100000"/>
              </a:lnSpc>
            </a:pPr>
            <a:endParaRPr b="0" lang="ru-RU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xfrm>
            <a:off x="838080" y="25200"/>
            <a:ext cx="10515240" cy="748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3600" spc="-1" strike="noStrike">
                <a:solidFill>
                  <a:schemeClr val="dk1"/>
                </a:solidFill>
                <a:latin typeface="Calibri Light"/>
              </a:rPr>
              <a:t>Образец заголовка</a:t>
            </a:r>
            <a:endParaRPr b="0" lang="en-US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5" name="PlaceHolder 2"/>
          <p:cNvSpPr>
            <a:spLocks noGrp="1"/>
          </p:cNvSpPr>
          <p:nvPr>
            <p:ph type="body"/>
          </p:nvPr>
        </p:nvSpPr>
        <p:spPr>
          <a:xfrm>
            <a:off x="838080" y="870840"/>
            <a:ext cx="10515240" cy="530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pc="-1" strike="noStrike">
                <a:solidFill>
                  <a:schemeClr val="dk1"/>
                </a:solidFill>
                <a:latin typeface="Calibri"/>
              </a:rPr>
              <a:t>Образец текста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pc="-1" strike="noStrike">
                <a:solidFill>
                  <a:schemeClr val="dk1"/>
                </a:solidFill>
                <a:latin typeface="Calibri"/>
              </a:rPr>
              <a:t>Второй уровень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</a:rPr>
              <a:t>Третий уровень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Четвертый уровень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Пятый уровень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 type="dt" idx="23"/>
          </p:nvPr>
        </p:nvSpPr>
        <p:spPr>
          <a:xfrm>
            <a:off x="2352240" y="6452640"/>
            <a:ext cx="1305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4"/>
          <p:cNvSpPr>
            <a:spLocks noGrp="1"/>
          </p:cNvSpPr>
          <p:nvPr>
            <p:ph type="ftr" idx="24"/>
          </p:nvPr>
        </p:nvSpPr>
        <p:spPr>
          <a:xfrm>
            <a:off x="6856560" y="6462000"/>
            <a:ext cx="1752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PlaceHolder 5"/>
          <p:cNvSpPr>
            <a:spLocks noGrp="1"/>
          </p:cNvSpPr>
          <p:nvPr>
            <p:ph type="sldNum" idx="25"/>
          </p:nvPr>
        </p:nvSpPr>
        <p:spPr>
          <a:xfrm>
            <a:off x="5746680" y="6556680"/>
            <a:ext cx="6984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b="0" lang="ru-RU" sz="2000" spc="-1" strike="noStrike">
                <a:ln>
                  <a:solidFill>
                    <a:srgbClr val="537599"/>
                  </a:solidFill>
                </a:ln>
                <a:solidFill>
                  <a:srgbClr val="ffffff"/>
                </a:solidFill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fld id="{3C9A53BF-B07F-468B-BCED-0B0EACD3A257}" type="slidenum">
              <a:rPr b="0" lang="ru-RU" sz="2000" spc="-1" strike="noStrike">
                <a:ln>
                  <a:solidFill>
                    <a:srgbClr val="537599"/>
                  </a:solidFill>
                </a:ln>
                <a:solidFill>
                  <a:srgbClr val="ffffff"/>
                </a:solidFill>
                <a:latin typeface="Calibri"/>
              </a:rPr>
              <a:t>&lt;number&gt;</a:t>
            </a:fld>
            <a:endParaRPr b="0" lang="ru-RU" sz="2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4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Прямоугольник 21"/>
          <p:cNvSpPr/>
          <p:nvPr/>
        </p:nvSpPr>
        <p:spPr>
          <a:xfrm rot="5400000">
            <a:off x="-3276720" y="3268440"/>
            <a:ext cx="6906240" cy="369000"/>
          </a:xfrm>
          <a:prstGeom prst="rect">
            <a:avLst/>
          </a:prstGeom>
          <a:solidFill>
            <a:srgbClr val="537599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TextBox 19"/>
          <p:cNvSpPr/>
          <p:nvPr/>
        </p:nvSpPr>
        <p:spPr>
          <a:xfrm>
            <a:off x="-2880" y="8280"/>
            <a:ext cx="356760" cy="796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01010100010010010010101010101010000001010101011111101010101010111111111110010010010101000101001010101001010010101001010010000001000011</a:t>
            </a:r>
            <a:r>
              <a:rPr b="0" lang="en-US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100100100100001010000101111111111110101010100100101111110010001000101011111000000100101101010101010101000011110</a:t>
            </a: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00110000100101010010111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Прямоугольник 6"/>
          <p:cNvSpPr/>
          <p:nvPr/>
        </p:nvSpPr>
        <p:spPr>
          <a:xfrm>
            <a:off x="0" y="6556680"/>
            <a:ext cx="12191760" cy="369000"/>
          </a:xfrm>
          <a:prstGeom prst="rect">
            <a:avLst/>
          </a:prstGeom>
          <a:solidFill>
            <a:srgbClr val="537599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TextBox 7"/>
          <p:cNvSpPr/>
          <p:nvPr/>
        </p:nvSpPr>
        <p:spPr>
          <a:xfrm>
            <a:off x="-8640" y="6562440"/>
            <a:ext cx="12195360" cy="5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1010100010010010010101010101010000001010101011111101010101010111111111110010010010101000101001010101001010010101001010010000001000010010101010101010111111111010000100101010111101010101010101101010101010100110011010101010100000100101010010001000100101111111010111101011111010111111110101010101101010101001010101010110110101111110110101</a:t>
            </a:r>
            <a:r>
              <a:rPr b="0" lang="en-US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000010010100100100100001010000101111111111110101010100100101111110010001000101011111000000100101101010101010101000011110</a:t>
            </a: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00110000100101010010111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TextBox 11"/>
          <p:cNvSpPr/>
          <p:nvPr/>
        </p:nvSpPr>
        <p:spPr>
          <a:xfrm>
            <a:off x="10315080" y="6541920"/>
            <a:ext cx="996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Calibri"/>
              </a:rPr>
              <a:t>www.kaf22.ru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Box 12"/>
          <p:cNvSpPr/>
          <p:nvPr/>
        </p:nvSpPr>
        <p:spPr>
          <a:xfrm>
            <a:off x="9489600" y="6355440"/>
            <a:ext cx="18273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000" spc="-1" strike="noStrike">
                <a:solidFill>
                  <a:srgbClr val="537599"/>
                </a:solidFill>
                <a:latin typeface="Calibri"/>
              </a:rPr>
              <a:t>Кафедра №22 «Кибернетика»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Овал 13"/>
          <p:cNvSpPr/>
          <p:nvPr/>
        </p:nvSpPr>
        <p:spPr>
          <a:xfrm>
            <a:off x="16200" y="6006600"/>
            <a:ext cx="899640" cy="899640"/>
          </a:xfrm>
          <a:prstGeom prst="ellipse">
            <a:avLst/>
          </a:prstGeom>
          <a:solidFill>
            <a:srgbClr val="ffffff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8" name="Рисунок 14" descr=""/>
          <p:cNvPicPr/>
          <p:nvPr/>
        </p:nvPicPr>
        <p:blipFill>
          <a:blip r:embed="rId2"/>
          <a:stretch/>
        </p:blipFill>
        <p:spPr>
          <a:xfrm>
            <a:off x="28800" y="6021360"/>
            <a:ext cx="874440" cy="872640"/>
          </a:xfrm>
          <a:prstGeom prst="rect">
            <a:avLst/>
          </a:prstGeom>
          <a:ln w="0">
            <a:noFill/>
          </a:ln>
        </p:spPr>
      </p:pic>
      <p:sp>
        <p:nvSpPr>
          <p:cNvPr id="259" name="TextBox 15"/>
          <p:cNvSpPr/>
          <p:nvPr/>
        </p:nvSpPr>
        <p:spPr>
          <a:xfrm>
            <a:off x="873000" y="6576120"/>
            <a:ext cx="1048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Calibri"/>
              </a:rPr>
              <a:t>www.mephi.ru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TextBox 16"/>
          <p:cNvSpPr/>
          <p:nvPr/>
        </p:nvSpPr>
        <p:spPr>
          <a:xfrm>
            <a:off x="866880" y="6374520"/>
            <a:ext cx="9738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000" spc="-1" strike="noStrike">
                <a:solidFill>
                  <a:srgbClr val="537599"/>
                </a:solidFill>
                <a:latin typeface="Calibri"/>
              </a:rPr>
              <a:t>НИЯУ МИФИ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61" name="Прямая соединительная линия 17"/>
          <p:cNvCxnSpPr/>
          <p:nvPr/>
        </p:nvCxnSpPr>
        <p:spPr>
          <a:xfrm>
            <a:off x="838080" y="792360"/>
            <a:ext cx="10515960" cy="360"/>
          </a:xfrm>
          <a:prstGeom prst="straightConnector1">
            <a:avLst/>
          </a:prstGeom>
          <a:ln w="22225">
            <a:solidFill>
              <a:srgbClr val="537599"/>
            </a:solidFill>
          </a:ln>
        </p:spPr>
      </p:cxnSp>
      <p:sp>
        <p:nvSpPr>
          <p:cNvPr id="262" name="Овал 18"/>
          <p:cNvSpPr/>
          <p:nvPr/>
        </p:nvSpPr>
        <p:spPr>
          <a:xfrm>
            <a:off x="11271600" y="6006600"/>
            <a:ext cx="899640" cy="899640"/>
          </a:xfrm>
          <a:prstGeom prst="ellipse">
            <a:avLst/>
          </a:prstGeom>
          <a:solidFill>
            <a:srgbClr val="ffffff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3" name="Рисунок 10" descr=""/>
          <p:cNvPicPr/>
          <p:nvPr/>
        </p:nvPicPr>
        <p:blipFill>
          <a:blip r:embed="rId3"/>
          <a:stretch/>
        </p:blipFill>
        <p:spPr>
          <a:xfrm>
            <a:off x="11244960" y="6021360"/>
            <a:ext cx="926280" cy="791640"/>
          </a:xfrm>
          <a:prstGeom prst="rect">
            <a:avLst/>
          </a:prstGeom>
          <a:ln w="0">
            <a:noFill/>
          </a:ln>
        </p:spPr>
      </p:pic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6000" spc="-1" strike="noStrike">
                <a:solidFill>
                  <a:schemeClr val="dk1"/>
                </a:solidFill>
                <a:latin typeface="Calibri Light"/>
              </a:rPr>
              <a:t>Образец заголовка</a:t>
            </a:r>
            <a:endParaRPr b="0" lang="en-US" sz="6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4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Образец текста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 type="dt" idx="26"/>
          </p:nvPr>
        </p:nvSpPr>
        <p:spPr>
          <a:xfrm>
            <a:off x="2352240" y="6452640"/>
            <a:ext cx="1305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 type="ftr" idx="27"/>
          </p:nvPr>
        </p:nvSpPr>
        <p:spPr>
          <a:xfrm>
            <a:off x="6856560" y="6462000"/>
            <a:ext cx="1752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PlaceHolder 5"/>
          <p:cNvSpPr>
            <a:spLocks noGrp="1"/>
          </p:cNvSpPr>
          <p:nvPr>
            <p:ph type="sldNum" idx="28"/>
          </p:nvPr>
        </p:nvSpPr>
        <p:spPr>
          <a:xfrm>
            <a:off x="5785560" y="6566040"/>
            <a:ext cx="6066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b="0" lang="ru-RU" sz="2000" spc="-1" strike="noStrike">
                <a:ln>
                  <a:solidFill>
                    <a:srgbClr val="537599"/>
                  </a:solidFill>
                </a:ln>
                <a:solidFill>
                  <a:srgbClr val="ffffff"/>
                </a:solidFill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fld id="{41FEB9CF-F264-4E31-9D9E-ED5A92F53F6D}" type="slidenum">
              <a:rPr b="0" lang="ru-RU" sz="2000" spc="-1" strike="noStrike">
                <a:ln>
                  <a:solidFill>
                    <a:srgbClr val="537599"/>
                  </a:solidFill>
                </a:ln>
                <a:solidFill>
                  <a:srgbClr val="ffffff"/>
                </a:solidFill>
                <a:latin typeface="Calibri"/>
              </a:rPr>
              <a:t>&lt;number&gt;</a:t>
            </a:fld>
            <a:endParaRPr b="0" lang="ru-RU" sz="2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4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Прямоугольник 21"/>
          <p:cNvSpPr/>
          <p:nvPr/>
        </p:nvSpPr>
        <p:spPr>
          <a:xfrm rot="5400000">
            <a:off x="-3276720" y="3268440"/>
            <a:ext cx="6906240" cy="369000"/>
          </a:xfrm>
          <a:prstGeom prst="rect">
            <a:avLst/>
          </a:prstGeom>
          <a:solidFill>
            <a:srgbClr val="537599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TextBox 19"/>
          <p:cNvSpPr/>
          <p:nvPr/>
        </p:nvSpPr>
        <p:spPr>
          <a:xfrm>
            <a:off x="-2880" y="8280"/>
            <a:ext cx="356760" cy="796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01010100010010010010101010101010000001010101011111101010101010111111111110010010010101000101001010101001010010101001010010000001000011</a:t>
            </a:r>
            <a:r>
              <a:rPr b="0" lang="en-US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100100100100001010000101111111111110101010100100101111110010001000101011111000000100101101010101010101000011110</a:t>
            </a: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00110000100101010010111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Прямоугольник 6"/>
          <p:cNvSpPr/>
          <p:nvPr/>
        </p:nvSpPr>
        <p:spPr>
          <a:xfrm>
            <a:off x="0" y="6556680"/>
            <a:ext cx="12191760" cy="369000"/>
          </a:xfrm>
          <a:prstGeom prst="rect">
            <a:avLst/>
          </a:prstGeom>
          <a:solidFill>
            <a:srgbClr val="537599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TextBox 7"/>
          <p:cNvSpPr/>
          <p:nvPr/>
        </p:nvSpPr>
        <p:spPr>
          <a:xfrm>
            <a:off x="-8640" y="6562440"/>
            <a:ext cx="12195360" cy="5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1010100010010010010101010101010000001010101011111101010101010111111111110010010010101000101001010101001010010101001010010000001000010010101010101010111111111010000100101010111101010101010101101010101010100110011010101010100000100101010010001000100101111111010111101011111010111111110101010101101010101001010101010110110101111110110101</a:t>
            </a:r>
            <a:r>
              <a:rPr b="0" lang="en-US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000010010100100100100001010000101111111111110101010100100101111110010001000101011111000000100101101010101010101000011110</a:t>
            </a: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00110000100101010010111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TextBox 11"/>
          <p:cNvSpPr/>
          <p:nvPr/>
        </p:nvSpPr>
        <p:spPr>
          <a:xfrm>
            <a:off x="10315080" y="6541920"/>
            <a:ext cx="996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Calibri"/>
              </a:rPr>
              <a:t>www.kaf22.ru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TextBox 12"/>
          <p:cNvSpPr/>
          <p:nvPr/>
        </p:nvSpPr>
        <p:spPr>
          <a:xfrm>
            <a:off x="9489600" y="6355440"/>
            <a:ext cx="18273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000" spc="-1" strike="noStrike">
                <a:solidFill>
                  <a:srgbClr val="537599"/>
                </a:solidFill>
                <a:latin typeface="Calibri"/>
              </a:rPr>
              <a:t>Кафедра №22 «Кибернетика»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Овал 13"/>
          <p:cNvSpPr/>
          <p:nvPr/>
        </p:nvSpPr>
        <p:spPr>
          <a:xfrm>
            <a:off x="16200" y="6006600"/>
            <a:ext cx="899640" cy="899640"/>
          </a:xfrm>
          <a:prstGeom prst="ellipse">
            <a:avLst/>
          </a:prstGeom>
          <a:solidFill>
            <a:srgbClr val="ffffff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6" name="Рисунок 14" descr=""/>
          <p:cNvPicPr/>
          <p:nvPr/>
        </p:nvPicPr>
        <p:blipFill>
          <a:blip r:embed="rId2"/>
          <a:stretch/>
        </p:blipFill>
        <p:spPr>
          <a:xfrm>
            <a:off x="28800" y="6021360"/>
            <a:ext cx="874440" cy="872640"/>
          </a:xfrm>
          <a:prstGeom prst="rect">
            <a:avLst/>
          </a:prstGeom>
          <a:ln w="0">
            <a:noFill/>
          </a:ln>
        </p:spPr>
      </p:pic>
      <p:sp>
        <p:nvSpPr>
          <p:cNvPr id="277" name="TextBox 15"/>
          <p:cNvSpPr/>
          <p:nvPr/>
        </p:nvSpPr>
        <p:spPr>
          <a:xfrm>
            <a:off x="873000" y="6576120"/>
            <a:ext cx="1048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Calibri"/>
              </a:rPr>
              <a:t>www.mephi.ru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TextBox 16"/>
          <p:cNvSpPr/>
          <p:nvPr/>
        </p:nvSpPr>
        <p:spPr>
          <a:xfrm>
            <a:off x="866880" y="6374520"/>
            <a:ext cx="9738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000" spc="-1" strike="noStrike">
                <a:solidFill>
                  <a:srgbClr val="537599"/>
                </a:solidFill>
                <a:latin typeface="Calibri"/>
              </a:rPr>
              <a:t>НИЯУ МИФИ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79" name="Прямая соединительная линия 17"/>
          <p:cNvCxnSpPr/>
          <p:nvPr/>
        </p:nvCxnSpPr>
        <p:spPr>
          <a:xfrm>
            <a:off x="838080" y="792360"/>
            <a:ext cx="10515960" cy="360"/>
          </a:xfrm>
          <a:prstGeom prst="straightConnector1">
            <a:avLst/>
          </a:prstGeom>
          <a:ln w="22225">
            <a:solidFill>
              <a:srgbClr val="537599"/>
            </a:solidFill>
          </a:ln>
        </p:spPr>
      </p:cxnSp>
      <p:sp>
        <p:nvSpPr>
          <p:cNvPr id="280" name="Овал 18"/>
          <p:cNvSpPr/>
          <p:nvPr/>
        </p:nvSpPr>
        <p:spPr>
          <a:xfrm>
            <a:off x="11271600" y="6006600"/>
            <a:ext cx="899640" cy="899640"/>
          </a:xfrm>
          <a:prstGeom prst="ellipse">
            <a:avLst/>
          </a:prstGeom>
          <a:solidFill>
            <a:srgbClr val="ffffff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1" name="Рисунок 10" descr=""/>
          <p:cNvPicPr/>
          <p:nvPr/>
        </p:nvPicPr>
        <p:blipFill>
          <a:blip r:embed="rId3"/>
          <a:stretch/>
        </p:blipFill>
        <p:spPr>
          <a:xfrm>
            <a:off x="11244960" y="6021360"/>
            <a:ext cx="926280" cy="791640"/>
          </a:xfrm>
          <a:prstGeom prst="rect">
            <a:avLst/>
          </a:prstGeom>
          <a:ln w="0">
            <a:noFill/>
          </a:ln>
        </p:spPr>
      </p:pic>
      <p:sp>
        <p:nvSpPr>
          <p:cNvPr id="282" name="Ромб 9"/>
          <p:cNvSpPr/>
          <p:nvPr/>
        </p:nvSpPr>
        <p:spPr>
          <a:xfrm>
            <a:off x="5746680" y="6556680"/>
            <a:ext cx="698400" cy="364680"/>
          </a:xfrm>
          <a:prstGeom prst="diamond">
            <a:avLst/>
          </a:prstGeom>
          <a:solidFill>
            <a:schemeClr val="bg1"/>
          </a:solidFill>
          <a:ln w="6350">
            <a:solidFill>
              <a:srgbClr val="5375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anchor="ctr">
            <a:noAutofit/>
          </a:bodyPr>
          <a:p>
            <a:pPr algn="ctr" defTabSz="457200">
              <a:lnSpc>
                <a:spcPct val="100000"/>
              </a:lnSpc>
            </a:pPr>
            <a:endParaRPr b="0" lang="ru-RU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3" name="PlaceHolder 1"/>
          <p:cNvSpPr>
            <a:spLocks noGrp="1"/>
          </p:cNvSpPr>
          <p:nvPr>
            <p:ph type="title"/>
          </p:nvPr>
        </p:nvSpPr>
        <p:spPr>
          <a:xfrm>
            <a:off x="838080" y="25200"/>
            <a:ext cx="10515240" cy="748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3600" spc="-1" strike="noStrike">
                <a:solidFill>
                  <a:schemeClr val="dk1"/>
                </a:solidFill>
                <a:latin typeface="Calibri Light"/>
              </a:rPr>
              <a:t>Образец заголовка</a:t>
            </a:r>
            <a:endParaRPr b="0" lang="en-US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84" name="PlaceHolder 2"/>
          <p:cNvSpPr>
            <a:spLocks noGrp="1"/>
          </p:cNvSpPr>
          <p:nvPr>
            <p:ph type="body"/>
          </p:nvPr>
        </p:nvSpPr>
        <p:spPr>
          <a:xfrm>
            <a:off x="838080" y="878400"/>
            <a:ext cx="5181120" cy="529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pc="-1" strike="noStrike">
                <a:solidFill>
                  <a:schemeClr val="dk1"/>
                </a:solidFill>
                <a:latin typeface="Calibri"/>
              </a:rPr>
              <a:t>Образец текста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pc="-1" strike="noStrike">
                <a:solidFill>
                  <a:schemeClr val="dk1"/>
                </a:solidFill>
                <a:latin typeface="Calibri"/>
              </a:rPr>
              <a:t>Второй уровень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</a:rPr>
              <a:t>Третий уровень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Четвертый уровень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Пятый уровень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85" name="PlaceHolder 3"/>
          <p:cNvSpPr>
            <a:spLocks noGrp="1"/>
          </p:cNvSpPr>
          <p:nvPr>
            <p:ph type="body"/>
          </p:nvPr>
        </p:nvSpPr>
        <p:spPr>
          <a:xfrm>
            <a:off x="6172200" y="878400"/>
            <a:ext cx="5181120" cy="529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pc="-1" strike="noStrike">
                <a:solidFill>
                  <a:schemeClr val="dk1"/>
                </a:solidFill>
                <a:latin typeface="Calibri"/>
              </a:rPr>
              <a:t>Образец текста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pc="-1" strike="noStrike">
                <a:solidFill>
                  <a:schemeClr val="dk1"/>
                </a:solidFill>
                <a:latin typeface="Calibri"/>
              </a:rPr>
              <a:t>Второй уровень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</a:rPr>
              <a:t>Третий уровень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Четвертый уровень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Пятый уровень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86" name="PlaceHolder 4"/>
          <p:cNvSpPr>
            <a:spLocks noGrp="1"/>
          </p:cNvSpPr>
          <p:nvPr>
            <p:ph type="dt" idx="29"/>
          </p:nvPr>
        </p:nvSpPr>
        <p:spPr>
          <a:xfrm>
            <a:off x="2352240" y="6452640"/>
            <a:ext cx="1305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PlaceHolder 5"/>
          <p:cNvSpPr>
            <a:spLocks noGrp="1"/>
          </p:cNvSpPr>
          <p:nvPr>
            <p:ph type="ftr" idx="30"/>
          </p:nvPr>
        </p:nvSpPr>
        <p:spPr>
          <a:xfrm>
            <a:off x="6856560" y="6462000"/>
            <a:ext cx="1752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PlaceHolder 6"/>
          <p:cNvSpPr>
            <a:spLocks noGrp="1"/>
          </p:cNvSpPr>
          <p:nvPr>
            <p:ph type="sldNum" idx="31"/>
          </p:nvPr>
        </p:nvSpPr>
        <p:spPr>
          <a:xfrm>
            <a:off x="5785560" y="6566040"/>
            <a:ext cx="6066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b="0" lang="ru-RU" sz="2000" spc="-1" strike="noStrike">
                <a:ln>
                  <a:solidFill>
                    <a:srgbClr val="537599"/>
                  </a:solidFill>
                </a:ln>
                <a:solidFill>
                  <a:srgbClr val="ffffff"/>
                </a:solidFill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fld id="{9FDB0C6D-B0F0-4CF4-8E67-E2E11387FCA1}" type="slidenum">
              <a:rPr b="0" lang="ru-RU" sz="2000" spc="-1" strike="noStrike">
                <a:ln>
                  <a:solidFill>
                    <a:srgbClr val="537599"/>
                  </a:solidFill>
                </a:ln>
                <a:solidFill>
                  <a:srgbClr val="ffffff"/>
                </a:solidFill>
                <a:latin typeface="Calibri"/>
              </a:rPr>
              <a:t>&lt;number&gt;</a:t>
            </a:fld>
            <a:endParaRPr b="0" lang="ru-RU" sz="2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4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Прямоугольник 21"/>
          <p:cNvSpPr/>
          <p:nvPr/>
        </p:nvSpPr>
        <p:spPr>
          <a:xfrm rot="5400000">
            <a:off x="-3276720" y="3268440"/>
            <a:ext cx="6906240" cy="369000"/>
          </a:xfrm>
          <a:prstGeom prst="rect">
            <a:avLst/>
          </a:prstGeom>
          <a:solidFill>
            <a:srgbClr val="537599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19"/>
          <p:cNvSpPr/>
          <p:nvPr/>
        </p:nvSpPr>
        <p:spPr>
          <a:xfrm>
            <a:off x="-2880" y="8280"/>
            <a:ext cx="356760" cy="796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01010100010010010010101010101010000001010101011111101010101010111111111110010010010101000101001010101001010010101001010010000001000011</a:t>
            </a:r>
            <a:r>
              <a:rPr b="0" lang="en-US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100100100100001010000101111111111110101010100100101111110010001000101011111000000100101101010101010101000011110</a:t>
            </a: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00110000100101010010111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Прямоугольник 6"/>
          <p:cNvSpPr/>
          <p:nvPr/>
        </p:nvSpPr>
        <p:spPr>
          <a:xfrm>
            <a:off x="0" y="6556680"/>
            <a:ext cx="12191760" cy="369000"/>
          </a:xfrm>
          <a:prstGeom prst="rect">
            <a:avLst/>
          </a:prstGeom>
          <a:solidFill>
            <a:srgbClr val="537599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TextBox 7"/>
          <p:cNvSpPr/>
          <p:nvPr/>
        </p:nvSpPr>
        <p:spPr>
          <a:xfrm>
            <a:off x="-8640" y="6562440"/>
            <a:ext cx="12195360" cy="5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1010100010010010010101010101010000001010101011111101010101010111111111110010010010101000101001010101001010010101001010010000001000010010101010101010111111111010000100101010111101010101010101101010101010100110011010101010100000100101010010001000100101111111010111101011111010111111110101010101101010101001010101010110110101111110110101</a:t>
            </a:r>
            <a:r>
              <a:rPr b="0" lang="en-US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000010010100100100100001010000101111111111110101010100100101111110010001000101011111000000100101101010101010101000011110</a:t>
            </a: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00110000100101010010111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TextBox 11"/>
          <p:cNvSpPr/>
          <p:nvPr/>
        </p:nvSpPr>
        <p:spPr>
          <a:xfrm>
            <a:off x="10315080" y="6541920"/>
            <a:ext cx="996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Calibri"/>
              </a:rPr>
              <a:t>www.kaf22.ru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TextBox 12"/>
          <p:cNvSpPr/>
          <p:nvPr/>
        </p:nvSpPr>
        <p:spPr>
          <a:xfrm>
            <a:off x="9489600" y="6355440"/>
            <a:ext cx="18273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000" spc="-1" strike="noStrike">
                <a:solidFill>
                  <a:srgbClr val="537599"/>
                </a:solidFill>
                <a:latin typeface="Calibri"/>
              </a:rPr>
              <a:t>Кафедра №22 «Кибернетика»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Овал 13"/>
          <p:cNvSpPr/>
          <p:nvPr/>
        </p:nvSpPr>
        <p:spPr>
          <a:xfrm>
            <a:off x="16200" y="6006600"/>
            <a:ext cx="899640" cy="899640"/>
          </a:xfrm>
          <a:prstGeom prst="ellipse">
            <a:avLst/>
          </a:prstGeom>
          <a:solidFill>
            <a:srgbClr val="ffffff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9" name="Рисунок 14" descr=""/>
          <p:cNvPicPr/>
          <p:nvPr/>
        </p:nvPicPr>
        <p:blipFill>
          <a:blip r:embed="rId2"/>
          <a:stretch/>
        </p:blipFill>
        <p:spPr>
          <a:xfrm>
            <a:off x="28800" y="6021360"/>
            <a:ext cx="874440" cy="872640"/>
          </a:xfrm>
          <a:prstGeom prst="rect">
            <a:avLst/>
          </a:prstGeom>
          <a:ln w="0">
            <a:noFill/>
          </a:ln>
        </p:spPr>
      </p:pic>
      <p:sp>
        <p:nvSpPr>
          <p:cNvPr id="300" name="TextBox 15"/>
          <p:cNvSpPr/>
          <p:nvPr/>
        </p:nvSpPr>
        <p:spPr>
          <a:xfrm>
            <a:off x="873000" y="6576120"/>
            <a:ext cx="1048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Calibri"/>
              </a:rPr>
              <a:t>www.mephi.ru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Box 16"/>
          <p:cNvSpPr/>
          <p:nvPr/>
        </p:nvSpPr>
        <p:spPr>
          <a:xfrm>
            <a:off x="866880" y="6374520"/>
            <a:ext cx="9738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000" spc="-1" strike="noStrike">
                <a:solidFill>
                  <a:srgbClr val="537599"/>
                </a:solidFill>
                <a:latin typeface="Calibri"/>
              </a:rPr>
              <a:t>НИЯУ МИФИ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02" name="Прямая соединительная линия 17"/>
          <p:cNvCxnSpPr/>
          <p:nvPr/>
        </p:nvCxnSpPr>
        <p:spPr>
          <a:xfrm>
            <a:off x="838080" y="792360"/>
            <a:ext cx="10515960" cy="360"/>
          </a:xfrm>
          <a:prstGeom prst="straightConnector1">
            <a:avLst/>
          </a:prstGeom>
          <a:ln w="22225">
            <a:solidFill>
              <a:srgbClr val="537599"/>
            </a:solidFill>
          </a:ln>
        </p:spPr>
      </p:cxnSp>
      <p:sp>
        <p:nvSpPr>
          <p:cNvPr id="303" name="Овал 18"/>
          <p:cNvSpPr/>
          <p:nvPr/>
        </p:nvSpPr>
        <p:spPr>
          <a:xfrm>
            <a:off x="11271600" y="6006600"/>
            <a:ext cx="899640" cy="899640"/>
          </a:xfrm>
          <a:prstGeom prst="ellipse">
            <a:avLst/>
          </a:prstGeom>
          <a:solidFill>
            <a:srgbClr val="ffffff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4" name="Рисунок 10" descr=""/>
          <p:cNvPicPr/>
          <p:nvPr/>
        </p:nvPicPr>
        <p:blipFill>
          <a:blip r:embed="rId3"/>
          <a:stretch/>
        </p:blipFill>
        <p:spPr>
          <a:xfrm>
            <a:off x="11244960" y="6021360"/>
            <a:ext cx="926280" cy="791640"/>
          </a:xfrm>
          <a:prstGeom prst="rect">
            <a:avLst/>
          </a:prstGeom>
          <a:ln w="0">
            <a:noFill/>
          </a:ln>
        </p:spPr>
      </p:pic>
      <p:sp>
        <p:nvSpPr>
          <p:cNvPr id="305" name="Ромб 11"/>
          <p:cNvSpPr/>
          <p:nvPr/>
        </p:nvSpPr>
        <p:spPr>
          <a:xfrm>
            <a:off x="5746680" y="6556680"/>
            <a:ext cx="698400" cy="364680"/>
          </a:xfrm>
          <a:prstGeom prst="diamond">
            <a:avLst/>
          </a:prstGeom>
          <a:solidFill>
            <a:schemeClr val="bg1"/>
          </a:solidFill>
          <a:ln w="6350">
            <a:solidFill>
              <a:srgbClr val="5375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anchor="ctr">
            <a:noAutofit/>
          </a:bodyPr>
          <a:p>
            <a:pPr algn="ctr" defTabSz="457200">
              <a:lnSpc>
                <a:spcPct val="100000"/>
              </a:lnSpc>
            </a:pPr>
            <a:endParaRPr b="0" lang="ru-RU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839880" y="40680"/>
            <a:ext cx="10515240" cy="760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3600" spc="-1" strike="noStrike">
                <a:solidFill>
                  <a:schemeClr val="dk1"/>
                </a:solidFill>
                <a:latin typeface="Calibri Light"/>
              </a:rPr>
              <a:t>Образец заголовка</a:t>
            </a:r>
            <a:endParaRPr b="0" lang="en-US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 type="body"/>
          </p:nvPr>
        </p:nvSpPr>
        <p:spPr>
          <a:xfrm>
            <a:off x="839880" y="897480"/>
            <a:ext cx="5157360" cy="665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400" spc="-1" strike="noStrike">
                <a:solidFill>
                  <a:schemeClr val="dk1"/>
                </a:solidFill>
                <a:latin typeface="Calibri"/>
              </a:rPr>
              <a:t>Образец текста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 type="body"/>
          </p:nvPr>
        </p:nvSpPr>
        <p:spPr>
          <a:xfrm>
            <a:off x="839880" y="1563120"/>
            <a:ext cx="5157360" cy="4626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pc="-1" strike="noStrike">
                <a:solidFill>
                  <a:schemeClr val="dk1"/>
                </a:solidFill>
                <a:latin typeface="Calibri"/>
              </a:rPr>
              <a:t>Образец текста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pc="-1" strike="noStrike">
                <a:solidFill>
                  <a:schemeClr val="dk1"/>
                </a:solidFill>
                <a:latin typeface="Calibri"/>
              </a:rPr>
              <a:t>Второй уровень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</a:rPr>
              <a:t>Третий уровень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Четвертый уровень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Пятый уровень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9" name="PlaceHolder 4"/>
          <p:cNvSpPr>
            <a:spLocks noGrp="1"/>
          </p:cNvSpPr>
          <p:nvPr>
            <p:ph type="body"/>
          </p:nvPr>
        </p:nvSpPr>
        <p:spPr>
          <a:xfrm>
            <a:off x="6172200" y="897480"/>
            <a:ext cx="5182920" cy="665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400" spc="-1" strike="noStrike">
                <a:solidFill>
                  <a:schemeClr val="dk1"/>
                </a:solidFill>
                <a:latin typeface="Calibri"/>
              </a:rPr>
              <a:t>Образец текста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0" name="PlaceHolder 5"/>
          <p:cNvSpPr>
            <a:spLocks noGrp="1"/>
          </p:cNvSpPr>
          <p:nvPr>
            <p:ph type="body"/>
          </p:nvPr>
        </p:nvSpPr>
        <p:spPr>
          <a:xfrm>
            <a:off x="6172200" y="1563120"/>
            <a:ext cx="5182920" cy="4626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pc="-1" strike="noStrike">
                <a:solidFill>
                  <a:schemeClr val="dk1"/>
                </a:solidFill>
                <a:latin typeface="Calibri"/>
              </a:rPr>
              <a:t>Образец текста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pc="-1" strike="noStrike">
                <a:solidFill>
                  <a:schemeClr val="dk1"/>
                </a:solidFill>
                <a:latin typeface="Calibri"/>
              </a:rPr>
              <a:t>Второй уровень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</a:rPr>
              <a:t>Третий уровень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Четвертый уровень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Пятый уровень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1" name="PlaceHolder 6"/>
          <p:cNvSpPr>
            <a:spLocks noGrp="1"/>
          </p:cNvSpPr>
          <p:nvPr>
            <p:ph type="dt" idx="32"/>
          </p:nvPr>
        </p:nvSpPr>
        <p:spPr>
          <a:xfrm>
            <a:off x="2352240" y="6452640"/>
            <a:ext cx="1305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" name="PlaceHolder 7"/>
          <p:cNvSpPr>
            <a:spLocks noGrp="1"/>
          </p:cNvSpPr>
          <p:nvPr>
            <p:ph type="ftr" idx="33"/>
          </p:nvPr>
        </p:nvSpPr>
        <p:spPr>
          <a:xfrm>
            <a:off x="6856560" y="6462000"/>
            <a:ext cx="1752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" name="PlaceHolder 8"/>
          <p:cNvSpPr>
            <a:spLocks noGrp="1"/>
          </p:cNvSpPr>
          <p:nvPr>
            <p:ph type="sldNum" idx="34"/>
          </p:nvPr>
        </p:nvSpPr>
        <p:spPr>
          <a:xfrm>
            <a:off x="5785560" y="6566040"/>
            <a:ext cx="6066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b="0" lang="ru-RU" sz="2000" spc="-1" strike="noStrike">
                <a:ln>
                  <a:solidFill>
                    <a:srgbClr val="537599"/>
                  </a:solidFill>
                </a:ln>
                <a:solidFill>
                  <a:srgbClr val="ffffff"/>
                </a:solidFill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fld id="{18FC5D76-312C-40D9-9D2A-B99DE23487D9}" type="slidenum">
              <a:rPr b="0" lang="ru-RU" sz="2000" spc="-1" strike="noStrike">
                <a:ln>
                  <a:solidFill>
                    <a:srgbClr val="537599"/>
                  </a:solidFill>
                </a:ln>
                <a:solidFill>
                  <a:srgbClr val="ffffff"/>
                </a:solidFill>
                <a:latin typeface="Calibri"/>
              </a:rPr>
              <a:t>&lt;number&gt;</a:t>
            </a:fld>
            <a:endParaRPr b="0" lang="ru-RU" sz="2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4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Прямоугольник 21"/>
          <p:cNvSpPr/>
          <p:nvPr/>
        </p:nvSpPr>
        <p:spPr>
          <a:xfrm rot="5400000">
            <a:off x="-3276720" y="3268440"/>
            <a:ext cx="6906240" cy="369000"/>
          </a:xfrm>
          <a:prstGeom prst="rect">
            <a:avLst/>
          </a:prstGeom>
          <a:solidFill>
            <a:srgbClr val="537599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TextBox 19"/>
          <p:cNvSpPr/>
          <p:nvPr/>
        </p:nvSpPr>
        <p:spPr>
          <a:xfrm>
            <a:off x="-2880" y="8280"/>
            <a:ext cx="356760" cy="796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01010100010010010010101010101010000001010101011111101010101010111111111110010010010101000101001010101001010010101001010010000001000011</a:t>
            </a:r>
            <a:r>
              <a:rPr b="0" lang="en-US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100100100100001010000101111111111110101010100100101111110010001000101011111000000100101101010101010101000011110</a:t>
            </a: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00110000100101010010111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Прямоугольник 6"/>
          <p:cNvSpPr/>
          <p:nvPr/>
        </p:nvSpPr>
        <p:spPr>
          <a:xfrm>
            <a:off x="0" y="6556680"/>
            <a:ext cx="12191760" cy="369000"/>
          </a:xfrm>
          <a:prstGeom prst="rect">
            <a:avLst/>
          </a:prstGeom>
          <a:solidFill>
            <a:srgbClr val="537599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TextBox 7"/>
          <p:cNvSpPr/>
          <p:nvPr/>
        </p:nvSpPr>
        <p:spPr>
          <a:xfrm>
            <a:off x="-8640" y="6562440"/>
            <a:ext cx="12195360" cy="5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1010100010010010010101010101010000001010101011111101010101010111111111110010010010101000101001010101001010010101001010010000001000010010101010101010111111111010000100101010111101010101010101101010101010100110011010101010100000100101010010001000100101111111010111101011111010111111110101010101101010101001010101010110110101111110110101</a:t>
            </a:r>
            <a:r>
              <a:rPr b="0" lang="en-US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000010010100100100100001010000101111111111110101010100100101111110010001000101011111000000100101101010101010101000011110</a:t>
            </a: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00110000100101010010111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TextBox 11"/>
          <p:cNvSpPr/>
          <p:nvPr/>
        </p:nvSpPr>
        <p:spPr>
          <a:xfrm>
            <a:off x="10315080" y="6541920"/>
            <a:ext cx="996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Calibri"/>
              </a:rPr>
              <a:t>www.kaf22.ru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12"/>
          <p:cNvSpPr/>
          <p:nvPr/>
        </p:nvSpPr>
        <p:spPr>
          <a:xfrm>
            <a:off x="9489600" y="6355440"/>
            <a:ext cx="18273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000" spc="-1" strike="noStrike">
                <a:solidFill>
                  <a:srgbClr val="537599"/>
                </a:solidFill>
                <a:latin typeface="Calibri"/>
              </a:rPr>
              <a:t>Кафедра №22 «Кибернетика»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Овал 13"/>
          <p:cNvSpPr/>
          <p:nvPr/>
        </p:nvSpPr>
        <p:spPr>
          <a:xfrm>
            <a:off x="16200" y="6006600"/>
            <a:ext cx="899640" cy="899640"/>
          </a:xfrm>
          <a:prstGeom prst="ellipse">
            <a:avLst/>
          </a:prstGeom>
          <a:solidFill>
            <a:srgbClr val="ffffff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1" name="Рисунок 14" descr=""/>
          <p:cNvPicPr/>
          <p:nvPr/>
        </p:nvPicPr>
        <p:blipFill>
          <a:blip r:embed="rId2"/>
          <a:stretch/>
        </p:blipFill>
        <p:spPr>
          <a:xfrm>
            <a:off x="28800" y="6021360"/>
            <a:ext cx="874440" cy="872640"/>
          </a:xfrm>
          <a:prstGeom prst="rect">
            <a:avLst/>
          </a:prstGeom>
          <a:ln w="0">
            <a:noFill/>
          </a:ln>
        </p:spPr>
      </p:pic>
      <p:sp>
        <p:nvSpPr>
          <p:cNvPr id="322" name="TextBox 15"/>
          <p:cNvSpPr/>
          <p:nvPr/>
        </p:nvSpPr>
        <p:spPr>
          <a:xfrm>
            <a:off x="873000" y="6576120"/>
            <a:ext cx="1048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Calibri"/>
              </a:rPr>
              <a:t>www.mephi.ru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TextBox 16"/>
          <p:cNvSpPr/>
          <p:nvPr/>
        </p:nvSpPr>
        <p:spPr>
          <a:xfrm>
            <a:off x="866880" y="6374520"/>
            <a:ext cx="9738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000" spc="-1" strike="noStrike">
                <a:solidFill>
                  <a:srgbClr val="537599"/>
                </a:solidFill>
                <a:latin typeface="Calibri"/>
              </a:rPr>
              <a:t>НИЯУ МИФИ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24" name="Прямая соединительная линия 17"/>
          <p:cNvCxnSpPr/>
          <p:nvPr/>
        </p:nvCxnSpPr>
        <p:spPr>
          <a:xfrm>
            <a:off x="838080" y="792360"/>
            <a:ext cx="10515960" cy="360"/>
          </a:xfrm>
          <a:prstGeom prst="straightConnector1">
            <a:avLst/>
          </a:prstGeom>
          <a:ln w="22225">
            <a:solidFill>
              <a:srgbClr val="537599"/>
            </a:solidFill>
          </a:ln>
        </p:spPr>
      </p:cxnSp>
      <p:sp>
        <p:nvSpPr>
          <p:cNvPr id="325" name="Овал 18"/>
          <p:cNvSpPr/>
          <p:nvPr/>
        </p:nvSpPr>
        <p:spPr>
          <a:xfrm>
            <a:off x="11271600" y="6006600"/>
            <a:ext cx="899640" cy="899640"/>
          </a:xfrm>
          <a:prstGeom prst="ellipse">
            <a:avLst/>
          </a:prstGeom>
          <a:solidFill>
            <a:srgbClr val="ffffff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6" name="Рисунок 10" descr=""/>
          <p:cNvPicPr/>
          <p:nvPr/>
        </p:nvPicPr>
        <p:blipFill>
          <a:blip r:embed="rId3"/>
          <a:stretch/>
        </p:blipFill>
        <p:spPr>
          <a:xfrm>
            <a:off x="11244960" y="6021360"/>
            <a:ext cx="926280" cy="791640"/>
          </a:xfrm>
          <a:prstGeom prst="rect">
            <a:avLst/>
          </a:prstGeom>
          <a:ln w="0">
            <a:noFill/>
          </a:ln>
        </p:spPr>
      </p:pic>
      <p:sp>
        <p:nvSpPr>
          <p:cNvPr id="327" name="Ромб 7"/>
          <p:cNvSpPr/>
          <p:nvPr/>
        </p:nvSpPr>
        <p:spPr>
          <a:xfrm>
            <a:off x="5746680" y="6556680"/>
            <a:ext cx="698400" cy="364680"/>
          </a:xfrm>
          <a:prstGeom prst="diamond">
            <a:avLst/>
          </a:prstGeom>
          <a:solidFill>
            <a:schemeClr val="bg1"/>
          </a:solidFill>
          <a:ln w="6350">
            <a:solidFill>
              <a:srgbClr val="5375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anchor="ctr">
            <a:noAutofit/>
          </a:bodyPr>
          <a:p>
            <a:pPr algn="ctr" defTabSz="457200">
              <a:lnSpc>
                <a:spcPct val="100000"/>
              </a:lnSpc>
            </a:pPr>
            <a:endParaRPr b="0" lang="ru-RU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8" name="PlaceHolder 1"/>
          <p:cNvSpPr>
            <a:spLocks noGrp="1"/>
          </p:cNvSpPr>
          <p:nvPr>
            <p:ph type="title"/>
          </p:nvPr>
        </p:nvSpPr>
        <p:spPr>
          <a:xfrm>
            <a:off x="838080" y="25200"/>
            <a:ext cx="10515240" cy="748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3600" spc="-1" strike="noStrike">
                <a:solidFill>
                  <a:schemeClr val="dk1"/>
                </a:solidFill>
                <a:latin typeface="Calibri Light"/>
              </a:rPr>
              <a:t>Образец заголовка</a:t>
            </a:r>
            <a:endParaRPr b="0" lang="en-US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 type="dt" idx="35"/>
          </p:nvPr>
        </p:nvSpPr>
        <p:spPr>
          <a:xfrm>
            <a:off x="2352240" y="6452640"/>
            <a:ext cx="1305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ftr" idx="36"/>
          </p:nvPr>
        </p:nvSpPr>
        <p:spPr>
          <a:xfrm>
            <a:off x="6856560" y="6462000"/>
            <a:ext cx="1752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PlaceHolder 4"/>
          <p:cNvSpPr>
            <a:spLocks noGrp="1"/>
          </p:cNvSpPr>
          <p:nvPr>
            <p:ph type="sldNum" idx="37"/>
          </p:nvPr>
        </p:nvSpPr>
        <p:spPr>
          <a:xfrm>
            <a:off x="5785560" y="6566040"/>
            <a:ext cx="6066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b="0" lang="ru-RU" sz="2000" spc="-1" strike="noStrike">
                <a:ln>
                  <a:solidFill>
                    <a:srgbClr val="537599"/>
                  </a:solidFill>
                </a:ln>
                <a:solidFill>
                  <a:srgbClr val="ffffff"/>
                </a:solidFill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fld id="{AB4F6376-D3EE-4280-9CAB-E8390E287CED}" type="slidenum">
              <a:rPr b="0" lang="ru-RU" sz="2000" spc="-1" strike="noStrike">
                <a:ln>
                  <a:solidFill>
                    <a:srgbClr val="537599"/>
                  </a:solidFill>
                </a:ln>
                <a:solidFill>
                  <a:srgbClr val="ffffff"/>
                </a:solidFill>
                <a:latin typeface="Calibri"/>
              </a:rPr>
              <a:t>&lt;number&gt;</a:t>
            </a:fld>
            <a:endParaRPr b="0" lang="ru-RU" sz="2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4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Прямоугольник 21"/>
          <p:cNvSpPr/>
          <p:nvPr/>
        </p:nvSpPr>
        <p:spPr>
          <a:xfrm rot="5400000">
            <a:off x="-3276720" y="3268440"/>
            <a:ext cx="6906240" cy="369000"/>
          </a:xfrm>
          <a:prstGeom prst="rect">
            <a:avLst/>
          </a:prstGeom>
          <a:solidFill>
            <a:srgbClr val="537599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Box 19"/>
          <p:cNvSpPr/>
          <p:nvPr/>
        </p:nvSpPr>
        <p:spPr>
          <a:xfrm>
            <a:off x="-2880" y="8280"/>
            <a:ext cx="356760" cy="796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01010100010010010010101010101010000001010101011111101010101010111111111110010010010101000101001010101001010010101001010010000001000011</a:t>
            </a:r>
            <a:r>
              <a:rPr b="0" lang="en-US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100100100100001010000101111111111110101010100100101111110010001000101011111000000100101101010101010101000011110</a:t>
            </a: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00110000100101010010111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Прямоугольник 6"/>
          <p:cNvSpPr/>
          <p:nvPr/>
        </p:nvSpPr>
        <p:spPr>
          <a:xfrm>
            <a:off x="0" y="6556680"/>
            <a:ext cx="12191760" cy="369000"/>
          </a:xfrm>
          <a:prstGeom prst="rect">
            <a:avLst/>
          </a:prstGeom>
          <a:solidFill>
            <a:srgbClr val="537599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TextBox 7"/>
          <p:cNvSpPr/>
          <p:nvPr/>
        </p:nvSpPr>
        <p:spPr>
          <a:xfrm>
            <a:off x="-8640" y="6562440"/>
            <a:ext cx="12195360" cy="5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45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1010100010010010010101010101010000001010101011111101010101010111111111110010010010101000101001010101001010010101001010010000001000010010101010101010111111111010000100101010111101010101010101101010101010100110011010101010100000100101010010001000100101111111010111101011111010111111110101010101101010101001010101010110110101111110110101</a:t>
            </a:r>
            <a:r>
              <a:rPr b="0" lang="en-US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000010010100100100100001010000101111111111110101010100100101111110010001000101011111000000100101101010101010101000011110</a:t>
            </a:r>
            <a:r>
              <a:rPr b="0" lang="ru-RU" sz="800" spc="-1" strike="noStrike">
                <a:solidFill>
                  <a:schemeClr val="dk1">
                    <a:alpha val="10000"/>
                  </a:schemeClr>
                </a:solidFill>
                <a:latin typeface="Calibri"/>
              </a:rPr>
              <a:t>00110000100101010010111</a:t>
            </a:r>
            <a:endParaRPr b="0" lang="ru-RU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TextBox 11"/>
          <p:cNvSpPr/>
          <p:nvPr/>
        </p:nvSpPr>
        <p:spPr>
          <a:xfrm>
            <a:off x="10315080" y="6541920"/>
            <a:ext cx="996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Calibri"/>
              </a:rPr>
              <a:t>www.kaf22.ru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TextBox 12"/>
          <p:cNvSpPr/>
          <p:nvPr/>
        </p:nvSpPr>
        <p:spPr>
          <a:xfrm>
            <a:off x="9489600" y="6355440"/>
            <a:ext cx="18273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000" spc="-1" strike="noStrike">
                <a:solidFill>
                  <a:srgbClr val="537599"/>
                </a:solidFill>
                <a:latin typeface="Calibri"/>
              </a:rPr>
              <a:t>Кафедра №22 «Кибернетика»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Овал 13"/>
          <p:cNvSpPr/>
          <p:nvPr/>
        </p:nvSpPr>
        <p:spPr>
          <a:xfrm>
            <a:off x="16200" y="6006600"/>
            <a:ext cx="899640" cy="899640"/>
          </a:xfrm>
          <a:prstGeom prst="ellipse">
            <a:avLst/>
          </a:prstGeom>
          <a:solidFill>
            <a:srgbClr val="ffffff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40" name="Рисунок 14" descr=""/>
          <p:cNvPicPr/>
          <p:nvPr/>
        </p:nvPicPr>
        <p:blipFill>
          <a:blip r:embed="rId2"/>
          <a:stretch/>
        </p:blipFill>
        <p:spPr>
          <a:xfrm>
            <a:off x="28800" y="6021360"/>
            <a:ext cx="874440" cy="872640"/>
          </a:xfrm>
          <a:prstGeom prst="rect">
            <a:avLst/>
          </a:prstGeom>
          <a:ln w="0">
            <a:noFill/>
          </a:ln>
        </p:spPr>
      </p:pic>
      <p:sp>
        <p:nvSpPr>
          <p:cNvPr id="341" name="TextBox 15"/>
          <p:cNvSpPr/>
          <p:nvPr/>
        </p:nvSpPr>
        <p:spPr>
          <a:xfrm>
            <a:off x="873000" y="6576120"/>
            <a:ext cx="1048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Calibri"/>
              </a:rPr>
              <a:t>www.mephi.ru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Box 16"/>
          <p:cNvSpPr/>
          <p:nvPr/>
        </p:nvSpPr>
        <p:spPr>
          <a:xfrm>
            <a:off x="866880" y="6374520"/>
            <a:ext cx="9738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000" spc="-1" strike="noStrike">
                <a:solidFill>
                  <a:srgbClr val="537599"/>
                </a:solidFill>
                <a:latin typeface="Calibri"/>
              </a:rPr>
              <a:t>НИЯУ МИФИ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43" name="Прямая соединительная линия 17"/>
          <p:cNvCxnSpPr/>
          <p:nvPr/>
        </p:nvCxnSpPr>
        <p:spPr>
          <a:xfrm>
            <a:off x="838080" y="792360"/>
            <a:ext cx="10515960" cy="360"/>
          </a:xfrm>
          <a:prstGeom prst="straightConnector1">
            <a:avLst/>
          </a:prstGeom>
          <a:ln w="22225">
            <a:solidFill>
              <a:srgbClr val="537599"/>
            </a:solidFill>
          </a:ln>
        </p:spPr>
      </p:cxnSp>
      <p:sp>
        <p:nvSpPr>
          <p:cNvPr id="344" name="Овал 18"/>
          <p:cNvSpPr/>
          <p:nvPr/>
        </p:nvSpPr>
        <p:spPr>
          <a:xfrm>
            <a:off x="11271600" y="6006600"/>
            <a:ext cx="899640" cy="899640"/>
          </a:xfrm>
          <a:prstGeom prst="ellipse">
            <a:avLst/>
          </a:prstGeom>
          <a:solidFill>
            <a:srgbClr val="ffffff"/>
          </a:solidFill>
          <a:ln w="2540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5720" rIns="45720" anchor="ctr">
            <a:spAutoFit/>
          </a:bodyPr>
          <a:p>
            <a:endParaRPr b="1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45" name="Рисунок 10" descr=""/>
          <p:cNvPicPr/>
          <p:nvPr/>
        </p:nvPicPr>
        <p:blipFill>
          <a:blip r:embed="rId3"/>
          <a:stretch/>
        </p:blipFill>
        <p:spPr>
          <a:xfrm>
            <a:off x="11244960" y="6021360"/>
            <a:ext cx="926280" cy="791640"/>
          </a:xfrm>
          <a:prstGeom prst="rect">
            <a:avLst/>
          </a:prstGeom>
          <a:ln w="0">
            <a:noFill/>
          </a:ln>
        </p:spPr>
      </p:pic>
      <p:sp>
        <p:nvSpPr>
          <p:cNvPr id="346" name="Ромб 6"/>
          <p:cNvSpPr/>
          <p:nvPr/>
        </p:nvSpPr>
        <p:spPr>
          <a:xfrm>
            <a:off x="5746680" y="6556680"/>
            <a:ext cx="698400" cy="364680"/>
          </a:xfrm>
          <a:prstGeom prst="diamond">
            <a:avLst/>
          </a:prstGeom>
          <a:solidFill>
            <a:schemeClr val="bg1"/>
          </a:solidFill>
          <a:ln w="6350">
            <a:solidFill>
              <a:srgbClr val="5375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horzOverflow="overflow" anchor="ctr">
            <a:noAutofit/>
          </a:bodyPr>
          <a:p>
            <a:endParaRPr b="0" lang="ru-RU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7" name="PlaceHolder 1"/>
          <p:cNvSpPr>
            <a:spLocks noGrp="1"/>
          </p:cNvSpPr>
          <p:nvPr>
            <p:ph type="title"/>
          </p:nvPr>
        </p:nvSpPr>
        <p:spPr>
          <a:xfrm>
            <a:off x="838080" y="25200"/>
            <a:ext cx="10515240" cy="748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3600" spc="-1" strike="noStrike">
                <a:solidFill>
                  <a:schemeClr val="dk1"/>
                </a:solidFill>
                <a:latin typeface="Calibri Light"/>
              </a:rPr>
              <a:t>Образец заголовка</a:t>
            </a:r>
            <a:endParaRPr b="0" lang="en-US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48" name="PlaceHolder 2"/>
          <p:cNvSpPr>
            <a:spLocks noGrp="1"/>
          </p:cNvSpPr>
          <p:nvPr>
            <p:ph type="body"/>
          </p:nvPr>
        </p:nvSpPr>
        <p:spPr>
          <a:xfrm>
            <a:off x="838080" y="870840"/>
            <a:ext cx="10515240" cy="530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pc="-1" strike="noStrike">
                <a:solidFill>
                  <a:schemeClr val="dk1"/>
                </a:solidFill>
                <a:latin typeface="Calibri"/>
              </a:rPr>
              <a:t>Образец </a:t>
            </a:r>
            <a:r>
              <a:rPr b="0" lang="ru-RU" sz="2800" spc="-1" strike="noStrike">
                <a:solidFill>
                  <a:schemeClr val="dk1"/>
                </a:solidFill>
                <a:latin typeface="Calibri"/>
              </a:rPr>
              <a:t>текста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pc="-1" strike="noStrike">
                <a:solidFill>
                  <a:schemeClr val="dk1"/>
                </a:solidFill>
                <a:latin typeface="Calibri"/>
              </a:rPr>
              <a:t>Второй </a:t>
            </a:r>
            <a:r>
              <a:rPr b="0" lang="ru-RU" sz="2400" spc="-1" strike="noStrike">
                <a:solidFill>
                  <a:schemeClr val="dk1"/>
                </a:solidFill>
                <a:latin typeface="Calibri"/>
              </a:rPr>
              <a:t>уровень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</a:rPr>
              <a:t>Трети</a:t>
            </a:r>
            <a:r>
              <a:rPr b="0" lang="ru-RU" sz="2000" spc="-1" strike="noStrike">
                <a:solidFill>
                  <a:schemeClr val="dk1"/>
                </a:solidFill>
                <a:latin typeface="Calibri"/>
              </a:rPr>
              <a:t>й </a:t>
            </a:r>
            <a:r>
              <a:rPr b="0" lang="ru-RU" sz="2000" spc="-1" strike="noStrike">
                <a:solidFill>
                  <a:schemeClr val="dk1"/>
                </a:solidFill>
                <a:latin typeface="Calibri"/>
              </a:rPr>
              <a:t>урове</a:t>
            </a:r>
            <a:r>
              <a:rPr b="0" lang="ru-RU" sz="2000" spc="-1" strike="noStrike">
                <a:solidFill>
                  <a:schemeClr val="dk1"/>
                </a:solidFill>
                <a:latin typeface="Calibri"/>
              </a:rPr>
              <a:t>нь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Чет</a:t>
            </a: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вер</a:t>
            </a: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ты</a:t>
            </a: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й </a:t>
            </a: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уро</a:t>
            </a: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вен</a:t>
            </a: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ь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П</a:t>
            </a: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я</a:t>
            </a: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т</a:t>
            </a: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ы</a:t>
            </a: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й</a:t>
            </a: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у</a:t>
            </a: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р</a:t>
            </a: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о</a:t>
            </a: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в</a:t>
            </a: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е</a:t>
            </a: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н</a:t>
            </a: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ь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 type="dt" idx="38"/>
          </p:nvPr>
        </p:nvSpPr>
        <p:spPr>
          <a:xfrm>
            <a:off x="2352240" y="6452640"/>
            <a:ext cx="1305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" name="PlaceHolder 4"/>
          <p:cNvSpPr>
            <a:spLocks noGrp="1"/>
          </p:cNvSpPr>
          <p:nvPr>
            <p:ph type="ftr" idx="39"/>
          </p:nvPr>
        </p:nvSpPr>
        <p:spPr>
          <a:xfrm>
            <a:off x="6856560" y="6462000"/>
            <a:ext cx="1752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" name="PlaceHolder 5"/>
          <p:cNvSpPr>
            <a:spLocks noGrp="1"/>
          </p:cNvSpPr>
          <p:nvPr>
            <p:ph type="sldNum" idx="40"/>
          </p:nvPr>
        </p:nvSpPr>
        <p:spPr>
          <a:xfrm>
            <a:off x="5746680" y="6556680"/>
            <a:ext cx="6984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b="0" lang="ru-RU" sz="2000" spc="-1" strike="noStrike">
                <a:ln>
                  <a:solidFill>
                    <a:srgbClr val="537599"/>
                  </a:solidFill>
                </a:ln>
                <a:solidFill>
                  <a:srgbClr val="ffffff"/>
                </a:solidFill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fld id="{9B4F9A20-D21A-4077-AC78-561EE44F1895}" type="slidenum">
              <a:rPr b="0" lang="ru-RU" sz="2000" spc="-1" strike="noStrike">
                <a:ln>
                  <a:solidFill>
                    <a:srgbClr val="537599"/>
                  </a:solidFill>
                </a:ln>
                <a:solidFill>
                  <a:srgbClr val="ffffff"/>
                </a:solidFill>
                <a:latin typeface="Calibri"/>
              </a:rPr>
              <a:t>&lt;number&gt;</a:t>
            </a:fld>
            <a:endParaRPr b="0" lang="ru-RU" sz="2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7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svg"/><Relationship Id="rId3" Type="http://schemas.openxmlformats.org/officeDocument/2006/relationships/slideLayout" Target="../slideLayouts/slideLayout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svg"/><Relationship Id="rId3" Type="http://schemas.openxmlformats.org/officeDocument/2006/relationships/slideLayout" Target="../slideLayouts/slideLayout17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2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2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2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2648520" y="3435840"/>
            <a:ext cx="6857640" cy="1055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87465"/>
          </a:bodyPr>
          <a:p>
            <a:pPr indent="0" algn="ctr">
              <a:buNone/>
            </a:pPr>
            <a:r>
              <a:rPr b="1" lang="ru-RU" sz="2400" spc="-1" strike="noStrike">
                <a:solidFill>
                  <a:schemeClr val="dk1"/>
                </a:solidFill>
                <a:latin typeface="Arial"/>
                <a:ea typeface="Times New Roman"/>
              </a:rPr>
              <a:t>Разработка прототипа системы синхронизации файлов для системы поддержки учебного процесса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9276120" y="4645800"/>
            <a:ext cx="2184120" cy="28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</a:rPr>
              <a:t>Гаина Г.Е,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/>
          </p:nvPr>
        </p:nvSpPr>
        <p:spPr>
          <a:xfrm>
            <a:off x="9276120" y="5000400"/>
            <a:ext cx="2184120" cy="29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</a:rPr>
              <a:t>Б23-514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7" name="PlaceHolder 4"/>
          <p:cNvSpPr>
            <a:spLocks noGrp="1"/>
          </p:cNvSpPr>
          <p:nvPr>
            <p:ph/>
          </p:nvPr>
        </p:nvSpPr>
        <p:spPr>
          <a:xfrm>
            <a:off x="9271440" y="5466600"/>
            <a:ext cx="2184120" cy="58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6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</a:rPr>
              <a:t>Рословцев В. В.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xfrm>
            <a:off x="838080" y="25200"/>
            <a:ext cx="10515240" cy="748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ru-RU" sz="3600" spc="-1" strike="noStrike">
                <a:solidFill>
                  <a:schemeClr val="dk1"/>
                </a:solidFill>
                <a:latin typeface="Calibri Light"/>
              </a:rPr>
              <a:t>Реферат</a:t>
            </a:r>
            <a:endParaRPr b="0" lang="en-US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9" name="Объект 2"/>
          <p:cNvSpPr/>
          <p:nvPr/>
        </p:nvSpPr>
        <p:spPr>
          <a:xfrm>
            <a:off x="5517000" y="5686560"/>
            <a:ext cx="1209960" cy="5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49280">
              <a:lnSpc>
                <a:spcPct val="97000"/>
              </a:lnSpc>
              <a:spcBef>
                <a:spcPts val="799"/>
              </a:spcBef>
            </a:pPr>
            <a:endParaRPr b="0" lang="ru-RU" sz="2400" spc="-1" strike="noStrike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360" name="Объект 2"/>
          <p:cNvSpPr/>
          <p:nvPr/>
        </p:nvSpPr>
        <p:spPr>
          <a:xfrm>
            <a:off x="7176960" y="1622520"/>
            <a:ext cx="4425840" cy="4294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e5662e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/>
        </p:style>
        <p:txBody>
          <a:bodyPr anchor="t">
            <a:noAutofit/>
          </a:bodyPr>
          <a:p>
            <a:r>
              <a:rPr b="1" lang="ru-RU" sz="2000" spc="-1" strike="noStrike">
                <a:solidFill>
                  <a:srgbClr val="1f2b6d"/>
                </a:solidFill>
                <a:latin typeface="Arial"/>
                <a:ea typeface=""/>
              </a:rPr>
              <a:t>СИСТЕМА СИНХРОНИЗАЦИИ ФАЙЛОВ, РАСПРЕДЕЛЁННОЕ ХРАНЕНИЕ, ВЕРСИОНИРОВАНИЕ, КОНТЕНТ-АДРЕСУЕМОЕ ХРАНИЛИЩЕ, КОНТРОЛЬ ВЕРСИЙ, РАЗРЕШЕНИЕ КОНФЛИКТОВ, КОНТЕЙНЕРИЗАЦИЯ, УЧЕБНЫЙ ПРОЦЕСС, МЕТАДАННЫЕ, СНИМКИ СОСТОЯНИЯ, ТРЁХСТОРОННЕЕ СЛИЯНИЕ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TextBox 6"/>
          <p:cNvSpPr/>
          <p:nvPr/>
        </p:nvSpPr>
        <p:spPr>
          <a:xfrm>
            <a:off x="7176960" y="1054440"/>
            <a:ext cx="44258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ru-RU" sz="2400" spc="-1" strike="noStrike">
                <a:solidFill>
                  <a:srgbClr val="e5662e"/>
                </a:solidFill>
                <a:latin typeface="Arial"/>
              </a:rPr>
              <a:t>Ключевые слова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Объект 2"/>
          <p:cNvSpPr/>
          <p:nvPr/>
        </p:nvSpPr>
        <p:spPr>
          <a:xfrm>
            <a:off x="838080" y="1622520"/>
            <a:ext cx="5888880" cy="1806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1f2b6d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f2b6d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1f2b6d"/>
                </a:solidFill>
                <a:latin typeface="Arial"/>
              </a:rPr>
              <a:t>53 страниц 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f2b6d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1f2b6d"/>
                </a:solidFill>
                <a:latin typeface="Arial"/>
              </a:rPr>
              <a:t>12 таблиц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f2b6d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1f2b6d"/>
                </a:solidFill>
                <a:latin typeface="Arial"/>
              </a:rPr>
              <a:t>9 рисунка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f2b6d"/>
              </a:buClr>
              <a:buFont typeface="Arial"/>
              <a:buChar char="•"/>
            </a:pPr>
            <a:r>
              <a:rPr b="0" lang="ru-RU" sz="2000" spc="-1" strike="noStrike">
                <a:solidFill>
                  <a:srgbClr val="1f2b6d"/>
                </a:solidFill>
                <a:latin typeface="Arial"/>
              </a:rPr>
              <a:t>21 использованных источников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TextBox 11"/>
          <p:cNvSpPr/>
          <p:nvPr/>
        </p:nvSpPr>
        <p:spPr>
          <a:xfrm>
            <a:off x="838080" y="1045800"/>
            <a:ext cx="5506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ru-RU" sz="2400" spc="-1" strike="noStrike">
                <a:solidFill>
                  <a:srgbClr val="1f2b6d"/>
                </a:solidFill>
                <a:latin typeface="Arial"/>
              </a:rPr>
              <a:t>Пояснительная записка содержит: 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4CFEBFDF-5CDB-4297-89E3-5AB1E88BF11A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title"/>
          </p:nvPr>
        </p:nvSpPr>
        <p:spPr>
          <a:xfrm>
            <a:off x="838080" y="25200"/>
            <a:ext cx="10515240" cy="748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3600" spc="-1" strike="noStrike">
                <a:solidFill>
                  <a:schemeClr val="dk1"/>
                </a:solidFill>
                <a:latin typeface="Calibri Light"/>
              </a:rPr>
              <a:t>Актуальность работы</a:t>
            </a:r>
            <a:endParaRPr b="0" lang="en-US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5" name="PlaceHolder 2"/>
          <p:cNvSpPr>
            <a:spLocks noGrp="1"/>
          </p:cNvSpPr>
          <p:nvPr>
            <p:ph/>
          </p:nvPr>
        </p:nvSpPr>
        <p:spPr>
          <a:xfrm>
            <a:off x="670680" y="1382760"/>
            <a:ext cx="9589320" cy="4091760"/>
          </a:xfrm>
          <a:prstGeom prst="rect">
            <a:avLst/>
          </a:prstGeom>
          <a:solidFill>
            <a:schemeClr val="lt1"/>
          </a:solidFill>
          <a:ln w="38160">
            <a:solidFill>
              <a:srgbClr val="e5662e"/>
            </a:solidFill>
            <a:miter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1f2b6d"/>
              </a:buClr>
              <a:buFont typeface="Arial"/>
              <a:buChar char="•"/>
            </a:pP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Использование человеком множества различных устройств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1f2b6d"/>
              </a:buClr>
              <a:buFont typeface="Arial"/>
              <a:buChar char="•"/>
            </a:pP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Рост потребности в мобильном доступе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1f2b6d"/>
              </a:buClr>
              <a:buFont typeface="Arial"/>
              <a:buChar char="•"/>
            </a:pP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Потребность в согласованности данных, которую не предоставляют распространенные аналоги(Google Drive)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1f2b6d"/>
              </a:buClr>
              <a:buFont typeface="Arial"/>
              <a:buChar char="•"/>
            </a:pP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Необходимость: удобный интерфейс, отвечающий всем требованиям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A1C15B03-9CFE-4978-AB8D-D62E2D73CC5A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title"/>
          </p:nvPr>
        </p:nvSpPr>
        <p:spPr>
          <a:xfrm>
            <a:off x="838080" y="25200"/>
            <a:ext cx="10515240" cy="748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3600" spc="-1" strike="noStrike">
                <a:solidFill>
                  <a:schemeClr val="dk1"/>
                </a:solidFill>
                <a:latin typeface="Calibri Light"/>
              </a:rPr>
              <a:t>Цели учебно-исследовательской работы</a:t>
            </a:r>
            <a:endParaRPr b="0" lang="en-US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7" name="PlaceHolder 2"/>
          <p:cNvSpPr>
            <a:spLocks noGrp="1"/>
          </p:cNvSpPr>
          <p:nvPr>
            <p:ph/>
          </p:nvPr>
        </p:nvSpPr>
        <p:spPr>
          <a:xfrm>
            <a:off x="0" y="7584120"/>
            <a:ext cx="10515240" cy="530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8" name="TextBox 8"/>
          <p:cNvSpPr/>
          <p:nvPr/>
        </p:nvSpPr>
        <p:spPr>
          <a:xfrm>
            <a:off x="1878840" y="1393560"/>
            <a:ext cx="14032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ru-RU" sz="2400" spc="-1" strike="noStrike">
                <a:solidFill>
                  <a:srgbClr val="e5662e"/>
                </a:solidFill>
                <a:latin typeface="Arial"/>
              </a:rPr>
              <a:t>Цель 1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TextBox 12"/>
          <p:cNvSpPr/>
          <p:nvPr/>
        </p:nvSpPr>
        <p:spPr>
          <a:xfrm>
            <a:off x="743400" y="1993680"/>
            <a:ext cx="3674520" cy="4565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e5662e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r>
              <a:rPr b="1" lang="ru-RU" sz="1800" spc="-1" strike="noStrike">
                <a:solidFill>
                  <a:srgbClr val="1f2b6d"/>
                </a:solidFill>
                <a:latin typeface="Arial"/>
              </a:rPr>
              <a:t>Проанализировать</a:t>
            </a:r>
            <a:r>
              <a:rPr b="0" lang="ru-RU" sz="1800" spc="-1" strike="noStrike">
                <a:solidFill>
                  <a:srgbClr val="1f2b6d"/>
                </a:solidFill>
                <a:latin typeface="Arial"/>
              </a:rPr>
              <a:t> 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r>
              <a:rPr b="0" lang="ru-RU" sz="1800" spc="-1" strike="noStrike">
                <a:solidFill>
                  <a:srgbClr val="1f2b6d"/>
                </a:solidFill>
                <a:latin typeface="Arial"/>
              </a:rPr>
              <a:t>возможности платформы .NET для манипуляции файловой системой и асинхронного взаимодействия, подходы к децентрализованному хранению неструктурированных данных и механизмы версионирования объектов  для выявления оптимальной модели построения системы синхронизации файлов в учебном процессе.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TextBox 16"/>
          <p:cNvSpPr/>
          <p:nvPr/>
        </p:nvSpPr>
        <p:spPr>
          <a:xfrm>
            <a:off x="5626440" y="1369800"/>
            <a:ext cx="14032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ru-RU" sz="2400" spc="-1" strike="noStrike">
                <a:solidFill>
                  <a:srgbClr val="e5662e"/>
                </a:solidFill>
                <a:latin typeface="Arial"/>
              </a:rPr>
              <a:t>Цель </a:t>
            </a:r>
            <a:r>
              <a:rPr b="1" lang="en-US" sz="2400" spc="-1" strike="noStrike">
                <a:solidFill>
                  <a:srgbClr val="e5662e"/>
                </a:solidFill>
                <a:latin typeface="Arial"/>
              </a:rPr>
              <a:t>2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17"/>
          <p:cNvSpPr/>
          <p:nvPr/>
        </p:nvSpPr>
        <p:spPr>
          <a:xfrm>
            <a:off x="4750560" y="1993680"/>
            <a:ext cx="3108960" cy="3413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e5662e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r>
              <a:rPr b="1" lang="ru-RU" sz="1800" spc="-1" strike="noStrike">
                <a:solidFill>
                  <a:srgbClr val="1f2b6d"/>
                </a:solidFill>
                <a:latin typeface="Arial"/>
              </a:rPr>
              <a:t>Спроектировать 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r>
              <a:rPr b="0" lang="ru-RU" sz="1800" spc="-1" strike="noStrike">
                <a:solidFill>
                  <a:srgbClr val="1f2b6d"/>
                </a:solidFill>
                <a:latin typeface="Arial"/>
              </a:rPr>
              <a:t>модели метаданных для контент-адресуемого хранения и версионирования файлов, алгоритмы синхронизации, а также и программные интерфейсы (REST API) взаимодействия узлов синхронизации.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TextBox 18"/>
          <p:cNvSpPr/>
          <p:nvPr/>
        </p:nvSpPr>
        <p:spPr>
          <a:xfrm>
            <a:off x="9127080" y="1393560"/>
            <a:ext cx="14032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ru-RU" sz="2400" spc="-1" strike="noStrike">
                <a:solidFill>
                  <a:srgbClr val="e5662e"/>
                </a:solidFill>
                <a:latin typeface="Arial"/>
              </a:rPr>
              <a:t>Цель </a:t>
            </a:r>
            <a:r>
              <a:rPr b="1" lang="en-US" sz="2400" spc="-1" strike="noStrike">
                <a:solidFill>
                  <a:srgbClr val="e5662e"/>
                </a:solidFill>
                <a:latin typeface="Arial"/>
              </a:rPr>
              <a:t>3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TextBox 19"/>
          <p:cNvSpPr/>
          <p:nvPr/>
        </p:nvSpPr>
        <p:spPr>
          <a:xfrm>
            <a:off x="8192160" y="1993680"/>
            <a:ext cx="3346560" cy="4807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e5662e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r>
              <a:rPr b="1" lang="ru-RU" sz="1800" spc="-1" strike="noStrike">
                <a:solidFill>
                  <a:srgbClr val="1f2b6d"/>
                </a:solidFill>
                <a:latin typeface="Arial"/>
              </a:rPr>
              <a:t>Разработать </a:t>
            </a:r>
            <a:r>
              <a:rPr b="0" lang="ru-RU" sz="1800" spc="-1" strike="noStrike">
                <a:solidFill>
                  <a:srgbClr val="1f2b6d"/>
                </a:solidFill>
                <a:latin typeface="Arial"/>
              </a:rPr>
              <a:t>и реализовать рограммный прототип системы синхронизации файлов на платформе .NET с использованием пользовательского интерфейса, обеспечивающий распределённое хранение  данных, контроль версий и корректное разрешение конфликтов при одновременном изменении файлов на разных узлах.</a:t>
            </a:r>
            <a:r>
              <a:rPr b="1" lang="ru-RU" sz="1800" spc="-1" strike="noStrike">
                <a:solidFill>
                  <a:schemeClr val="dk1"/>
                </a:solidFill>
                <a:latin typeface="Arial"/>
              </a:rPr>
              <a:t>	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5BC8CE68-8924-4D60-A260-2EC1FDF1F2C2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838080" y="25200"/>
            <a:ext cx="10515240" cy="748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3600" spc="-1" strike="noStrike">
                <a:solidFill>
                  <a:schemeClr val="dk1"/>
                </a:solidFill>
                <a:latin typeface="Calibri Light"/>
              </a:rPr>
              <a:t>Задачи учебно-исследовательской работы</a:t>
            </a:r>
            <a:endParaRPr b="0" lang="en-US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75" name="PlaceHolder 2"/>
          <p:cNvSpPr>
            <a:spLocks noGrp="1"/>
          </p:cNvSpPr>
          <p:nvPr>
            <p:ph/>
          </p:nvPr>
        </p:nvSpPr>
        <p:spPr>
          <a:xfrm>
            <a:off x="900000" y="1047240"/>
            <a:ext cx="10643760" cy="508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514440" indent="-514440" defTabSz="914400">
              <a:lnSpc>
                <a:spcPct val="110000"/>
              </a:lnSpc>
              <a:spcBef>
                <a:spcPts val="1001"/>
              </a:spcBef>
              <a:buClr>
                <a:srgbClr val="1f2b6d"/>
              </a:buClr>
              <a:buFont typeface="Calibri Light"/>
              <a:buAutoNum type="arabicPeriod"/>
            </a:pPr>
            <a:r>
              <a:rPr b="1" lang="ru-RU" sz="2200" spc="-1" strike="noStrike">
                <a:solidFill>
                  <a:srgbClr val="1f2b6d"/>
                </a:solidFill>
                <a:latin typeface="Arial"/>
              </a:rPr>
              <a:t>Провести анализ средств хранения и обмена данных на C#.</a:t>
            </a:r>
            <a:endParaRPr b="0" lang="en-US" sz="2200" spc="-1" strike="noStrike">
              <a:solidFill>
                <a:schemeClr val="dk1"/>
              </a:solidFill>
              <a:latin typeface="Calibri"/>
            </a:endParaRPr>
          </a:p>
          <a:p>
            <a:pPr marL="514440" indent="-514440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Clr>
                <a:srgbClr val="1f2b6d"/>
              </a:buClr>
              <a:buFont typeface="Calibri Light"/>
              <a:buAutoNum type="arabicPeriod"/>
            </a:pPr>
            <a:r>
              <a:rPr b="1" lang="ru-RU" sz="2200" spc="-1" strike="noStrike">
                <a:solidFill>
                  <a:srgbClr val="1f2b6d"/>
                </a:solidFill>
                <a:latin typeface="Arial"/>
              </a:rPr>
              <a:t>Спроектировать модели метаданных для контент-адресуемого хранения и версионирования файлов.</a:t>
            </a:r>
            <a:endParaRPr b="0" lang="en-US" sz="2200" spc="-1" strike="noStrike">
              <a:solidFill>
                <a:schemeClr val="dk1"/>
              </a:solidFill>
              <a:latin typeface="Calibri"/>
            </a:endParaRPr>
          </a:p>
          <a:p>
            <a:pPr marL="514440" indent="-514440" defTabSz="914400">
              <a:lnSpc>
                <a:spcPct val="110000"/>
              </a:lnSpc>
              <a:spcBef>
                <a:spcPts val="1001"/>
              </a:spcBef>
              <a:buClr>
                <a:srgbClr val="1f2b6d"/>
              </a:buClr>
              <a:buFont typeface="Calibri Light"/>
              <a:buAutoNum type="arabicPeriod"/>
            </a:pPr>
            <a:r>
              <a:rPr b="1" lang="ru-RU" sz="2200" spc="-1" strike="noStrike">
                <a:solidFill>
                  <a:srgbClr val="1f2b6d"/>
                </a:solidFill>
                <a:latin typeface="Arial"/>
              </a:rPr>
              <a:t>Разработать алгоритмы синхронизации данных на различных узлах.</a:t>
            </a:r>
            <a:endParaRPr b="0" lang="en-US" sz="2200" spc="-1" strike="noStrike">
              <a:solidFill>
                <a:schemeClr val="dk1"/>
              </a:solidFill>
              <a:latin typeface="Calibri"/>
            </a:endParaRPr>
          </a:p>
          <a:p>
            <a:pPr marL="514440" indent="-514440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Clr>
                <a:srgbClr val="1f2b6d"/>
              </a:buClr>
              <a:buFont typeface="Calibri Light"/>
              <a:buAutoNum type="arabicPeriod"/>
            </a:pPr>
            <a:r>
              <a:rPr b="1" lang="ru-RU" sz="2200" spc="-1" strike="noStrike">
                <a:solidFill>
                  <a:srgbClr val="1f2b6d"/>
                </a:solidFill>
                <a:latin typeface="Arial"/>
              </a:rPr>
              <a:t>Спроектировать архитектуру переносимой системы хранения неструктурированных данных.</a:t>
            </a:r>
            <a:endParaRPr b="0" lang="en-US" sz="2200" spc="-1" strike="noStrike">
              <a:solidFill>
                <a:schemeClr val="dk1"/>
              </a:solidFill>
              <a:latin typeface="Calibri"/>
            </a:endParaRPr>
          </a:p>
          <a:p>
            <a:pPr marL="514440" indent="-514440" defTabSz="914400">
              <a:lnSpc>
                <a:spcPct val="110000"/>
              </a:lnSpc>
              <a:spcBef>
                <a:spcPts val="1001"/>
              </a:spcBef>
              <a:buClr>
                <a:srgbClr val="1f2b6d"/>
              </a:buClr>
              <a:buFont typeface="Calibri Light"/>
              <a:buAutoNum type="arabicPeriod"/>
            </a:pPr>
            <a:r>
              <a:rPr b="1" lang="ru-RU" sz="2200" spc="-1" strike="noStrike">
                <a:solidFill>
                  <a:srgbClr val="1f2b6d"/>
                </a:solidFill>
                <a:latin typeface="Arial"/>
              </a:rPr>
              <a:t>Реализовать прототип, провести его тестирование и наполнить данными.</a:t>
            </a:r>
            <a:endParaRPr b="0" lang="en-US" sz="2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661EE6C9-7AC0-4E08-B692-1CBBC1EB7C0E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title"/>
          </p:nvPr>
        </p:nvSpPr>
        <p:spPr>
          <a:xfrm>
            <a:off x="838080" y="0"/>
            <a:ext cx="11221920" cy="1108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b="0" lang="ru-RU" sz="3600" spc="-1" strike="noStrike">
                <a:solidFill>
                  <a:schemeClr val="dk1"/>
                </a:solidFill>
                <a:latin typeface="Calibri Light"/>
              </a:rPr>
              <a:t> </a:t>
            </a:r>
            <a:r>
              <a:rPr b="0" lang="ru-RU" sz="3600" spc="-1" strike="noStrike">
                <a:solidFill>
                  <a:schemeClr val="dk1"/>
                </a:solidFill>
                <a:latin typeface="Calibri Light"/>
              </a:rPr>
              <a:t>Результаты анализа средств хранения данных</a:t>
            </a:r>
            <a:br>
              <a:rPr sz="3600"/>
            </a:br>
            <a:endParaRPr b="1" lang="en-US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77" name="PlaceHolder 2"/>
          <p:cNvSpPr>
            <a:spLocks noGrp="1"/>
          </p:cNvSpPr>
          <p:nvPr>
            <p:ph/>
          </p:nvPr>
        </p:nvSpPr>
        <p:spPr>
          <a:xfrm>
            <a:off x="838080" y="1104120"/>
            <a:ext cx="10861920" cy="3340080"/>
          </a:xfrm>
          <a:prstGeom prst="rect">
            <a:avLst/>
          </a:prstGeom>
          <a:solidFill>
            <a:schemeClr val="lt1"/>
          </a:solidFill>
          <a:ln w="38160">
            <a:solidFill>
              <a:srgbClr val="1f2b6d"/>
            </a:solidFill>
            <a:miter/>
          </a:ln>
        </p:spPr>
        <p:txBody>
          <a:bodyPr lIns="91440" rIns="91440" tIns="45720" bIns="45720" anchor="t">
            <a:normAutofit fontScale="98192" lnSpcReduction="10000"/>
          </a:bodyPr>
          <a:p>
            <a:pPr indent="0" defTabSz="914400">
              <a:lnSpc>
                <a:spcPct val="15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400" spc="-1" strike="noStrike">
                <a:solidFill>
                  <a:srgbClr val="1f2b6d"/>
                </a:solidFill>
                <a:latin typeface="Arial"/>
              </a:rPr>
              <a:t>Прямая работа с файловой системой: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 просто но есть риск потери данных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5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400" spc="-1" strike="noStrike">
                <a:solidFill>
                  <a:srgbClr val="1f2b6d"/>
                </a:solidFill>
                <a:latin typeface="Arial"/>
              </a:rPr>
              <a:t>Виртуальная файловая система: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 удобно в использовании, но требует архитектурно-зависимых компонент. Не переносимо.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5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400" spc="-1" strike="noStrike">
                <a:solidFill>
                  <a:srgbClr val="1f2b6d"/>
                </a:solidFill>
                <a:latin typeface="Arial"/>
              </a:rPr>
              <a:t>Внутреннее хранилище приложения: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 дублирование данных, но простота реализации и безопасность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78" name="TextBox 5"/>
          <p:cNvSpPr/>
          <p:nvPr/>
        </p:nvSpPr>
        <p:spPr>
          <a:xfrm>
            <a:off x="838080" y="4775040"/>
            <a:ext cx="10861920" cy="1315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8081d4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50000"/>
              </a:lnSpc>
            </a:pPr>
            <a:r>
              <a:rPr b="1" lang="ru-RU" sz="2400" spc="-1" strike="noStrike">
                <a:solidFill>
                  <a:srgbClr val="1f2b6d"/>
                </a:solidFill>
                <a:latin typeface="Arial"/>
              </a:rPr>
              <a:t>Вывод: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 для хранения данных используем внутреннее хранилище приложения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A5F68FC6-17FB-490D-8EAD-63B1B7DB0673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title"/>
          </p:nvPr>
        </p:nvSpPr>
        <p:spPr>
          <a:xfrm>
            <a:off x="838080" y="151920"/>
            <a:ext cx="11221920" cy="1108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b="0" lang="ru-RU" sz="3600" spc="-1" strike="noStrike">
                <a:solidFill>
                  <a:schemeClr val="dk1"/>
                </a:solidFill>
                <a:latin typeface="Calibri Light"/>
              </a:rPr>
              <a:t> </a:t>
            </a:r>
            <a:r>
              <a:rPr b="0" lang="ru-RU" sz="3600" spc="-1" strike="noStrike">
                <a:solidFill>
                  <a:schemeClr val="dk1"/>
                </a:solidFill>
                <a:latin typeface="Calibri Light"/>
              </a:rPr>
              <a:t>Результаты анализа средств средств обмена инфомацией</a:t>
            </a:r>
            <a:br>
              <a:rPr sz="3600"/>
            </a:br>
            <a:endParaRPr b="1" lang="en-US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0" name="PlaceHolder 2"/>
          <p:cNvSpPr>
            <a:spLocks noGrp="1"/>
          </p:cNvSpPr>
          <p:nvPr>
            <p:ph/>
          </p:nvPr>
        </p:nvSpPr>
        <p:spPr>
          <a:xfrm>
            <a:off x="838080" y="1104120"/>
            <a:ext cx="10861920" cy="3340080"/>
          </a:xfrm>
          <a:prstGeom prst="rect">
            <a:avLst/>
          </a:prstGeom>
          <a:solidFill>
            <a:schemeClr val="lt1"/>
          </a:solidFill>
          <a:ln w="38160">
            <a:solidFill>
              <a:srgbClr val="1f2b6d"/>
            </a:solidFill>
            <a:miter/>
          </a:ln>
        </p:spPr>
        <p:txBody>
          <a:bodyPr lIns="91440" rIns="91440" tIns="45720" bIns="45720" anchor="t">
            <a:normAutofit fontScale="96763" lnSpcReduction="10000"/>
          </a:bodyPr>
          <a:p>
            <a:pPr indent="0" defTabSz="914400">
              <a:lnSpc>
                <a:spcPct val="15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400" spc="-1" strike="noStrike">
                <a:solidFill>
                  <a:srgbClr val="1f2b6d"/>
                </a:solidFill>
                <a:latin typeface="Arial"/>
              </a:rPr>
              <a:t>Синхронный HTTP: 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прост в написании и использовании, но может вызывать задержки в работе.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5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400" spc="-1" strike="noStrike">
                <a:solidFill>
                  <a:srgbClr val="1f2b6d"/>
                </a:solidFill>
                <a:latin typeface="Arial"/>
              </a:rPr>
              <a:t>Асинхронный HTTP и стиль REST: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 нет блокировок процесса, понятное наполнение http методов.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5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400" spc="-1" strike="noStrike">
                <a:solidFill>
                  <a:srgbClr val="1f2b6d"/>
                </a:solidFill>
                <a:latin typeface="Arial"/>
              </a:rPr>
              <a:t>WebSockets: 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мгновенные уведомления о изменениях, но сложнее в реализации.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1" name="TextBox 2"/>
          <p:cNvSpPr/>
          <p:nvPr/>
        </p:nvSpPr>
        <p:spPr>
          <a:xfrm>
            <a:off x="838080" y="4775040"/>
            <a:ext cx="10861920" cy="1315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8081d4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50000"/>
              </a:lnSpc>
            </a:pPr>
            <a:r>
              <a:rPr b="1" lang="ru-RU" sz="2400" spc="-1" strike="noStrike">
                <a:solidFill>
                  <a:srgbClr val="1f2b6d"/>
                </a:solidFill>
                <a:latin typeface="Arial"/>
              </a:rPr>
              <a:t>Вывод: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 для обмена данными оптимально использовать асинхронный HTTP + REST стиль.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0"/>
          </p:nvPr>
        </p:nvSpPr>
        <p:spPr/>
        <p:txBody>
          <a:bodyPr/>
          <a:p>
            <a:fld id="{E03B39BC-AB22-48BD-BCD1-04DF5504ED2A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title"/>
          </p:nvPr>
        </p:nvSpPr>
        <p:spPr>
          <a:xfrm>
            <a:off x="838080" y="25200"/>
            <a:ext cx="10515240" cy="748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3600" spc="-1" strike="noStrike">
                <a:solidFill>
                  <a:schemeClr val="dk1"/>
                </a:solidFill>
                <a:latin typeface="Calibri Light"/>
              </a:rPr>
              <a:t>Анализ существующих систем версионирования и хранения данных.</a:t>
            </a:r>
            <a:endParaRPr b="0" lang="en-US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3" name="PlaceHolder 2"/>
          <p:cNvSpPr>
            <a:spLocks noGrp="1"/>
          </p:cNvSpPr>
          <p:nvPr>
            <p:ph/>
          </p:nvPr>
        </p:nvSpPr>
        <p:spPr>
          <a:xfrm>
            <a:off x="540000" y="1620000"/>
            <a:ext cx="11340000" cy="1440000"/>
          </a:xfrm>
          <a:prstGeom prst="rect">
            <a:avLst/>
          </a:prstGeom>
          <a:solidFill>
            <a:schemeClr val="lt1"/>
          </a:solidFill>
          <a:ln w="38160">
            <a:solidFill>
              <a:srgbClr val="e5662e"/>
            </a:solidFill>
            <a:miter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SVN (Apache Subversion) — централизованная система контроля версий. Все операции (коммит, обновление, просмотр истории) требуют соединения с центральным сервером. Изменения хранятся в виде дельт.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4" name="Объект 6"/>
          <p:cNvSpPr txBox="1"/>
          <p:nvPr/>
        </p:nvSpPr>
        <p:spPr>
          <a:xfrm>
            <a:off x="540000" y="3420000"/>
            <a:ext cx="11160000" cy="1440000"/>
          </a:xfrm>
          <a:prstGeom prst="rect">
            <a:avLst/>
          </a:prstGeom>
          <a:solidFill>
            <a:schemeClr val="lt1"/>
          </a:solidFill>
          <a:ln w="38160">
            <a:solidFill>
              <a:srgbClr val="e5662e"/>
            </a:solidFill>
            <a:miter/>
          </a:ln>
        </p:spPr>
        <p:txBody>
          <a:bodyPr anchor="t">
            <a:normAutofit/>
          </a:bodyPr>
          <a:p>
            <a:pPr defTabSz="914400"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Git — распределённая система контроля версий. Каждый узел хранит полную историю изменений в виде графа коммитов. Работает со снимками файловой системы, а не с дельтами.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0"/>
          </p:nvPr>
        </p:nvSpPr>
        <p:spPr/>
        <p:txBody>
          <a:bodyPr/>
          <a:p>
            <a:fld id="{67A2DD68-381C-4D67-8B6E-E3221ABF1CF4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laceHolder 1"/>
          <p:cNvSpPr>
            <a:spLocks noGrp="1"/>
          </p:cNvSpPr>
          <p:nvPr>
            <p:ph type="title"/>
          </p:nvPr>
        </p:nvSpPr>
        <p:spPr>
          <a:xfrm>
            <a:off x="900000" y="180000"/>
            <a:ext cx="10453320" cy="54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3200" spc="-1" strike="noStrike">
                <a:solidFill>
                  <a:schemeClr val="dk1"/>
                </a:solidFill>
                <a:latin typeface="Calibri Light"/>
              </a:rPr>
              <a:t>Сравнительный анализ аналогов: Git, SVN в рамках задачи УИР.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6" name="PlaceHolder 2"/>
          <p:cNvSpPr>
            <a:spLocks noGrp="1"/>
          </p:cNvSpPr>
          <p:nvPr>
            <p:ph/>
          </p:nvPr>
        </p:nvSpPr>
        <p:spPr>
          <a:xfrm>
            <a:off x="720000" y="1980000"/>
            <a:ext cx="5257440" cy="3296880"/>
          </a:xfrm>
          <a:prstGeom prst="rect">
            <a:avLst/>
          </a:prstGeom>
          <a:solidFill>
            <a:schemeClr val="lt1"/>
          </a:solidFill>
          <a:ln w="38160">
            <a:solidFill>
              <a:srgbClr val="e5662e"/>
            </a:solidFill>
            <a:miter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Локальная история версий (работа офлайн)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Идентификация объекта по хэшу, то есть дедупликация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7" name="Объект 8"/>
          <p:cNvSpPr txBox="1"/>
          <p:nvPr/>
        </p:nvSpPr>
        <p:spPr>
          <a:xfrm>
            <a:off x="6442560" y="1980000"/>
            <a:ext cx="5257440" cy="3296880"/>
          </a:xfrm>
          <a:prstGeom prst="rect">
            <a:avLst/>
          </a:prstGeom>
          <a:solidFill>
            <a:schemeClr val="lt1"/>
          </a:solidFill>
          <a:ln w="38160">
            <a:solidFill>
              <a:srgbClr val="e5662e"/>
            </a:solidFill>
            <a:miter/>
          </a:ln>
        </p:spPr>
        <p:txBody>
          <a:bodyPr anchor="t">
            <a:normAutofit/>
          </a:bodyPr>
          <a:p>
            <a:pPr defTabSz="914400"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Механизм трёх файлов для ручного разрешения конфликтов (base, local, server), что оптимально для неструктурированных данных.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defTabSz="914400"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Линейная история версий, без (DAG)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defTabSz="914400"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8" name="Объект 1"/>
          <p:cNvSpPr txBox="1"/>
          <p:nvPr/>
        </p:nvSpPr>
        <p:spPr>
          <a:xfrm>
            <a:off x="720000" y="1023120"/>
            <a:ext cx="5257440" cy="956880"/>
          </a:xfrm>
          <a:prstGeom prst="rect">
            <a:avLst/>
          </a:prstGeom>
          <a:solidFill>
            <a:schemeClr val="lt1"/>
          </a:solidFill>
          <a:ln w="38160">
            <a:solidFill>
              <a:srgbClr val="e5662e"/>
            </a:solidFill>
            <a:miter/>
          </a:ln>
        </p:spPr>
        <p:txBody>
          <a:bodyPr anchor="t">
            <a:normAutofit/>
          </a:bodyPr>
          <a:p>
            <a:pPr algn="ctr" defTabSz="914400"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ru-RU" sz="2600" spc="-1" strike="noStrike">
                <a:solidFill>
                  <a:srgbClr val="1f2b6d"/>
                </a:solidFill>
                <a:latin typeface="Arial"/>
              </a:rPr>
              <a:t>Приемущества Git над SVN</a:t>
            </a:r>
            <a:endParaRPr b="0" lang="en-US" sz="2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9" name="Объект 4"/>
          <p:cNvSpPr txBox="1"/>
          <p:nvPr/>
        </p:nvSpPr>
        <p:spPr>
          <a:xfrm>
            <a:off x="6442560" y="1023120"/>
            <a:ext cx="5257440" cy="956880"/>
          </a:xfrm>
          <a:prstGeom prst="rect">
            <a:avLst/>
          </a:prstGeom>
          <a:solidFill>
            <a:schemeClr val="lt1"/>
          </a:solidFill>
          <a:ln w="38160">
            <a:solidFill>
              <a:srgbClr val="e5662e"/>
            </a:solidFill>
            <a:miter/>
          </a:ln>
        </p:spPr>
        <p:txBody>
          <a:bodyPr anchor="t">
            <a:normAutofit/>
          </a:bodyPr>
          <a:p>
            <a:pPr algn="ctr" defTabSz="914400"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ru-RU" sz="2600" spc="-1" strike="noStrike">
                <a:solidFill>
                  <a:srgbClr val="1f2b6d"/>
                </a:solidFill>
                <a:latin typeface="Arial"/>
              </a:rPr>
              <a:t>Приемущества SVN над Git</a:t>
            </a:r>
            <a:endParaRPr b="0" lang="en-US" sz="2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0"/>
          </p:nvPr>
        </p:nvSpPr>
        <p:spPr/>
        <p:txBody>
          <a:bodyPr/>
          <a:p>
            <a:fld id="{9E3CEE85-3FD4-4847-A376-F3B1DD875819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title"/>
          </p:nvPr>
        </p:nvSpPr>
        <p:spPr>
          <a:xfrm>
            <a:off x="838080" y="25200"/>
            <a:ext cx="10515240" cy="748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3600" spc="-1" strike="noStrike">
                <a:solidFill>
                  <a:schemeClr val="dk1"/>
                </a:solidFill>
                <a:latin typeface="Calibri Light"/>
              </a:rPr>
              <a:t>Итоговые свойства разрабатываемой системы.</a:t>
            </a:r>
            <a:endParaRPr b="0" lang="en-US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1" name="PlaceHolder 2"/>
          <p:cNvSpPr>
            <a:spLocks noGrp="1"/>
          </p:cNvSpPr>
          <p:nvPr>
            <p:ph/>
          </p:nvPr>
        </p:nvSpPr>
        <p:spPr>
          <a:xfrm>
            <a:off x="0" y="7584120"/>
            <a:ext cx="10515240" cy="530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2" name="TextBox 13"/>
          <p:cNvSpPr/>
          <p:nvPr/>
        </p:nvSpPr>
        <p:spPr>
          <a:xfrm>
            <a:off x="540000" y="1800000"/>
            <a:ext cx="11520000" cy="404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e5662e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b="1" lang="ru-RU" sz="1800" spc="-1" strike="noStrike">
                <a:solidFill>
                  <a:srgbClr val="1f2b6d"/>
                </a:solidFill>
                <a:latin typeface="Arial"/>
              </a:rPr>
              <a:t>Возьмем от SVN: </a:t>
            </a:r>
            <a:r>
              <a:rPr b="0" lang="ru-RU" sz="1800" spc="-1" strike="noStrike">
                <a:solidFill>
                  <a:srgbClr val="1f2b6d"/>
                </a:solidFill>
                <a:latin typeface="Arial"/>
              </a:rPr>
              <a:t>линейную историю коммитов, и механизм разрешения конфликтов.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TextBox 1"/>
          <p:cNvSpPr/>
          <p:nvPr/>
        </p:nvSpPr>
        <p:spPr>
          <a:xfrm>
            <a:off x="540000" y="2254320"/>
            <a:ext cx="11520000" cy="403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e5662e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b="1" lang="ru-RU" sz="1800" spc="-1" strike="noStrike">
                <a:solidFill>
                  <a:srgbClr val="1f2b6d"/>
                </a:solidFill>
                <a:latin typeface="Arial"/>
              </a:rPr>
              <a:t>Возьмем от Git: </a:t>
            </a:r>
            <a:r>
              <a:rPr b="0" lang="ru-RU" sz="1800" spc="-1" strike="noStrike">
                <a:solidFill>
                  <a:srgbClr val="1f2b6d"/>
                </a:solidFill>
                <a:latin typeface="Arial"/>
              </a:rPr>
              <a:t>хранение локально истории коммитов и механизм дедупликации.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0"/>
          </p:nvPr>
        </p:nvSpPr>
        <p:spPr/>
        <p:txBody>
          <a:bodyPr/>
          <a:p>
            <a:fld id="{876A6435-B20E-4855-8F20-3ECE99EBEE8F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838080" y="25200"/>
            <a:ext cx="10515240" cy="748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3600" spc="-1" strike="noStrike">
                <a:solidFill>
                  <a:schemeClr val="dk1"/>
                </a:solidFill>
                <a:latin typeface="Calibri Light"/>
              </a:rPr>
              <a:t>Подходящие объекты метаданных для задачи УИР.</a:t>
            </a:r>
            <a:endParaRPr b="0" lang="en-US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5" name="Объект 2"/>
          <p:cNvSpPr/>
          <p:nvPr/>
        </p:nvSpPr>
        <p:spPr>
          <a:xfrm>
            <a:off x="720000" y="1600200"/>
            <a:ext cx="10389960" cy="3656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e5662e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anchor="t">
            <a:normAutofit/>
          </a:bodyPr>
          <a:p>
            <a:pPr defTabSz="914400"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ru-RU" sz="2400" spc="-1" strike="noStrike">
                <a:solidFill>
                  <a:srgbClr val="1f2b6d"/>
                </a:solidFill>
                <a:latin typeface="Arial"/>
              </a:rPr>
              <a:t>Со</a:t>
            </a:r>
            <a:r>
              <a:rPr b="1" lang="ru-RU" sz="2400" spc="-1" strike="noStrike">
                <a:solidFill>
                  <a:srgbClr val="1f2b6d"/>
                </a:solidFill>
                <a:latin typeface="Arial"/>
              </a:rPr>
              <a:t>стояние единицы хранения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: 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ru-RU" sz="2400" spc="-1" strike="noStrike">
                <a:solidFill>
                  <a:srgbClr val="1f2b6d"/>
                </a:solidFill>
                <a:latin typeface="Arial"/>
              </a:rPr>
              <a:t>Состояние конфликтной ситуации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: 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ru-RU" sz="2400" spc="-1" strike="noStrike">
                <a:solidFill>
                  <a:srgbClr val="1f2b6d"/>
                </a:solidFill>
                <a:latin typeface="Arial"/>
              </a:rPr>
              <a:t>Состояние узла хранения: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mc:AlternateContent>
        <mc:Choice xmlns:a14="http://schemas.microsoft.com/office/drawing/2010/main" Requires="a14">
          <p:sp>
            <p:nvSpPr>
              <p:cNvPr id="396" name=""/>
              <p:cNvSpPr txBox="1"/>
              <p:nvPr/>
            </p:nvSpPr>
            <p:spPr>
              <a:xfrm>
                <a:off x="5983920" y="1884960"/>
                <a:ext cx="3736080" cy="185400"/>
              </a:xfrm>
              <a:prstGeom prst="rect">
                <a:avLst/>
              </a:prstGeom>
            </p:spPr>
            <p:txBody>
              <a:bodyPr/>
              <a:p>
                <a14:m>
                  <m:oMath xmlns:m="http://schemas.openxmlformats.org/officeDocument/2006/math">
                    <m:r>
                      <m:t xml:space="preserve">FileState</m:t>
                    </m:r>
                    <m:r>
                      <m:t xml:space="preserve">=</m:t>
                    </m:r>
                    <m:d>
                      <m:dPr>
                        <m:begChr m:val="⟨"/>
                        <m:endChr m:val="⟩"/>
                      </m:dPr>
                      <m:e>
                        <m:r>
                          <m:rPr>
                            <m:lit/>
                            <m:nor/>
                          </m:rPr>
                          <m:t xml:space="preserve">path</m:t>
                        </m:r>
                        <m:r>
                          <m:t xml:space="preserve">,</m:t>
                        </m:r>
                        <m:r>
                          <m:rPr>
                            <m:lit/>
                            <m:nor/>
                          </m:rPr>
                          <m:t xml:space="preserve">base_hash</m:t>
                        </m:r>
                        <m:r>
                          <m:t xml:space="preserve">,</m:t>
                        </m:r>
                        <m:r>
                          <m:rPr>
                            <m:lit/>
                            <m:nor/>
                          </m:rPr>
                          <m:t xml:space="preserve">local_hash</m:t>
                        </m:r>
                        <m:r>
                          <m:t xml:space="preserve">,</m:t>
                        </m:r>
                        <m:r>
                          <m:rPr>
                            <m:lit/>
                            <m:nor/>
                          </m:rPr>
                          <m:t xml:space="preserve">server_hash</m:t>
                        </m:r>
                        <m:r>
                          <m:t xml:space="preserve">,</m:t>
                        </m:r>
                        <m:r>
                          <m:rPr>
                            <m:lit/>
                            <m:nor/>
                          </m:rPr>
                          <m:t xml:space="preserve">status</m:t>
                        </m:r>
                      </m:e>
                    </m:d>
                  </m:oMath>
                </a14:m>
              </a:p>
            </p:txBody>
          </p:sp>
        </mc:Choice>
        <mc:Fallback/>
      </mc:AlternateContent>
      <mc:AlternateContent>
        <mc:Choice xmlns:a14="http://schemas.microsoft.com/office/drawing/2010/main" Requires="a14">
          <p:sp>
            <p:nvSpPr>
              <p:cNvPr id="397" name=""/>
              <p:cNvSpPr txBox="1"/>
              <p:nvPr/>
            </p:nvSpPr>
            <p:spPr>
              <a:xfrm>
                <a:off x="6660000" y="2393640"/>
                <a:ext cx="1995480" cy="1386360"/>
              </a:xfrm>
              <a:prstGeom prst="rect">
                <a:avLst/>
              </a:prstGeom>
            </p:spPr>
            <p:txBody>
              <a:bodyPr/>
              <a:p>
                <a14:m>
                  <m:oMath xmlns:m="http://schemas.openxmlformats.org/officeDocument/2006/math">
                    <m:r>
                      <m:t xml:space="preserve">Conflict</m:t>
                    </m:r>
                    <m:r>
                      <m:t xml:space="preserve">=</m:t>
                    </m:r>
                    <m:d>
                      <m:dPr>
                        <m:begChr m:val="⟨"/>
                        <m:endChr m:val="⟩"/>
                      </m:dPr>
                      <m:e>
                        <m:m>
                          <m:mr>
                            <m:e>
                              <m:r>
                                <m:rPr>
                                  <m:lit/>
                                  <m:nor/>
                                </m:rPr>
                                <m:t xml:space="preserve">path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lit/>
                                  <m:nor/>
                                </m:rPr>
                                <m:t xml:space="preserve">base_blob_hash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lit/>
                                  <m:nor/>
                                </m:rPr>
                                <m:t xml:space="preserve">local_blob_hash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lit/>
                                  <m:nor/>
                                </m:rPr>
                                <m:t xml:space="preserve">server_blob_hash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lit/>
                                  <m:nor/>
                                </m:rPr>
                                <m:t xml:space="preserve">resolved_blob_hash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lit/>
                                  <m:nor/>
                                </m:rPr>
                                <m:t xml:space="preserve">resolved_by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lit/>
                                  <m:nor/>
                                </m:rPr>
                                <m:t xml:space="preserve">resolved_at</m:t>
                              </m:r>
                            </m:e>
                          </m:mr>
                        </m:m>
                      </m:e>
                    </m:d>
                  </m:oMath>
                </a14:m>
              </a:p>
            </p:txBody>
          </p:sp>
        </mc:Choice>
        <mc:Fallback/>
      </mc:AlternateContent>
      <mc:AlternateContent>
        <mc:Choice xmlns:a14="http://schemas.microsoft.com/office/drawing/2010/main" Requires="a14">
          <p:sp>
            <p:nvSpPr>
              <p:cNvPr id="398" name=""/>
              <p:cNvSpPr txBox="1"/>
              <p:nvPr/>
            </p:nvSpPr>
            <p:spPr>
              <a:xfrm>
                <a:off x="5414040" y="3490920"/>
                <a:ext cx="1785960" cy="1189080"/>
              </a:xfrm>
              <a:prstGeom prst="rect">
                <a:avLst/>
              </a:prstGeom>
            </p:spPr>
            <p:txBody>
              <a:bodyPr/>
              <a:p>
                <a14:m>
                  <m:oMath xmlns:m="http://schemas.openxmlformats.org/officeDocument/2006/math">
                    <m:r>
                      <m:t xml:space="preserve">Node</m:t>
                    </m:r>
                    <m:r>
                      <m:t xml:space="preserve">=</m:t>
                    </m:r>
                    <m:d>
                      <m:dPr>
                        <m:begChr m:val="⟨"/>
                        <m:endChr m:val="⟩"/>
                      </m:dPr>
                      <m:e>
                        <m:m>
                          <m:mr>
                            <m:e>
                              <m:r>
                                <m:rPr>
                                  <m:lit/>
                                  <m:nor/>
                                </m:rPr>
                                <m:t xml:space="preserve">node_id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lit/>
                                  <m:nor/>
                                </m:rPr>
                                <m:t xml:space="preserve">node_type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lit/>
                                  <m:nor/>
                                </m:rPr>
                                <m:t xml:space="preserve">current_commit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lit/>
                                  <m:nor/>
                                </m:rPr>
                                <m:t xml:space="preserve">commit_history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lit/>
                                  <m:nor/>
                                </m:rPr>
                                <m:t xml:space="preserve">blob_storage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lit/>
                                  <m:nor/>
                                </m:rPr>
                                <m:t xml:space="preserve">last_sync_snapshot</m:t>
                              </m:r>
                            </m:e>
                          </m:mr>
                        </m:m>
                      </m:e>
                    </m:d>
                  </m:oMath>
                </a14:m>
              </a:p>
            </p:txBody>
          </p:sp>
        </mc:Choice>
        <mc:Fallback/>
      </mc:AlternateContent>
      <p:sp>
        <p:nvSpPr>
          <p:cNvPr id="3" name="PlaceHolder 2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E80CD014-E2F5-48FA-92B0-30321FE6C62B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title"/>
          </p:nvPr>
        </p:nvSpPr>
        <p:spPr>
          <a:xfrm>
            <a:off x="838080" y="25200"/>
            <a:ext cx="10515240" cy="748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3600" spc="-1" strike="noStrike">
                <a:solidFill>
                  <a:schemeClr val="dk1"/>
                </a:solidFill>
                <a:latin typeface="Calibri Light"/>
              </a:rPr>
              <a:t>Разработка алгоритма синхронизации данных с сервером.</a:t>
            </a:r>
            <a:endParaRPr b="0" lang="en-US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0" name="Объект 10"/>
          <p:cNvSpPr/>
          <p:nvPr/>
        </p:nvSpPr>
        <p:spPr>
          <a:xfrm>
            <a:off x="720000" y="1600200"/>
            <a:ext cx="10389960" cy="2539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e5662e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anchor="t">
            <a:normAutofit/>
          </a:bodyPr>
          <a:p>
            <a:pPr defTabSz="914400"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ru-RU" sz="2400" spc="-1" strike="noStrike">
                <a:solidFill>
                  <a:srgbClr val="1f2b6d"/>
                </a:solidFill>
                <a:latin typeface="Arial"/>
              </a:rPr>
              <a:t>Основная идея: 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для определения требуемого воздействия в рамах 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задачи синхронизации, для каждой единицы хранения необходимо 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хранить три хеша: хеш на момент последней синхронизации, хеш 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файла на сервере в текущий момент, хеш файла на локальном узле в 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текущий момент.</a:t>
            </a:r>
            <a:endParaRPr b="1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C468C767-A828-47F7-AB18-14AB5C72229A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title"/>
          </p:nvPr>
        </p:nvSpPr>
        <p:spPr>
          <a:xfrm>
            <a:off x="838080" y="25200"/>
            <a:ext cx="10515240" cy="748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3600" spc="-1" strike="noStrike">
                <a:solidFill>
                  <a:schemeClr val="dk1"/>
                </a:solidFill>
                <a:latin typeface="Calibri Light"/>
              </a:rPr>
              <a:t>Состояния для работы алгоритма синхронизации.</a:t>
            </a:r>
            <a:endParaRPr b="0" lang="en-US" sz="3600" spc="-1" strike="noStrike">
              <a:solidFill>
                <a:schemeClr val="dk1"/>
              </a:solidFill>
              <a:latin typeface="Calibri"/>
            </a:endParaRPr>
          </a:p>
        </p:txBody>
      </p:sp>
      <p:graphicFrame>
        <p:nvGraphicFramePr>
          <p:cNvPr id="402" name=""/>
          <p:cNvGraphicFramePr/>
          <p:nvPr/>
        </p:nvGraphicFramePr>
        <p:xfrm>
          <a:off x="580320" y="1048320"/>
          <a:ext cx="3309120" cy="7380360"/>
        </p:xfrm>
        <a:graphic>
          <a:graphicData uri="http://schemas.openxmlformats.org/drawingml/2006/table">
            <a:tbl>
              <a:tblPr/>
              <a:tblGrid>
                <a:gridCol w="1681560"/>
                <a:gridCol w="1627560"/>
              </a:tblGrid>
              <a:tr h="32544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Liberation Serif;Times New Roman"/>
                        </a:rPr>
                        <a:t>Условие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Liberation Serif;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Liberation Serif;Times New Roman"/>
                        </a:rPr>
                        <a:t>Статус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Liberation Serif;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785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Liberation Serif;Times New Roman"/>
                        </a:rPr>
                        <a:t>`local_hash == server_hash`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Liberation Serif;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Liberation Serif;Times New Roman"/>
                        </a:rPr>
                        <a:t>synced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Liberation Serif;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59084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Liberation Serif;Times New Roman"/>
                        </a:rPr>
                        <a:t>`local_hash == base_hash`, `server_hash != base_hash`, `server_hash != null`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Liberation Serif;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Liberation Serif;Times New Roman"/>
                        </a:rPr>
                        <a:t>server_modified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Liberation Serif;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33776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Liberation Serif;Times New Roman"/>
                        </a:rPr>
                        <a:t>`local_hash == base_hash`, `server_hash == null`, `base_hash != null`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Liberation Serif;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Liberation Serif;Times New Roman"/>
                        </a:rPr>
                        <a:t>server_deleted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Liberation Serif;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08468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Liberation Serif;Times New Roman"/>
                        </a:rPr>
                        <a:t>`local_hash != base_hash`, `server_hash == base_hash`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Liberation Serif;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Liberation Serif;Times New Roman"/>
                        </a:rPr>
                        <a:t>local_modified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Liberation Serif;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403" name=""/>
          <p:cNvGraphicFramePr/>
          <p:nvPr/>
        </p:nvGraphicFramePr>
        <p:xfrm>
          <a:off x="3932640" y="1068480"/>
          <a:ext cx="3992760" cy="4943880"/>
        </p:xfrm>
        <a:graphic>
          <a:graphicData uri="http://schemas.openxmlformats.org/drawingml/2006/table">
            <a:tbl>
              <a:tblPr/>
              <a:tblGrid>
                <a:gridCol w="2767680"/>
                <a:gridCol w="1225080"/>
              </a:tblGrid>
              <a:tr h="123588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Liberation Serif;Times New Roman"/>
                        </a:rPr>
                        <a:t>`local_hash != base_hash`, `server_hash != base_hash`, `local_hash != server_hash`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Liberation Serif;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Liberation Serif;Times New Roman"/>
                        </a:rPr>
                        <a:t>conflict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Liberation Serif;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23588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Liberation Serif;Times New Roman"/>
                        </a:rPr>
                        <a:t>`base_hash == null`, `local_hash != null`, `server_hash == null`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Liberation Serif;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Liberation Serif;Times New Roman"/>
                        </a:rPr>
                        <a:t>new_local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Liberation Serif;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23588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Liberation Serif;Times New Roman"/>
                        </a:rPr>
                        <a:t>`base_hash == null`, `local_hash == null`, `server_hash != null`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Liberation Serif;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Liberation Serif;Times New Roman"/>
                        </a:rPr>
                        <a:t>new_server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Liberation Serif;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23660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Liberation Serif;Times New Roman"/>
                        </a:rPr>
                        <a:t>`base_hash == null`, `local_hash != null`, `server_hash != null`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Liberation Serif;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Liberation Serif;Times New Roman"/>
                        </a:rPr>
                        <a:t>independent_creation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Liberation Serif;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404" name=""/>
          <p:cNvGraphicFramePr/>
          <p:nvPr/>
        </p:nvGraphicFramePr>
        <p:xfrm>
          <a:off x="8100000" y="1080000"/>
          <a:ext cx="3959640" cy="4858920"/>
        </p:xfrm>
        <a:graphic>
          <a:graphicData uri="http://schemas.openxmlformats.org/drawingml/2006/table">
            <a:tbl>
              <a:tblPr/>
              <a:tblGrid>
                <a:gridCol w="2376720"/>
                <a:gridCol w="1582920"/>
              </a:tblGrid>
              <a:tr h="18025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Liberation Serif;Times New Roman"/>
                        </a:rPr>
                        <a:t>`local_hash == null`, `base_hash != null`, `server_hash != base_hash`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Liberation Serif;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Liberation Serif;Times New Roman"/>
                        </a:rPr>
                        <a:t>local_deleted_server_modified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Liberation Serif;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8025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Liberation Serif;Times New Roman"/>
                        </a:rPr>
                        <a:t>`server_hash == null`, `base_hash != null`, `local_hash != base_hash`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Liberation Serif;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Liberation Serif;Times New Roman"/>
                        </a:rPr>
                        <a:t>server_deleted_local_modified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Liberation Serif;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25388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Liberation Serif;Times New Roman"/>
                        </a:rPr>
                        <a:t>`local_hash == null`, `server_hash == null`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Liberation Serif;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Liberation Serif;Times New Roman"/>
                        </a:rPr>
                        <a:t>deleted_both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Liberation Serif;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" name="PlaceHolder 2"/>
          <p:cNvSpPr>
            <a:spLocks noGrp="1"/>
          </p:cNvSpPr>
          <p:nvPr>
            <p:ph type="sldNum" idx="40"/>
          </p:nvPr>
        </p:nvSpPr>
        <p:spPr/>
        <p:txBody>
          <a:bodyPr/>
          <a:p>
            <a:fld id="{4C3DEC42-6AFE-4157-A38A-B26D1ACBFB91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title"/>
          </p:nvPr>
        </p:nvSpPr>
        <p:spPr>
          <a:xfrm>
            <a:off x="841320" y="136080"/>
            <a:ext cx="10453320" cy="59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3600" spc="-1" strike="noStrike">
                <a:solidFill>
                  <a:schemeClr val="dk1"/>
                </a:solidFill>
                <a:latin typeface="Calibri Light"/>
              </a:rPr>
              <a:t>Работа алгоритма синхронизации  при наличии конфликта</a:t>
            </a:r>
            <a:endParaRPr b="0" lang="en-US" sz="36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406" name="" descr=""/>
          <p:cNvPicPr/>
          <p:nvPr/>
        </p:nvPicPr>
        <p:blipFill>
          <a:blip r:embed="rId1"/>
          <a:stretch/>
        </p:blipFill>
        <p:spPr>
          <a:xfrm>
            <a:off x="3240000" y="900000"/>
            <a:ext cx="5400000" cy="523764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40"/>
          </p:nvPr>
        </p:nvSpPr>
        <p:spPr/>
        <p:txBody>
          <a:bodyPr/>
          <a:p>
            <a:fld id="{B2231483-67F0-46A1-A31B-2B13D48CCA68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title"/>
          </p:nvPr>
        </p:nvSpPr>
        <p:spPr>
          <a:xfrm>
            <a:off x="841320" y="136080"/>
            <a:ext cx="3838680" cy="4363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3600" spc="-1" strike="noStrike">
                <a:solidFill>
                  <a:schemeClr val="dk1"/>
                </a:solidFill>
                <a:latin typeface="Calibri Light"/>
              </a:rPr>
              <a:t>Работа алгоритма синхронизации  после разрешения конликта.</a:t>
            </a:r>
            <a:endParaRPr b="0" lang="en-US" sz="36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408" name="" descr=""/>
          <p:cNvPicPr/>
          <p:nvPr/>
        </p:nvPicPr>
        <p:blipFill>
          <a:blip r:embed="rId1"/>
          <a:stretch/>
        </p:blipFill>
        <p:spPr>
          <a:xfrm>
            <a:off x="7560000" y="86400"/>
            <a:ext cx="3600000" cy="657360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40"/>
          </p:nvPr>
        </p:nvSpPr>
        <p:spPr/>
        <p:txBody>
          <a:bodyPr/>
          <a:p>
            <a:fld id="{1CA47621-68F1-4539-8A3C-F7A903FB3C2B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PlaceHolder 1"/>
          <p:cNvSpPr>
            <a:spLocks noGrp="1"/>
          </p:cNvSpPr>
          <p:nvPr>
            <p:ph type="title"/>
          </p:nvPr>
        </p:nvSpPr>
        <p:spPr>
          <a:xfrm>
            <a:off x="838080" y="25200"/>
            <a:ext cx="10515240" cy="748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3600" spc="-1" strike="noStrike">
                <a:solidFill>
                  <a:schemeClr val="dk1"/>
                </a:solidFill>
                <a:latin typeface="Calibri Light"/>
              </a:rPr>
              <a:t>Проектирование системы синхронизации.</a:t>
            </a:r>
            <a:endParaRPr b="0" lang="en-US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0" name="Объект 11"/>
          <p:cNvSpPr/>
          <p:nvPr/>
        </p:nvSpPr>
        <p:spPr>
          <a:xfrm>
            <a:off x="540000" y="1440000"/>
            <a:ext cx="10569960" cy="3817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e5662e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anchor="t">
            <a:normAutofit/>
          </a:bodyPr>
          <a:p>
            <a:pPr defTabSz="914400"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Была 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выбранна 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клиент-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серверная 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архитектур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а, за 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маштабиру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емость.</a:t>
            </a:r>
            <a:br>
              <a:rPr sz="2400"/>
            </a:b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Так же 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было 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решено 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использова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ть Docker 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для 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переносим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ости.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К качестве 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системы 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хранения 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матаданны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х 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использов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алась база 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данных 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PostgreSQ</a:t>
            </a:r>
            <a:r>
              <a:rPr b="0" lang="ru-RU" sz="2400" spc="-1" strike="noStrike">
                <a:solidFill>
                  <a:srgbClr val="1f2b6d"/>
                </a:solidFill>
                <a:latin typeface="Arial"/>
              </a:rPr>
              <a:t>L.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0"/>
          </p:nvPr>
        </p:nvSpPr>
        <p:spPr/>
        <p:txBody>
          <a:bodyPr/>
          <a:p>
            <a:fld id="{C854872C-8F8D-431A-B1B0-D328D6A96C68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1" name="" descr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960000" y="162360"/>
            <a:ext cx="4248360" cy="631764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40"/>
          </p:nvPr>
        </p:nvSpPr>
        <p:spPr/>
        <p:txBody>
          <a:bodyPr/>
          <a:p>
            <a:fld id="{568D7FF8-FAD0-48EF-9BD9-8837B7640DAE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title"/>
          </p:nvPr>
        </p:nvSpPr>
        <p:spPr>
          <a:xfrm>
            <a:off x="838080" y="25200"/>
            <a:ext cx="10515240" cy="748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3600" spc="-1" strike="noStrike">
                <a:solidFill>
                  <a:schemeClr val="dk1"/>
                </a:solidFill>
                <a:latin typeface="Calibri Light"/>
              </a:rPr>
              <a:t>Схема базы данных для описание процесса работы системы.</a:t>
            </a:r>
            <a:endParaRPr b="0" lang="en-US" sz="36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413" name="" descr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544400" y="900000"/>
            <a:ext cx="8355600" cy="558000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40"/>
          </p:nvPr>
        </p:nvSpPr>
        <p:spPr/>
        <p:txBody>
          <a:bodyPr/>
          <a:p>
            <a:fld id="{8D6D9F3A-5524-4C1F-B8A4-021B8485203F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838080" y="25200"/>
            <a:ext cx="10515240" cy="748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3600" spc="-1" strike="noStrike">
                <a:solidFill>
                  <a:schemeClr val="dk1"/>
                </a:solidFill>
                <a:latin typeface="Calibri Light"/>
              </a:rPr>
              <a:t>Пример исходного кода приложения.</a:t>
            </a:r>
            <a:endParaRPr b="0" lang="en-US" sz="36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415" name="" descr=""/>
          <p:cNvPicPr/>
          <p:nvPr/>
        </p:nvPicPr>
        <p:blipFill>
          <a:blip r:embed="rId1"/>
          <a:stretch/>
        </p:blipFill>
        <p:spPr>
          <a:xfrm>
            <a:off x="5580000" y="773280"/>
            <a:ext cx="5532840" cy="5760000"/>
          </a:xfrm>
          <a:prstGeom prst="rect">
            <a:avLst/>
          </a:prstGeom>
          <a:ln w="0">
            <a:noFill/>
          </a:ln>
        </p:spPr>
      </p:pic>
      <p:sp>
        <p:nvSpPr>
          <p:cNvPr id="416" name="Заголовок 12"/>
          <p:cNvSpPr txBox="1"/>
          <p:nvPr/>
        </p:nvSpPr>
        <p:spPr>
          <a:xfrm>
            <a:off x="720000" y="1800000"/>
            <a:ext cx="3780000" cy="4140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b="0" lang="ru-RU" sz="3600" spc="-1" strike="noStrike">
                <a:solidFill>
                  <a:schemeClr val="dk1"/>
                </a:solidFill>
                <a:latin typeface="Calibri Light"/>
              </a:rPr>
              <a:t>На нем можно видеть генерацию Swagger документации</a:t>
            </a:r>
            <a:endParaRPr b="0" lang="en-US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BB1C50C9-ECD7-43CD-A899-53E78403BE1D}" type="slidenum">
              <a:t>19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title"/>
          </p:nvPr>
        </p:nvSpPr>
        <p:spPr>
          <a:xfrm>
            <a:off x="838080" y="25200"/>
            <a:ext cx="11354040" cy="748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3600" spc="-1" strike="noStrike">
                <a:solidFill>
                  <a:schemeClr val="dk1"/>
                </a:solidFill>
                <a:latin typeface="Calibri Light"/>
              </a:rPr>
              <a:t>Документация на API в понятном виде(Swagger)</a:t>
            </a:r>
            <a:endParaRPr b="0" lang="en-US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8" name="TextBox 16"/>
          <p:cNvSpPr/>
          <p:nvPr/>
        </p:nvSpPr>
        <p:spPr>
          <a:xfrm>
            <a:off x="3011040" y="3279960"/>
            <a:ext cx="613620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419" name="" descr=""/>
          <p:cNvPicPr/>
          <p:nvPr/>
        </p:nvPicPr>
        <p:blipFill>
          <a:blip r:embed="rId1"/>
          <a:stretch/>
        </p:blipFill>
        <p:spPr>
          <a:xfrm>
            <a:off x="1590480" y="1033200"/>
            <a:ext cx="8669520" cy="526680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366CE2C0-EE0F-49D5-BE11-20209D5F3760}" type="slidenum">
              <a:t>20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title"/>
          </p:nvPr>
        </p:nvSpPr>
        <p:spPr>
          <a:xfrm>
            <a:off x="838080" y="25200"/>
            <a:ext cx="10515240" cy="748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3600" spc="-1" strike="noStrike">
                <a:solidFill>
                  <a:schemeClr val="dk1"/>
                </a:solidFill>
                <a:latin typeface="Calibri Light"/>
              </a:rPr>
              <a:t>Тестирование приложения через GUI.</a:t>
            </a:r>
            <a:endParaRPr b="0" lang="en-US" sz="36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421" name="" descr=""/>
          <p:cNvPicPr/>
          <p:nvPr/>
        </p:nvPicPr>
        <p:blipFill>
          <a:blip r:embed="rId1"/>
          <a:stretch/>
        </p:blipFill>
        <p:spPr>
          <a:xfrm>
            <a:off x="1410480" y="884880"/>
            <a:ext cx="9209520" cy="559512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4A20DE00-EFA4-4EB6-8C0A-DC6E55B625AA}" type="slidenum">
              <a:t>21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TextBox 4"/>
          <p:cNvSpPr/>
          <p:nvPr/>
        </p:nvSpPr>
        <p:spPr>
          <a:xfrm>
            <a:off x="4473000" y="4809960"/>
            <a:ext cx="324576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2200" spc="-1" strike="noStrike">
                <a:solidFill>
                  <a:schemeClr val="dk1"/>
                </a:solidFill>
                <a:latin typeface="Arial Black"/>
              </a:rPr>
              <a:t>Спасибо за внимание!</a:t>
            </a:r>
            <a:endParaRPr b="0" lang="ru-RU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23" name="Рисунок 1" descr=""/>
          <p:cNvPicPr/>
          <p:nvPr/>
        </p:nvPicPr>
        <p:blipFill>
          <a:blip r:embed="rId1"/>
          <a:stretch/>
        </p:blipFill>
        <p:spPr>
          <a:xfrm>
            <a:off x="4432320" y="1130400"/>
            <a:ext cx="3327120" cy="331740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1D15435-6E1C-4A9A-A026-56369366A622}" type="slidenum">
              <a:t>22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Тема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Тема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Тема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Тема Office">
  <a:themeElements>
    <a:clrScheme name="Тема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Тема Office">
  <a:themeElements>
    <a:clrScheme name="Тема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Тема Office">
  <a:themeElements>
    <a:clrScheme name="Тема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Тема Office">
  <a:themeElements>
    <a:clrScheme name="Тема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Тема Office">
  <a:themeElements>
    <a:clrScheme name="Тема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Тема Office">
  <a:themeElements>
    <a:clrScheme name="Тема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Тема Office">
  <a:themeElements>
    <a:clrScheme name="Тема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Тема Office">
  <a:themeElements>
    <a:clrScheme name="Тема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Тема Office">
  <a:themeElements>
    <a:clrScheme name="Тема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Тема Office">
  <a:themeElements>
    <a:clrScheme name="Тема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Тема Office">
  <a:themeElements>
    <a:clrScheme name="Тема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Тема Office">
  <a:themeElements>
    <a:clrScheme name="Тема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Тема Office">
  <a:themeElements>
    <a:clrScheme name="Тема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Тема Office">
  <a:themeElements>
    <a:clrScheme name="Тема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1787</TotalTime>
  <Application>LibreOffice/24.2.7.2$Linux_X86_64 LibreOffice_project/420$Build-2</Application>
  <AppVersion>15.0000</AppVersion>
  <Words>679</Words>
  <Paragraphs>109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2017-09-30T21:27:42Z</dcterms:created>
  <dc:creator>V. R.</dc:creator>
  <dc:description/>
  <dc:language>ru-RU</dc:language>
  <cp:lastModifiedBy/>
  <dcterms:modified xsi:type="dcterms:W3CDTF">2026-06-19T12:12:21Z</dcterms:modified>
  <cp:revision>35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Широкоэкранный</vt:lpwstr>
  </property>
  <property fmtid="{D5CDD505-2E9C-101B-9397-08002B2CF9AE}" pid="3" name="Slides">
    <vt:i4>20</vt:i4>
  </property>
</Properties>
</file>